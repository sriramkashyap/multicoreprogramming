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Ex2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ppt/charts/chartEx3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ppt/charts/chartEx4.xml" ContentType="application/vnd.ms-office.chartex+xml"/>
  <Override PartName="/ppt/charts/style4.xml" ContentType="application/vnd.ms-office.chartstyle+xml"/>
  <Override PartName="/ppt/charts/colors4.xml" ContentType="application/vnd.ms-office.chartcolorstyle+xml"/>
  <Override PartName="/ppt/charts/chartEx5.xml" ContentType="application/vnd.ms-office.chartex+xml"/>
  <Override PartName="/ppt/charts/style5.xml" ContentType="application/vnd.ms-office.chartstyle+xml"/>
  <Override PartName="/ppt/charts/colors5.xml" ContentType="application/vnd.ms-office.chartcolorstyle+xml"/>
  <Override PartName="/ppt/charts/chartEx6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ppt/charts/chartEx7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charts/chartEx8.xml" ContentType="application/vnd.ms-office.chartex+xml"/>
  <Override PartName="/ppt/charts/style8.xml" ContentType="application/vnd.ms-office.chartstyle+xml"/>
  <Override PartName="/ppt/charts/colors8.xml" ContentType="application/vnd.ms-office.chartcolorstyle+xml"/>
  <Override PartName="/ppt/charts/chartEx9.xml" ContentType="application/vnd.ms-office.chartex+xml"/>
  <Override PartName="/ppt/charts/style9.xml" ContentType="application/vnd.ms-office.chartstyle+xml"/>
  <Override PartName="/ppt/charts/colors9.xml" ContentType="application/vnd.ms-office.chartcolorstyle+xml"/>
  <Override PartName="/ppt/charts/chart1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2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3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4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5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3" r:id="rId17"/>
    <p:sldId id="276" r:id="rId18"/>
    <p:sldId id="281" r:id="rId19"/>
    <p:sldId id="282" r:id="rId20"/>
    <p:sldId id="278" r:id="rId21"/>
    <p:sldId id="285" r:id="rId22"/>
    <p:sldId id="284" r:id="rId23"/>
    <p:sldId id="286" r:id="rId24"/>
    <p:sldId id="292" r:id="rId25"/>
    <p:sldId id="293" r:id="rId26"/>
    <p:sldId id="277" r:id="rId27"/>
    <p:sldId id="294" r:id="rId28"/>
    <p:sldId id="295" r:id="rId29"/>
    <p:sldId id="296" r:id="rId30"/>
    <p:sldId id="297" r:id="rId31"/>
    <p:sldId id="289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291" r:id="rId40"/>
  </p:sldIdLst>
  <p:sldSz cx="12192000" cy="6858000"/>
  <p:notesSz cx="6858000" cy="9144000"/>
  <p:embeddedFontLst>
    <p:embeddedFont>
      <p:font typeface="Aptos Narrow" panose="020B0004020202020204" pitchFamily="34" charset="0"/>
      <p:regular r:id="rId42"/>
    </p:embeddedFont>
    <p:embeddedFont>
      <p:font typeface="Consolas" panose="020B0609020204030204" pitchFamily="49" charset="0"/>
      <p:regular r:id="rId43"/>
      <p:bold r:id="rId44"/>
      <p:italic r:id="rId45"/>
      <p:boldItalic r:id="rId46"/>
    </p:embeddedFont>
    <p:embeddedFont>
      <p:font typeface="Play" panose="020B0604020202020204" charset="0"/>
      <p:regular r:id="rId47"/>
      <p:bold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2" roundtripDataSignature="AMtx7mibdLOfxdaiADqUG9ZgMggMQjno5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36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G:\My%20Drive\Documents\Sriram\Teaching\Multicore%20Architecture%20and%20Programming\data2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7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8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_rels/chartEx9.xml.rels><?xml version="1.0" encoding="UTF-8" standalone="yes"?>
<Relationships xmlns="http://schemas.openxmlformats.org/package/2006/relationships"><Relationship Id="rId3" Type="http://schemas.microsoft.com/office/2011/relationships/chartColorStyle" Target="colors9.xml"/><Relationship Id="rId2" Type="http://schemas.microsoft.com/office/2011/relationships/chartStyle" Target="style9.xml"/><Relationship Id="rId1" Type="http://schemas.openxmlformats.org/officeDocument/2006/relationships/oleObject" Target="file:///G:\My%20Drive\Documents\Sriram\Teaching\Multicore%20Architecture%20and%20Programming\data2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'cpu scaling'!$C$1</c:f>
              <c:strCache>
                <c:ptCount val="1"/>
                <c:pt idx="0">
                  <c:v>P50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'cpu scaling'!$C$2:$C$30</c:f>
              <c:numCache>
                <c:formatCode>General</c:formatCode>
                <c:ptCount val="29"/>
                <c:pt idx="0">
                  <c:v>25.097799999999999</c:v>
                </c:pt>
                <c:pt idx="1">
                  <c:v>13.6722</c:v>
                </c:pt>
                <c:pt idx="2">
                  <c:v>9.3994</c:v>
                </c:pt>
                <c:pt idx="3">
                  <c:v>6.3411</c:v>
                </c:pt>
                <c:pt idx="4">
                  <c:v>5.2420999999999998</c:v>
                </c:pt>
                <c:pt idx="5">
                  <c:v>4.3079999999999998</c:v>
                </c:pt>
                <c:pt idx="6">
                  <c:v>3.9279999999999999</c:v>
                </c:pt>
                <c:pt idx="7">
                  <c:v>3.6423000000000001</c:v>
                </c:pt>
                <c:pt idx="8">
                  <c:v>3.4346000000000001</c:v>
                </c:pt>
                <c:pt idx="9">
                  <c:v>3.2541000000000002</c:v>
                </c:pt>
                <c:pt idx="10">
                  <c:v>3.0537000000000001</c:v>
                </c:pt>
                <c:pt idx="11">
                  <c:v>2.9222999999999999</c:v>
                </c:pt>
                <c:pt idx="12">
                  <c:v>2.7846000000000002</c:v>
                </c:pt>
                <c:pt idx="13">
                  <c:v>2.7869000000000002</c:v>
                </c:pt>
                <c:pt idx="14">
                  <c:v>2.7911000000000001</c:v>
                </c:pt>
                <c:pt idx="15">
                  <c:v>2.7917000000000001</c:v>
                </c:pt>
                <c:pt idx="16">
                  <c:v>2.7986</c:v>
                </c:pt>
                <c:pt idx="17">
                  <c:v>2.7917999999999998</c:v>
                </c:pt>
                <c:pt idx="18">
                  <c:v>2.8123</c:v>
                </c:pt>
                <c:pt idx="19">
                  <c:v>2.7907999999999999</c:v>
                </c:pt>
                <c:pt idx="20">
                  <c:v>2.7317</c:v>
                </c:pt>
                <c:pt idx="21">
                  <c:v>2.7023999999999999</c:v>
                </c:pt>
                <c:pt idx="22">
                  <c:v>2.7080000000000002</c:v>
                </c:pt>
                <c:pt idx="23">
                  <c:v>2.7042000000000002</c:v>
                </c:pt>
                <c:pt idx="24">
                  <c:v>2.7044999999999999</c:v>
                </c:pt>
                <c:pt idx="25">
                  <c:v>2.7113999999999998</c:v>
                </c:pt>
                <c:pt idx="26">
                  <c:v>2.7063000000000001</c:v>
                </c:pt>
                <c:pt idx="27">
                  <c:v>2.7098</c:v>
                </c:pt>
                <c:pt idx="28">
                  <c:v>2.7246999999999999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BA-4148-B709-DDE4ABEAAD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23918528"/>
        <c:axId val="896329328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'cpu scaling'!$A$1</c15:sqref>
                        </c15:formulaRef>
                      </c:ext>
                    </c:extLst>
                    <c:strCache>
                      <c:ptCount val="1"/>
                      <c:pt idx="0">
                        <c:v>Threads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val>
                  <c:numRef>
                    <c:extLst>
                      <c:ext uri="{02D57815-91ED-43cb-92C2-25804820EDAC}">
                        <c15:formulaRef>
                          <c15:sqref>'cpu scaling'!$A$2:$A$30</c15:sqref>
                        </c15:formulaRef>
                      </c:ext>
                    </c:extLst>
                    <c:numCache>
                      <c:formatCode>General</c:formatCode>
                      <c:ptCount val="29"/>
                      <c:pt idx="0">
                        <c:v>1</c:v>
                      </c:pt>
                      <c:pt idx="1">
                        <c:v>2</c:v>
                      </c:pt>
                      <c:pt idx="2">
                        <c:v>3</c:v>
                      </c:pt>
                      <c:pt idx="3">
                        <c:v>4</c:v>
                      </c:pt>
                      <c:pt idx="4">
                        <c:v>5</c:v>
                      </c:pt>
                      <c:pt idx="5">
                        <c:v>6</c:v>
                      </c:pt>
                      <c:pt idx="6">
                        <c:v>7</c:v>
                      </c:pt>
                      <c:pt idx="7">
                        <c:v>8</c:v>
                      </c:pt>
                      <c:pt idx="8">
                        <c:v>9</c:v>
                      </c:pt>
                      <c:pt idx="9">
                        <c:v>10</c:v>
                      </c:pt>
                      <c:pt idx="10">
                        <c:v>11</c:v>
                      </c:pt>
                      <c:pt idx="11">
                        <c:v>12</c:v>
                      </c:pt>
                      <c:pt idx="12">
                        <c:v>13</c:v>
                      </c:pt>
                      <c:pt idx="13">
                        <c:v>14</c:v>
                      </c:pt>
                      <c:pt idx="14">
                        <c:v>15</c:v>
                      </c:pt>
                      <c:pt idx="15">
                        <c:v>16</c:v>
                      </c:pt>
                      <c:pt idx="16">
                        <c:v>17</c:v>
                      </c:pt>
                      <c:pt idx="17">
                        <c:v>18</c:v>
                      </c:pt>
                      <c:pt idx="18">
                        <c:v>19</c:v>
                      </c:pt>
                      <c:pt idx="19">
                        <c:v>20</c:v>
                      </c:pt>
                      <c:pt idx="20">
                        <c:v>21</c:v>
                      </c:pt>
                      <c:pt idx="21">
                        <c:v>22</c:v>
                      </c:pt>
                      <c:pt idx="22">
                        <c:v>23</c:v>
                      </c:pt>
                      <c:pt idx="23">
                        <c:v>24</c:v>
                      </c:pt>
                      <c:pt idx="24">
                        <c:v>25</c:v>
                      </c:pt>
                      <c:pt idx="25">
                        <c:v>26</c:v>
                      </c:pt>
                      <c:pt idx="26">
                        <c:v>27</c:v>
                      </c:pt>
                      <c:pt idx="27">
                        <c:v>28</c:v>
                      </c:pt>
                      <c:pt idx="28">
                        <c:v>29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1-52BA-4148-B709-DDE4ABEAADDB}"/>
                  </c:ext>
                </c:extLst>
              </c15:ser>
            </c15:filteredLineSeries>
          </c:ext>
        </c:extLst>
      </c:lineChart>
      <c:catAx>
        <c:axId val="112391852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96329328"/>
        <c:crosses val="autoZero"/>
        <c:auto val="1"/>
        <c:lblAlgn val="ctr"/>
        <c:lblOffset val="100"/>
        <c:noMultiLvlLbl val="0"/>
      </c:catAx>
      <c:valAx>
        <c:axId val="896329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239185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'cpu scaling'!$G$1</c:f>
              <c:strCache>
                <c:ptCount val="1"/>
                <c:pt idx="0">
                  <c:v>Scaling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'cpu scaling'!$G$2:$G$30</c:f>
              <c:numCache>
                <c:formatCode>0.00</c:formatCode>
                <c:ptCount val="29"/>
                <c:pt idx="0">
                  <c:v>1</c:v>
                </c:pt>
                <c:pt idx="1">
                  <c:v>1.8356811632363481</c:v>
                </c:pt>
                <c:pt idx="2">
                  <c:v>2.6701491584569226</c:v>
                </c:pt>
                <c:pt idx="3">
                  <c:v>3.957956821371686</c:v>
                </c:pt>
                <c:pt idx="4">
                  <c:v>4.7877377386925088</c:v>
                </c:pt>
                <c:pt idx="5">
                  <c:v>5.8258588672237694</c:v>
                </c:pt>
                <c:pt idx="6">
                  <c:v>6.3894602851323832</c:v>
                </c:pt>
                <c:pt idx="7">
                  <c:v>6.8906460203717428</c:v>
                </c:pt>
                <c:pt idx="8">
                  <c:v>7.3073429220287656</c:v>
                </c:pt>
                <c:pt idx="9">
                  <c:v>7.71267016993946</c:v>
                </c:pt>
                <c:pt idx="10">
                  <c:v>8.2188165176670918</c:v>
                </c:pt>
                <c:pt idx="11">
                  <c:v>8.5883721726037709</c:v>
                </c:pt>
                <c:pt idx="12">
                  <c:v>9.0130718954248366</c:v>
                </c:pt>
                <c:pt idx="13">
                  <c:v>9.0056334995873542</c:v>
                </c:pt>
                <c:pt idx="14">
                  <c:v>8.9920819748486256</c:v>
                </c:pt>
                <c:pt idx="15">
                  <c:v>8.990149371350789</c:v>
                </c:pt>
                <c:pt idx="16">
                  <c:v>8.9679839919959985</c:v>
                </c:pt>
                <c:pt idx="17">
                  <c:v>8.9898273515294793</c:v>
                </c:pt>
                <c:pt idx="18">
                  <c:v>8.9242968388863204</c:v>
                </c:pt>
                <c:pt idx="19">
                  <c:v>8.9930485882184321</c:v>
                </c:pt>
                <c:pt idx="20">
                  <c:v>9.1876121096752943</c:v>
                </c:pt>
                <c:pt idx="21">
                  <c:v>9.2872261693309657</c:v>
                </c:pt>
                <c:pt idx="22">
                  <c:v>9.2680206794682416</c:v>
                </c:pt>
                <c:pt idx="23">
                  <c:v>9.2810443014569923</c:v>
                </c:pt>
                <c:pt idx="24">
                  <c:v>9.2800147901645413</c:v>
                </c:pt>
                <c:pt idx="25">
                  <c:v>9.2563989083130487</c:v>
                </c:pt>
                <c:pt idx="26">
                  <c:v>9.2738425156117206</c:v>
                </c:pt>
                <c:pt idx="27">
                  <c:v>9.2618643442320465</c:v>
                </c:pt>
                <c:pt idx="28">
                  <c:v>9.2112159136785703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8F-4E08-82C7-09AB9ECC24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12385184"/>
        <c:axId val="896449808"/>
      </c:lineChart>
      <c:catAx>
        <c:axId val="11123851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96449808"/>
        <c:crosses val="autoZero"/>
        <c:auto val="1"/>
        <c:lblAlgn val="ctr"/>
        <c:lblOffset val="100"/>
        <c:noMultiLvlLbl val="0"/>
      </c:catAx>
      <c:valAx>
        <c:axId val="896449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12385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Performance comparsion</a:t>
            </a:r>
            <a:r>
              <a:rPr lang="en-IN" baseline="0"/>
              <a:t> - milliseconds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Raw!$E$304</c:f>
              <c:strCache>
                <c:ptCount val="1"/>
                <c:pt idx="0">
                  <c:v>P50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Raw!$F$303:$J$303</c:f>
              <c:strCache>
                <c:ptCount val="5"/>
                <c:pt idx="0">
                  <c:v>latency_nbody_mt_openmp</c:v>
                </c:pt>
                <c:pt idx="1">
                  <c:v>latency_nbody_mt_std</c:v>
                </c:pt>
                <c:pt idx="2">
                  <c:v>latency_nbody_mt_stdpool</c:v>
                </c:pt>
                <c:pt idx="3">
                  <c:v>latency_nbody_mt_openmp_dynamic</c:v>
                </c:pt>
                <c:pt idx="4">
                  <c:v>latency_nbody_cuda</c:v>
                </c:pt>
              </c:strCache>
            </c:strRef>
          </c:cat>
          <c:val>
            <c:numRef>
              <c:f>Raw!$F$304:$J$304</c:f>
              <c:numCache>
                <c:formatCode>0.00</c:formatCode>
                <c:ptCount val="5"/>
                <c:pt idx="0">
                  <c:v>2.7476000000000003</c:v>
                </c:pt>
                <c:pt idx="1">
                  <c:v>3.1293500000000001</c:v>
                </c:pt>
                <c:pt idx="2">
                  <c:v>2.7028999999999996</c:v>
                </c:pt>
                <c:pt idx="3">
                  <c:v>2.669</c:v>
                </c:pt>
                <c:pt idx="4">
                  <c:v>0.28070000000000001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DA-42CD-BD04-35C7C07FF6A0}"/>
            </c:ext>
          </c:extLst>
        </c:ser>
        <c:ser>
          <c:idx val="1"/>
          <c:order val="1"/>
          <c:tx>
            <c:strRef>
              <c:f>Raw!$E$305</c:f>
              <c:strCache>
                <c:ptCount val="1"/>
                <c:pt idx="0">
                  <c:v>P90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Raw!$F$303:$J$303</c:f>
              <c:strCache>
                <c:ptCount val="5"/>
                <c:pt idx="0">
                  <c:v>latency_nbody_mt_openmp</c:v>
                </c:pt>
                <c:pt idx="1">
                  <c:v>latency_nbody_mt_std</c:v>
                </c:pt>
                <c:pt idx="2">
                  <c:v>latency_nbody_mt_stdpool</c:v>
                </c:pt>
                <c:pt idx="3">
                  <c:v>latency_nbody_mt_openmp_dynamic</c:v>
                </c:pt>
                <c:pt idx="4">
                  <c:v>latency_nbody_cuda</c:v>
                </c:pt>
              </c:strCache>
            </c:strRef>
          </c:cat>
          <c:val>
            <c:numRef>
              <c:f>Raw!$F$305:$J$305</c:f>
              <c:numCache>
                <c:formatCode>0.00</c:formatCode>
                <c:ptCount val="5"/>
                <c:pt idx="0">
                  <c:v>4.7112299999999996</c:v>
                </c:pt>
                <c:pt idx="1">
                  <c:v>3.4099700000000004</c:v>
                </c:pt>
                <c:pt idx="2">
                  <c:v>2.80701</c:v>
                </c:pt>
                <c:pt idx="3">
                  <c:v>2.7773300000000001</c:v>
                </c:pt>
                <c:pt idx="4">
                  <c:v>0.28791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7DA-42CD-BD04-35C7C07FF6A0}"/>
            </c:ext>
          </c:extLst>
        </c:ser>
        <c:ser>
          <c:idx val="2"/>
          <c:order val="2"/>
          <c:tx>
            <c:strRef>
              <c:f>Raw!$E$306</c:f>
              <c:strCache>
                <c:ptCount val="1"/>
                <c:pt idx="0">
                  <c:v>P99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Raw!$F$303:$J$303</c:f>
              <c:strCache>
                <c:ptCount val="5"/>
                <c:pt idx="0">
                  <c:v>latency_nbody_mt_openmp</c:v>
                </c:pt>
                <c:pt idx="1">
                  <c:v>latency_nbody_mt_std</c:v>
                </c:pt>
                <c:pt idx="2">
                  <c:v>latency_nbody_mt_stdpool</c:v>
                </c:pt>
                <c:pt idx="3">
                  <c:v>latency_nbody_mt_openmp_dynamic</c:v>
                </c:pt>
                <c:pt idx="4">
                  <c:v>latency_nbody_cuda</c:v>
                </c:pt>
              </c:strCache>
            </c:strRef>
          </c:cat>
          <c:val>
            <c:numRef>
              <c:f>Raw!$F$306:$J$306</c:f>
              <c:numCache>
                <c:formatCode>0.00</c:formatCode>
                <c:ptCount val="5"/>
                <c:pt idx="0">
                  <c:v>5.069189999999999</c:v>
                </c:pt>
                <c:pt idx="1">
                  <c:v>4.9249959999999993</c:v>
                </c:pt>
                <c:pt idx="2">
                  <c:v>2.9830659999999996</c:v>
                </c:pt>
                <c:pt idx="3">
                  <c:v>2.9498989999999998</c:v>
                </c:pt>
                <c:pt idx="4">
                  <c:v>0.3601749999999998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7DA-42CD-BD04-35C7C07FF6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44660783"/>
        <c:axId val="841201359"/>
      </c:barChart>
      <c:catAx>
        <c:axId val="104466078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1201359"/>
        <c:crosses val="autoZero"/>
        <c:auto val="1"/>
        <c:lblAlgn val="ctr"/>
        <c:lblOffset val="100"/>
        <c:noMultiLvlLbl val="0"/>
      </c:catAx>
      <c:valAx>
        <c:axId val="84120135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446607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Time (milliseconds) vs Problem Size (number of Points) - Linear Chart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problem_size!$B$1</c:f>
              <c:strCache>
                <c:ptCount val="1"/>
                <c:pt idx="0">
                  <c:v>OpenMP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problem_size!$B$2:$B$17</c:f>
              <c:numCache>
                <c:formatCode>General</c:formatCode>
                <c:ptCount val="16"/>
                <c:pt idx="0">
                  <c:v>4.3E-3</c:v>
                </c:pt>
                <c:pt idx="1">
                  <c:v>5.3E-3</c:v>
                </c:pt>
                <c:pt idx="2">
                  <c:v>8.5000000000000006E-3</c:v>
                </c:pt>
                <c:pt idx="3">
                  <c:v>9.9000000000000008E-3</c:v>
                </c:pt>
                <c:pt idx="4">
                  <c:v>9.5999999999999992E-3</c:v>
                </c:pt>
                <c:pt idx="5">
                  <c:v>1.04E-2</c:v>
                </c:pt>
                <c:pt idx="6">
                  <c:v>1.17E-2</c:v>
                </c:pt>
                <c:pt idx="7">
                  <c:v>2.2800000000000001E-2</c:v>
                </c:pt>
                <c:pt idx="8">
                  <c:v>2.9000000000000001E-2</c:v>
                </c:pt>
                <c:pt idx="9">
                  <c:v>5.0999999999999997E-2</c:v>
                </c:pt>
                <c:pt idx="10">
                  <c:v>0.13700000000000001</c:v>
                </c:pt>
                <c:pt idx="11">
                  <c:v>0.4854</c:v>
                </c:pt>
                <c:pt idx="12">
                  <c:v>1.8042</c:v>
                </c:pt>
                <c:pt idx="13">
                  <c:v>7.1563999999999997</c:v>
                </c:pt>
                <c:pt idx="14">
                  <c:v>28.519200000000001</c:v>
                </c:pt>
                <c:pt idx="15">
                  <c:v>114.458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94B-462D-B624-EC699727A4F9}"/>
            </c:ext>
          </c:extLst>
        </c:ser>
        <c:ser>
          <c:idx val="1"/>
          <c:order val="1"/>
          <c:tx>
            <c:strRef>
              <c:f>problem_size!$C$1</c:f>
              <c:strCache>
                <c:ptCount val="1"/>
                <c:pt idx="0">
                  <c:v>CUDA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problem_size!$C$2:$C$17</c:f>
              <c:numCache>
                <c:formatCode>General</c:formatCode>
                <c:ptCount val="16"/>
                <c:pt idx="0">
                  <c:v>1.9900000000000001E-2</c:v>
                </c:pt>
                <c:pt idx="1">
                  <c:v>2.0500000000000001E-2</c:v>
                </c:pt>
                <c:pt idx="2">
                  <c:v>2.0799999999999999E-2</c:v>
                </c:pt>
                <c:pt idx="3">
                  <c:v>2.18E-2</c:v>
                </c:pt>
                <c:pt idx="4">
                  <c:v>2.1899999999999999E-2</c:v>
                </c:pt>
                <c:pt idx="5">
                  <c:v>3.5900000000000001E-2</c:v>
                </c:pt>
                <c:pt idx="6">
                  <c:v>3.7499999999999999E-2</c:v>
                </c:pt>
                <c:pt idx="7">
                  <c:v>4.19E-2</c:v>
                </c:pt>
                <c:pt idx="8">
                  <c:v>7.1900000000000006E-2</c:v>
                </c:pt>
                <c:pt idx="9">
                  <c:v>6.7500000000000004E-2</c:v>
                </c:pt>
                <c:pt idx="10">
                  <c:v>8.3299999999999999E-2</c:v>
                </c:pt>
                <c:pt idx="11">
                  <c:v>0.12280000000000001</c:v>
                </c:pt>
                <c:pt idx="12">
                  <c:v>0.2487</c:v>
                </c:pt>
                <c:pt idx="13">
                  <c:v>0.4133</c:v>
                </c:pt>
                <c:pt idx="14">
                  <c:v>0.89680000000000004</c:v>
                </c:pt>
                <c:pt idx="15">
                  <c:v>3.3205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94B-462D-B624-EC699727A4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59447055"/>
        <c:axId val="841218159"/>
      </c:lineChart>
      <c:catAx>
        <c:axId val="10594470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1218159"/>
        <c:crosses val="autoZero"/>
        <c:auto val="1"/>
        <c:lblAlgn val="ctr"/>
        <c:lblOffset val="100"/>
        <c:noMultiLvlLbl val="0"/>
      </c:catAx>
      <c:valAx>
        <c:axId val="841218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94470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050"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dirty="0"/>
              <a:t>Time (milliseconds) vs Problem</a:t>
            </a:r>
            <a:r>
              <a:rPr lang="en-IN" baseline="0" dirty="0"/>
              <a:t> Size (number of Points) – Log Scale Chart</a:t>
            </a:r>
            <a:endParaRPr lang="en-IN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problem_size!$B$1</c:f>
              <c:strCache>
                <c:ptCount val="1"/>
                <c:pt idx="0">
                  <c:v>OpenMP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problem_size!$B$2:$B$17</c:f>
              <c:numCache>
                <c:formatCode>General</c:formatCode>
                <c:ptCount val="16"/>
                <c:pt idx="0">
                  <c:v>4.3E-3</c:v>
                </c:pt>
                <c:pt idx="1">
                  <c:v>5.3E-3</c:v>
                </c:pt>
                <c:pt idx="2">
                  <c:v>8.5000000000000006E-3</c:v>
                </c:pt>
                <c:pt idx="3">
                  <c:v>9.9000000000000008E-3</c:v>
                </c:pt>
                <c:pt idx="4">
                  <c:v>9.5999999999999992E-3</c:v>
                </c:pt>
                <c:pt idx="5">
                  <c:v>1.04E-2</c:v>
                </c:pt>
                <c:pt idx="6">
                  <c:v>1.17E-2</c:v>
                </c:pt>
                <c:pt idx="7">
                  <c:v>2.2800000000000001E-2</c:v>
                </c:pt>
                <c:pt idx="8">
                  <c:v>2.9000000000000001E-2</c:v>
                </c:pt>
                <c:pt idx="9">
                  <c:v>5.0999999999999997E-2</c:v>
                </c:pt>
                <c:pt idx="10">
                  <c:v>0.13700000000000001</c:v>
                </c:pt>
                <c:pt idx="11">
                  <c:v>0.4854</c:v>
                </c:pt>
                <c:pt idx="12">
                  <c:v>1.8042</c:v>
                </c:pt>
                <c:pt idx="13">
                  <c:v>7.1563999999999997</c:v>
                </c:pt>
                <c:pt idx="14">
                  <c:v>28.519200000000001</c:v>
                </c:pt>
                <c:pt idx="15">
                  <c:v>114.458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66-4650-8571-897F7FE0784A}"/>
            </c:ext>
          </c:extLst>
        </c:ser>
        <c:ser>
          <c:idx val="1"/>
          <c:order val="1"/>
          <c:tx>
            <c:strRef>
              <c:f>problem_size!$C$1</c:f>
              <c:strCache>
                <c:ptCount val="1"/>
                <c:pt idx="0">
                  <c:v>CUDA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problem_size!$A$2:$A$17</c:f>
              <c:numCache>
                <c:formatCode>General</c:formatCode>
                <c:ptCount val="16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64</c:v>
                </c:pt>
                <c:pt idx="7">
                  <c:v>128</c:v>
                </c:pt>
                <c:pt idx="8">
                  <c:v>256</c:v>
                </c:pt>
                <c:pt idx="9">
                  <c:v>512</c:v>
                </c:pt>
                <c:pt idx="10">
                  <c:v>1024</c:v>
                </c:pt>
                <c:pt idx="11">
                  <c:v>2048</c:v>
                </c:pt>
                <c:pt idx="12">
                  <c:v>4096</c:v>
                </c:pt>
                <c:pt idx="13">
                  <c:v>8192</c:v>
                </c:pt>
                <c:pt idx="14">
                  <c:v>16384</c:v>
                </c:pt>
                <c:pt idx="15">
                  <c:v>32768</c:v>
                </c:pt>
              </c:numCache>
            </c:numRef>
          </c:cat>
          <c:val>
            <c:numRef>
              <c:f>problem_size!$C$2:$C$17</c:f>
              <c:numCache>
                <c:formatCode>General</c:formatCode>
                <c:ptCount val="16"/>
                <c:pt idx="0">
                  <c:v>1.9900000000000001E-2</c:v>
                </c:pt>
                <c:pt idx="1">
                  <c:v>2.0500000000000001E-2</c:v>
                </c:pt>
                <c:pt idx="2">
                  <c:v>2.0799999999999999E-2</c:v>
                </c:pt>
                <c:pt idx="3">
                  <c:v>2.18E-2</c:v>
                </c:pt>
                <c:pt idx="4">
                  <c:v>2.1899999999999999E-2</c:v>
                </c:pt>
                <c:pt idx="5">
                  <c:v>3.5900000000000001E-2</c:v>
                </c:pt>
                <c:pt idx="6">
                  <c:v>3.7499999999999999E-2</c:v>
                </c:pt>
                <c:pt idx="7">
                  <c:v>4.19E-2</c:v>
                </c:pt>
                <c:pt idx="8">
                  <c:v>7.1900000000000006E-2</c:v>
                </c:pt>
                <c:pt idx="9">
                  <c:v>6.7500000000000004E-2</c:v>
                </c:pt>
                <c:pt idx="10">
                  <c:v>8.3299999999999999E-2</c:v>
                </c:pt>
                <c:pt idx="11">
                  <c:v>0.12280000000000001</c:v>
                </c:pt>
                <c:pt idx="12">
                  <c:v>0.2487</c:v>
                </c:pt>
                <c:pt idx="13">
                  <c:v>0.4133</c:v>
                </c:pt>
                <c:pt idx="14">
                  <c:v>0.89680000000000004</c:v>
                </c:pt>
                <c:pt idx="15">
                  <c:v>3.3205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C66-4650-8571-897F7FE078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59564767"/>
        <c:axId val="841150959"/>
      </c:lineChart>
      <c:catAx>
        <c:axId val="105956476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41150959"/>
        <c:crossesAt val="9.000000000000003E-4"/>
        <c:auto val="1"/>
        <c:lblAlgn val="ctr"/>
        <c:lblOffset val="100"/>
        <c:noMultiLvlLbl val="0"/>
      </c:catAx>
      <c:valAx>
        <c:axId val="84115095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595647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Raw!$E$2:$E$301</cx:f>
        <cx:lvl ptCount="300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</cx:lvl>
      </cx:numDim>
    </cx:data>
  </cx:chartData>
  <cx:chart>
    <cx:title pos="t" align="ctr" overlay="0">
      <cx:tx>
        <cx:txData>
          <cx:v>latency_nbody_mt_openmp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latency_nbody_mt_openmp</a:t>
          </a:r>
        </a:p>
      </cx:txPr>
    </cx:title>
    <cx:plotArea>
      <cx:plotAreaRegion>
        <cx:series layoutId="clusteredColumn" uniqueId="{00000000-EA0D-4BD1-B55C-14591D380292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Raw!$E$2:$E$301</cx:f>
        <cx:lvl ptCount="300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</cx:lvl>
      </cx:numDim>
    </cx:data>
  </cx:chartData>
  <cx:chart>
    <cx:title pos="t" align="ctr" overlay="0">
      <cx:tx>
        <cx:txData>
          <cx:v>latency_nbody_mt_openmp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latency_nbody_mt_openmp</a:t>
          </a:r>
        </a:p>
      </cx:txPr>
    </cx:title>
    <cx:plotArea>
      <cx:plotAreaRegion>
        <cx:series layoutId="clusteredColumn" uniqueId="{00000000-EA0D-4BD1-B55C-14591D380292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Raw!$E$2:$E$301</cx:f>
        <cx:lvl ptCount="300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</cx:lvl>
      </cx:numDim>
    </cx:data>
  </cx:chartData>
  <cx:chart>
    <cx:title pos="t" align="ctr" overlay="0">
      <cx:tx>
        <cx:txData>
          <cx:v>Default 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Default OpenMP</a:t>
          </a:r>
        </a:p>
      </cx:txPr>
    </cx:title>
    <cx:plotArea>
      <cx:plotAreaRegion>
        <cx:series layoutId="clusteredColumn" uniqueId="{00000000-EA0D-4BD1-B55C-14591D380292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4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Raw!$F$2:$F$301</cx:f>
        <cx:lvl ptCount="300" formatCode="General">
          <cx:pt idx="0">3.0122</cx:pt>
          <cx:pt idx="1">3.0148999999999999</cx:pt>
          <cx:pt idx="2">3.0236999999999998</cx:pt>
          <cx:pt idx="3">3.024</cx:pt>
          <cx:pt idx="4">3.0249999999999999</cx:pt>
          <cx:pt idx="5">3.0261999999999998</cx:pt>
          <cx:pt idx="6">3.0276000000000001</cx:pt>
          <cx:pt idx="7">3.0308000000000002</cx:pt>
          <cx:pt idx="8">3.0324</cx:pt>
          <cx:pt idx="9">3.0327999999999999</cx:pt>
          <cx:pt idx="10">3.0329000000000002</cx:pt>
          <cx:pt idx="11">3.036</cx:pt>
          <cx:pt idx="12">3.036</cx:pt>
          <cx:pt idx="13">3.0367999999999999</cx:pt>
          <cx:pt idx="14">3.0381999999999998</cx:pt>
          <cx:pt idx="15">3.0387</cx:pt>
          <cx:pt idx="16">3.04</cx:pt>
          <cx:pt idx="17">3.0402</cx:pt>
          <cx:pt idx="18">3.0453000000000001</cx:pt>
          <cx:pt idx="19">3.0470999999999999</cx:pt>
          <cx:pt idx="20">3.0482</cx:pt>
          <cx:pt idx="21">3.0489000000000002</cx:pt>
          <cx:pt idx="22">3.0512999999999999</cx:pt>
          <cx:pt idx="23">3.0518000000000001</cx:pt>
          <cx:pt idx="24">3.0531000000000001</cx:pt>
          <cx:pt idx="25">3.0548999999999999</cx:pt>
          <cx:pt idx="26">3.0552999999999999</cx:pt>
          <cx:pt idx="27">3.0554000000000001</cx:pt>
          <cx:pt idx="28">3.0554000000000001</cx:pt>
          <cx:pt idx="29">3.0573999999999999</cx:pt>
          <cx:pt idx="30">3.0577000000000001</cx:pt>
          <cx:pt idx="31">3.0579999999999998</cx:pt>
          <cx:pt idx="32">3.0594999999999999</cx:pt>
          <cx:pt idx="33">3.0602</cx:pt>
          <cx:pt idx="34">3.0608</cx:pt>
          <cx:pt idx="35">3.0609000000000002</cx:pt>
          <cx:pt idx="36">3.0628000000000002</cx:pt>
          <cx:pt idx="37">3.0634000000000001</cx:pt>
          <cx:pt idx="38">3.0636999999999999</cx:pt>
          <cx:pt idx="39">3.0640000000000001</cx:pt>
          <cx:pt idx="40">3.0642999999999998</cx:pt>
          <cx:pt idx="41">3.0653999999999999</cx:pt>
          <cx:pt idx="42">3.0659000000000001</cx:pt>
          <cx:pt idx="43">3.0661</cx:pt>
          <cx:pt idx="44">3.0663999999999998</cx:pt>
          <cx:pt idx="45">3.0668000000000002</cx:pt>
          <cx:pt idx="46">3.0672999999999999</cx:pt>
          <cx:pt idx="47">3.0674000000000001</cx:pt>
          <cx:pt idx="48">3.0678999999999998</cx:pt>
          <cx:pt idx="49">3.0682</cx:pt>
          <cx:pt idx="50">3.0699000000000001</cx:pt>
          <cx:pt idx="51">3.0712000000000002</cx:pt>
          <cx:pt idx="52">3.0716999999999999</cx:pt>
          <cx:pt idx="53">3.0722999999999998</cx:pt>
          <cx:pt idx="54">3.0724</cx:pt>
          <cx:pt idx="55">3.0726</cx:pt>
          <cx:pt idx="56">3.0733000000000001</cx:pt>
          <cx:pt idx="57">3.0735000000000001</cx:pt>
          <cx:pt idx="58">3.0735999999999999</cx:pt>
          <cx:pt idx="59">3.0749</cx:pt>
          <cx:pt idx="60">3.0758000000000001</cx:pt>
          <cx:pt idx="61">3.0779000000000001</cx:pt>
          <cx:pt idx="62">3.0783</cx:pt>
          <cx:pt idx="63">3.0783999999999998</cx:pt>
          <cx:pt idx="64">3.0783999999999998</cx:pt>
          <cx:pt idx="65">3.0785</cx:pt>
          <cx:pt idx="66">3.0785999999999998</cx:pt>
          <cx:pt idx="67">3.0788000000000002</cx:pt>
          <cx:pt idx="68">3.0792000000000002</cx:pt>
          <cx:pt idx="69">3.0806</cx:pt>
          <cx:pt idx="70">3.0828000000000002</cx:pt>
          <cx:pt idx="71">3.0832999999999999</cx:pt>
          <cx:pt idx="72">3.0836000000000001</cx:pt>
          <cx:pt idx="73">3.0846</cx:pt>
          <cx:pt idx="74">3.0848</cx:pt>
          <cx:pt idx="75">3.0867</cx:pt>
          <cx:pt idx="76">3.0869</cx:pt>
          <cx:pt idx="77">3.0908000000000002</cx:pt>
          <cx:pt idx="78">3.0908000000000002</cx:pt>
          <cx:pt idx="79">3.0912999999999999</cx:pt>
          <cx:pt idx="80">3.0922999999999998</cx:pt>
          <cx:pt idx="81">3.093</cx:pt>
          <cx:pt idx="82">3.0935000000000001</cx:pt>
          <cx:pt idx="83">3.0935999999999999</cx:pt>
          <cx:pt idx="84">3.0951</cx:pt>
          <cx:pt idx="85">3.0956999999999999</cx:pt>
          <cx:pt idx="86">3.0958000000000001</cx:pt>
          <cx:pt idx="87">3.0966</cx:pt>
          <cx:pt idx="88">3.0966</cx:pt>
          <cx:pt idx="89">3.0969000000000002</cx:pt>
          <cx:pt idx="90">3.0971000000000002</cx:pt>
          <cx:pt idx="91">3.0977999999999999</cx:pt>
          <cx:pt idx="92">3.0985</cx:pt>
          <cx:pt idx="93">3.0987</cx:pt>
          <cx:pt idx="94">3.0988000000000002</cx:pt>
          <cx:pt idx="95">3.1006999999999998</cx:pt>
          <cx:pt idx="96">3.1009000000000002</cx:pt>
          <cx:pt idx="97">3.1011000000000002</cx:pt>
          <cx:pt idx="98">3.1012</cx:pt>
          <cx:pt idx="99">3.1015999999999999</cx:pt>
          <cx:pt idx="100">3.1017999999999999</cx:pt>
          <cx:pt idx="101">3.1019000000000001</cx:pt>
          <cx:pt idx="102">3.1021000000000001</cx:pt>
          <cx:pt idx="103">3.1021999999999998</cx:pt>
          <cx:pt idx="104">3.1025999999999998</cx:pt>
          <cx:pt idx="105">3.1027999999999998</cx:pt>
          <cx:pt idx="106">3.1027999999999998</cx:pt>
          <cx:pt idx="107">3.1031</cx:pt>
          <cx:pt idx="108">3.1032000000000002</cx:pt>
          <cx:pt idx="109">3.1034000000000002</cx:pt>
          <cx:pt idx="110">3.1044</cx:pt>
          <cx:pt idx="111">3.1046</cx:pt>
          <cx:pt idx="112">3.1049000000000002</cx:pt>
          <cx:pt idx="113">3.1052</cx:pt>
          <cx:pt idx="114">3.1052</cx:pt>
          <cx:pt idx="115">3.1057000000000001</cx:pt>
          <cx:pt idx="116">3.1059000000000001</cx:pt>
          <cx:pt idx="117">3.1059999999999999</cx:pt>
          <cx:pt idx="118">3.1059999999999999</cx:pt>
          <cx:pt idx="119">3.1061000000000001</cx:pt>
          <cx:pt idx="120">3.1097000000000001</cx:pt>
          <cx:pt idx="121">3.1103000000000001</cx:pt>
          <cx:pt idx="122">3.1111</cx:pt>
          <cx:pt idx="123">3.1116999999999999</cx:pt>
          <cx:pt idx="124">3.1120999999999999</cx:pt>
          <cx:pt idx="125">3.1122000000000001</cx:pt>
          <cx:pt idx="126">3.1135999999999999</cx:pt>
          <cx:pt idx="127">3.1147999999999998</cx:pt>
          <cx:pt idx="128">3.1152000000000002</cx:pt>
          <cx:pt idx="129">3.1154000000000002</cx:pt>
          <cx:pt idx="130">3.1156999999999999</cx:pt>
          <cx:pt idx="131">3.1179999999999999</cx:pt>
          <cx:pt idx="132">3.1194999999999999</cx:pt>
          <cx:pt idx="133">3.1194999999999999</cx:pt>
          <cx:pt idx="134">3.1202999999999999</cx:pt>
          <cx:pt idx="135">3.1204000000000001</cx:pt>
          <cx:pt idx="136">3.1204999999999998</cx:pt>
          <cx:pt idx="137">3.1206999999999998</cx:pt>
          <cx:pt idx="138">3.1212</cx:pt>
          <cx:pt idx="139">3.1213000000000002</cx:pt>
          <cx:pt idx="140">3.1214</cx:pt>
          <cx:pt idx="141">3.1244999999999998</cx:pt>
          <cx:pt idx="142">3.125</cx:pt>
          <cx:pt idx="143">3.1253000000000002</cx:pt>
          <cx:pt idx="144">3.1257999999999999</cx:pt>
          <cx:pt idx="145">3.1263999999999998</cx:pt>
          <cx:pt idx="146">3.1265999999999998</cx:pt>
          <cx:pt idx="147">3.1269999999999998</cx:pt>
          <cx:pt idx="148">3.1288999999999998</cx:pt>
          <cx:pt idx="149">3.1293000000000002</cx:pt>
          <cx:pt idx="150">3.1294</cx:pt>
          <cx:pt idx="151">3.1295999999999999</cx:pt>
          <cx:pt idx="152">3.1299000000000001</cx:pt>
          <cx:pt idx="153">3.1316000000000002</cx:pt>
          <cx:pt idx="154">3.1326000000000001</cx:pt>
          <cx:pt idx="155">3.1333000000000002</cx:pt>
          <cx:pt idx="156">3.1343000000000001</cx:pt>
          <cx:pt idx="157">3.1343999999999999</cx:pt>
          <cx:pt idx="158">3.1351</cx:pt>
          <cx:pt idx="159">3.1353</cx:pt>
          <cx:pt idx="160">3.1371000000000002</cx:pt>
          <cx:pt idx="161">3.1374</cx:pt>
          <cx:pt idx="162">3.1379000000000001</cx:pt>
          <cx:pt idx="163">3.1391</cx:pt>
          <cx:pt idx="164">3.1391</cx:pt>
          <cx:pt idx="165">3.1423999999999999</cx:pt>
          <cx:pt idx="166">3.1427999999999998</cx:pt>
          <cx:pt idx="167">3.1444000000000001</cx:pt>
          <cx:pt idx="168">3.145</cx:pt>
          <cx:pt idx="169">3.1461000000000001</cx:pt>
          <cx:pt idx="170">3.1472000000000002</cx:pt>
          <cx:pt idx="171">3.1499000000000001</cx:pt>
          <cx:pt idx="172">3.1503000000000001</cx:pt>
          <cx:pt idx="173">3.1511999999999998</cx:pt>
          <cx:pt idx="174">3.1516000000000002</cx:pt>
          <cx:pt idx="175">3.1524999999999999</cx:pt>
          <cx:pt idx="176">3.1530999999999998</cx:pt>
          <cx:pt idx="177">3.1532</cx:pt>
          <cx:pt idx="178">3.1532</cx:pt>
          <cx:pt idx="179">3.1534</cx:pt>
          <cx:pt idx="180">3.1539000000000001</cx:pt>
          <cx:pt idx="181">3.1583999999999999</cx:pt>
          <cx:pt idx="182">3.1597</cx:pt>
          <cx:pt idx="183">3.1608999999999998</cx:pt>
          <cx:pt idx="184">3.161</cx:pt>
          <cx:pt idx="185">3.1610999999999998</cx:pt>
          <cx:pt idx="186">3.1638000000000002</cx:pt>
          <cx:pt idx="187">3.1640000000000001</cx:pt>
          <cx:pt idx="188">3.1640000000000001</cx:pt>
          <cx:pt idx="189">3.1665000000000001</cx:pt>
          <cx:pt idx="190">3.1669</cx:pt>
          <cx:pt idx="191">3.1674000000000002</cx:pt>
          <cx:pt idx="192">3.1678000000000002</cx:pt>
          <cx:pt idx="193">3.1688000000000001</cx:pt>
          <cx:pt idx="194">3.1696</cx:pt>
          <cx:pt idx="195">3.1806999999999999</cx:pt>
          <cx:pt idx="196">3.1829000000000001</cx:pt>
          <cx:pt idx="197">3.1831999999999998</cx:pt>
          <cx:pt idx="198">3.1840000000000002</cx:pt>
          <cx:pt idx="199">3.1911999999999998</cx:pt>
          <cx:pt idx="200">3.1922999999999999</cx:pt>
          <cx:pt idx="201">3.1958000000000002</cx:pt>
          <cx:pt idx="202">3.1966000000000001</cx:pt>
          <cx:pt idx="203">3.2014999999999998</cx:pt>
          <cx:pt idx="204">3.2023000000000001</cx:pt>
          <cx:pt idx="205">3.2044999999999999</cx:pt>
          <cx:pt idx="206">3.2052</cx:pt>
          <cx:pt idx="207">3.2061999999999999</cx:pt>
          <cx:pt idx="208">3.2079</cx:pt>
          <cx:pt idx="209">3.2141000000000002</cx:pt>
          <cx:pt idx="210">3.2174</cx:pt>
          <cx:pt idx="211">3.2189999999999999</cx:pt>
          <cx:pt idx="212">3.2252000000000001</cx:pt>
          <cx:pt idx="213">3.2267999999999999</cx:pt>
          <cx:pt idx="214">3.2269000000000001</cx:pt>
          <cx:pt idx="215">3.2277</cx:pt>
          <cx:pt idx="216">3.2277999999999998</cx:pt>
          <cx:pt idx="217">3.2305000000000001</cx:pt>
          <cx:pt idx="218">3.2305000000000001</cx:pt>
          <cx:pt idx="219">3.2328999999999999</cx:pt>
          <cx:pt idx="220">3.2334000000000001</cx:pt>
          <cx:pt idx="221">3.2341000000000002</cx:pt>
          <cx:pt idx="222">3.2349999999999999</cx:pt>
          <cx:pt idx="223">3.2408999999999999</cx:pt>
          <cx:pt idx="224">3.242</cx:pt>
          <cx:pt idx="225">3.2427999999999999</cx:pt>
          <cx:pt idx="226">3.2433999999999998</cx:pt>
          <cx:pt idx="227">3.2444000000000002</cx:pt>
          <cx:pt idx="228">3.2509999999999999</cx:pt>
          <cx:pt idx="229">3.2534999999999998</cx:pt>
          <cx:pt idx="230">3.2536999999999998</cx:pt>
          <cx:pt idx="231">3.2547000000000001</cx:pt>
          <cx:pt idx="232">3.2551999999999999</cx:pt>
          <cx:pt idx="233">3.2559</cx:pt>
          <cx:pt idx="234">3.2561</cx:pt>
          <cx:pt idx="235">3.2612000000000001</cx:pt>
          <cx:pt idx="236">3.2621000000000002</cx:pt>
          <cx:pt idx="237">3.2658</cx:pt>
          <cx:pt idx="238">3.2744</cx:pt>
          <cx:pt idx="239">3.2755999999999998</cx:pt>
          <cx:pt idx="240">3.2757000000000001</cx:pt>
          <cx:pt idx="241">3.2770000000000001</cx:pt>
          <cx:pt idx="242">3.2884000000000002</cx:pt>
          <cx:pt idx="243">3.2936999999999999</cx:pt>
          <cx:pt idx="244">3.2959000000000001</cx:pt>
          <cx:pt idx="245">3.2972999999999999</cx:pt>
          <cx:pt idx="246">3.3033000000000001</cx:pt>
          <cx:pt idx="247">3.3033999999999999</cx:pt>
          <cx:pt idx="248">3.3035000000000001</cx:pt>
          <cx:pt idx="249">3.3037000000000001</cx:pt>
          <cx:pt idx="250">3.3066</cx:pt>
          <cx:pt idx="251">3.3067000000000002</cx:pt>
          <cx:pt idx="252">3.3199000000000001</cx:pt>
          <cx:pt idx="253">3.3208000000000002</cx:pt>
          <cx:pt idx="254">3.3222</cx:pt>
          <cx:pt idx="255">3.3241999999999998</cx:pt>
          <cx:pt idx="256">3.3289</cx:pt>
          <cx:pt idx="257">3.3319999999999999</cx:pt>
          <cx:pt idx="258">3.3331</cx:pt>
          <cx:pt idx="259">3.3353999999999999</cx:pt>
          <cx:pt idx="260">3.3407</cx:pt>
          <cx:pt idx="261">3.3416000000000001</cx:pt>
          <cx:pt idx="262">3.3538999999999999</cx:pt>
          <cx:pt idx="263">3.3549000000000002</cx:pt>
          <cx:pt idx="264">3.3902999999999999</cx:pt>
          <cx:pt idx="265">3.3959999999999999</cx:pt>
          <cx:pt idx="266">3.4020999999999999</cx:pt>
          <cx:pt idx="267">3.4047000000000001</cx:pt>
          <cx:pt idx="268">3.4085000000000001</cx:pt>
          <cx:pt idx="269">3.4098000000000002</cx:pt>
          <cx:pt idx="270">3.4115000000000002</cx:pt>
          <cx:pt idx="271">3.4237000000000002</cx:pt>
          <cx:pt idx="272">3.4278</cx:pt>
          <cx:pt idx="273">3.4285000000000001</cx:pt>
          <cx:pt idx="274">3.4317000000000002</cx:pt>
          <cx:pt idx="275">3.4323000000000001</cx:pt>
          <cx:pt idx="276">3.4344999999999999</cx:pt>
          <cx:pt idx="277">3.4485000000000001</cx:pt>
          <cx:pt idx="278">3.4540999999999999</cx:pt>
          <cx:pt idx="279">3.4575</cx:pt>
          <cx:pt idx="280">3.4592999999999998</cx:pt>
          <cx:pt idx="281">3.4849000000000001</cx:pt>
          <cx:pt idx="282">3.5423</cx:pt>
          <cx:pt idx="283">3.5533000000000001</cx:pt>
          <cx:pt idx="284">3.5905999999999998</cx:pt>
          <cx:pt idx="285">3.6059999999999999</cx:pt>
          <cx:pt idx="286">3.6208999999999998</cx:pt>
          <cx:pt idx="287">3.6442999999999999</cx:pt>
          <cx:pt idx="288">3.6793</cx:pt>
          <cx:pt idx="289">3.7151000000000001</cx:pt>
          <cx:pt idx="290">3.7252999999999998</cx:pt>
          <cx:pt idx="291">3.8146</cx:pt>
          <cx:pt idx="292">3.9359000000000002</cx:pt>
          <cx:pt idx="293">3.9847999999999999</cx:pt>
          <cx:pt idx="294">4.0827</cx:pt>
          <cx:pt idx="295">4.7316000000000003</cx:pt>
          <cx:pt idx="296">4.9245999999999999</cx:pt>
          <cx:pt idx="297">4.9641999999999999</cx:pt>
          <cx:pt idx="298">5.2521000000000004</cx:pt>
          <cx:pt idx="299">5.6726999999999999</cx:pt>
        </cx:lvl>
      </cx:numDim>
    </cx:data>
  </cx:chartData>
  <cx:chart>
    <cx:title pos="t" align="ctr" overlay="0">
      <cx:tx>
        <cx:txData>
          <cx:v>Std::Thread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Std::Thread</a:t>
          </a:r>
        </a:p>
      </cx:txPr>
    </cx:title>
    <cx:plotArea>
      <cx:plotAreaRegion>
        <cx:series layoutId="clusteredColumn" uniqueId="{00000000-CA46-4D61-A4D3-36A577DC1CC5}">
          <cx:tx>
            <cx:txData>
              <cx:f>Raw!$F$1</cx:f>
              <cx:v>latency_nbody_mt_std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5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Raw!$G$2:$G$301</cx:f>
        <cx:lvl ptCount="300" formatCode="General">
          <cx:pt idx="0">2.6314000000000002</cx:pt>
          <cx:pt idx="1">2.6320000000000001</cx:pt>
          <cx:pt idx="2">2.6345000000000001</cx:pt>
          <cx:pt idx="3">2.6421000000000001</cx:pt>
          <cx:pt idx="4">2.6435</cx:pt>
          <cx:pt idx="5">2.6456</cx:pt>
          <cx:pt idx="6">2.6465000000000001</cx:pt>
          <cx:pt idx="7">2.6469</cx:pt>
          <cx:pt idx="8">2.6475</cx:pt>
          <cx:pt idx="9">2.6476999999999999</cx:pt>
          <cx:pt idx="10">2.6486999999999998</cx:pt>
          <cx:pt idx="11">2.6493000000000002</cx:pt>
          <cx:pt idx="12">2.6501999999999999</cx:pt>
          <cx:pt idx="13">2.6501999999999999</cx:pt>
          <cx:pt idx="14">2.6501999999999999</cx:pt>
          <cx:pt idx="15">2.6501999999999999</cx:pt>
          <cx:pt idx="16">2.6503000000000001</cx:pt>
          <cx:pt idx="17">2.6503000000000001</cx:pt>
          <cx:pt idx="18">2.6509</cx:pt>
          <cx:pt idx="19">2.6511999999999998</cx:pt>
          <cx:pt idx="20">2.6514000000000002</cx:pt>
          <cx:pt idx="21">2.6518999999999999</cx:pt>
          <cx:pt idx="22">2.6522000000000001</cx:pt>
          <cx:pt idx="23">2.6524000000000001</cx:pt>
          <cx:pt idx="24">2.6526999999999998</cx:pt>
          <cx:pt idx="25">2.6528</cx:pt>
          <cx:pt idx="26">2.6528999999999998</cx:pt>
          <cx:pt idx="27">2.6532</cx:pt>
          <cx:pt idx="28">2.6533000000000002</cx:pt>
          <cx:pt idx="29">2.6536</cx:pt>
          <cx:pt idx="30">2.6541000000000001</cx:pt>
          <cx:pt idx="31">2.6545000000000001</cx:pt>
          <cx:pt idx="32">2.6545999999999998</cx:pt>
          <cx:pt idx="33">2.6553</cx:pt>
          <cx:pt idx="34">2.6556000000000002</cx:pt>
          <cx:pt idx="35">2.6560999999999999</cx:pt>
          <cx:pt idx="36">2.6572</cx:pt>
          <cx:pt idx="37">2.6574</cx:pt>
          <cx:pt idx="38">2.6577000000000002</cx:pt>
          <cx:pt idx="39">2.6587999999999998</cx:pt>
          <cx:pt idx="40">2.6587999999999998</cx:pt>
          <cx:pt idx="41">2.6600999999999999</cx:pt>
          <cx:pt idx="42">2.6604999999999999</cx:pt>
          <cx:pt idx="43">2.6604999999999999</cx:pt>
          <cx:pt idx="44">2.6608999999999998</cx:pt>
          <cx:pt idx="45">2.6614</cx:pt>
          <cx:pt idx="46">2.6629999999999998</cx:pt>
          <cx:pt idx="47">2.6631</cx:pt>
          <cx:pt idx="48">2.6631</cx:pt>
          <cx:pt idx="49">2.6640000000000001</cx:pt>
          <cx:pt idx="50">2.6642999999999999</cx:pt>
          <cx:pt idx="51">2.6650999999999998</cx:pt>
          <cx:pt idx="52">2.6652</cx:pt>
          <cx:pt idx="53">2.6657999999999999</cx:pt>
          <cx:pt idx="54">2.6659999999999999</cx:pt>
          <cx:pt idx="55">2.6667000000000001</cx:pt>
          <cx:pt idx="56">2.6669</cx:pt>
          <cx:pt idx="57">2.6671999999999998</cx:pt>
          <cx:pt idx="58">2.6684000000000001</cx:pt>
          <cx:pt idx="59">2.6686999999999999</cx:pt>
          <cx:pt idx="60">2.6697000000000002</cx:pt>
          <cx:pt idx="61">2.6703000000000001</cx:pt>
          <cx:pt idx="62">2.6705999999999999</cx:pt>
          <cx:pt idx="63">2.6707999999999998</cx:pt>
          <cx:pt idx="64">2.6709999999999998</cx:pt>
          <cx:pt idx="65">2.6715</cx:pt>
          <cx:pt idx="66">2.6718000000000002</cx:pt>
          <cx:pt idx="67">2.6718999999999999</cx:pt>
          <cx:pt idx="68">2.6720000000000002</cx:pt>
          <cx:pt idx="69">2.6726999999999999</cx:pt>
          <cx:pt idx="70">2.6726999999999999</cx:pt>
          <cx:pt idx="71">2.6728000000000001</cx:pt>
          <cx:pt idx="72">2.6735000000000002</cx:pt>
          <cx:pt idx="73">2.6737000000000002</cx:pt>
          <cx:pt idx="74">2.6739999999999999</cx:pt>
          <cx:pt idx="75">2.6747000000000001</cx:pt>
          <cx:pt idx="76">2.6747999999999998</cx:pt>
          <cx:pt idx="77">2.6751</cx:pt>
          <cx:pt idx="78">2.6751999999999998</cx:pt>
          <cx:pt idx="79">2.6756000000000002</cx:pt>
          <cx:pt idx="80">2.6760999999999999</cx:pt>
          <cx:pt idx="81">2.6766000000000001</cx:pt>
          <cx:pt idx="82">2.6766999999999999</cx:pt>
          <cx:pt idx="83">2.6768999999999998</cx:pt>
          <cx:pt idx="84">2.6770999999999998</cx:pt>
          <cx:pt idx="85">2.6775000000000002</cx:pt>
          <cx:pt idx="86">2.6776</cx:pt>
          <cx:pt idx="87">2.6783999999999999</cx:pt>
          <cx:pt idx="88">2.6787999999999998</cx:pt>
          <cx:pt idx="89">2.6787999999999998</cx:pt>
          <cx:pt idx="90">2.6789000000000001</cx:pt>
          <cx:pt idx="91">2.6796000000000002</cx:pt>
          <cx:pt idx="92">2.6800000000000002</cx:pt>
          <cx:pt idx="93">2.6800999999999999</cx:pt>
          <cx:pt idx="94">2.6804000000000001</cx:pt>
          <cx:pt idx="95">2.6812</cx:pt>
          <cx:pt idx="96">2.6812</cx:pt>
          <cx:pt idx="97">2.6812999999999998</cx:pt>
          <cx:pt idx="98">2.6818</cx:pt>
          <cx:pt idx="99">2.6819000000000002</cx:pt>
          <cx:pt idx="100">2.6821999999999999</cx:pt>
          <cx:pt idx="101">2.6825000000000001</cx:pt>
          <cx:pt idx="102">2.6827000000000001</cx:pt>
          <cx:pt idx="103">2.6827999999999999</cx:pt>
          <cx:pt idx="104">2.6831999999999998</cx:pt>
          <cx:pt idx="105">2.6833</cx:pt>
          <cx:pt idx="106">2.6835</cx:pt>
          <cx:pt idx="107">2.6837</cx:pt>
          <cx:pt idx="108">2.6840000000000002</cx:pt>
          <cx:pt idx="109">2.6854</cx:pt>
          <cx:pt idx="110">2.6854</cx:pt>
          <cx:pt idx="111">2.6859999999999999</cx:pt>
          <cx:pt idx="112">2.6871</cx:pt>
          <cx:pt idx="113">2.6875</cx:pt>
          <cx:pt idx="114">2.6879</cx:pt>
          <cx:pt idx="115">2.6897000000000002</cx:pt>
          <cx:pt idx="116">2.6899000000000002</cx:pt>
          <cx:pt idx="117">2.6901000000000002</cx:pt>
          <cx:pt idx="118">2.6901000000000002</cx:pt>
          <cx:pt idx="119">2.6903999999999999</cx:pt>
          <cx:pt idx="120">2.6903999999999999</cx:pt>
          <cx:pt idx="121">2.6905000000000001</cx:pt>
          <cx:pt idx="122">2.6905000000000001</cx:pt>
          <cx:pt idx="123">2.6905999999999999</cx:pt>
          <cx:pt idx="124">2.6909999999999998</cx:pt>
          <cx:pt idx="125">2.6913</cx:pt>
          <cx:pt idx="126">2.6913999999999998</cx:pt>
          <cx:pt idx="127">2.6917</cx:pt>
          <cx:pt idx="128">2.6926000000000001</cx:pt>
          <cx:pt idx="129">2.6930999999999998</cx:pt>
          <cx:pt idx="130">2.6932999999999998</cx:pt>
          <cx:pt idx="131">2.6938</cx:pt>
          <cx:pt idx="132">2.6939000000000002</cx:pt>
          <cx:pt idx="133">2.6943000000000001</cx:pt>
          <cx:pt idx="134">2.6945000000000001</cx:pt>
          <cx:pt idx="135">2.6947999999999999</cx:pt>
          <cx:pt idx="136">2.6949000000000001</cx:pt>
          <cx:pt idx="137">2.6951999999999998</cx:pt>
          <cx:pt idx="138">2.6951999999999998</cx:pt>
          <cx:pt idx="139">2.6960999999999999</cx:pt>
          <cx:pt idx="140">2.6968000000000001</cx:pt>
          <cx:pt idx="141">2.6976</cx:pt>
          <cx:pt idx="142">2.6979000000000002</cx:pt>
          <cx:pt idx="143">2.6993</cx:pt>
          <cx:pt idx="144">2.6997</cx:pt>
          <cx:pt idx="145">2.7002999999999999</cx:pt>
          <cx:pt idx="146">2.7012</cx:pt>
          <cx:pt idx="147">2.7018</cx:pt>
          <cx:pt idx="148">2.7027000000000001</cx:pt>
          <cx:pt idx="149">2.7027999999999999</cx:pt>
          <cx:pt idx="150">2.7029999999999998</cx:pt>
          <cx:pt idx="151">2.7039</cx:pt>
          <cx:pt idx="152">2.7040999999999999</cx:pt>
          <cx:pt idx="153">2.7050999999999998</cx:pt>
          <cx:pt idx="154">2.7050999999999998</cx:pt>
          <cx:pt idx="155">2.7052999999999998</cx:pt>
          <cx:pt idx="156">2.7059000000000002</cx:pt>
          <cx:pt idx="157">2.7065000000000001</cx:pt>
          <cx:pt idx="158">2.7067000000000001</cx:pt>
          <cx:pt idx="159">2.7071000000000001</cx:pt>
          <cx:pt idx="160">2.7071999999999998</cx:pt>
          <cx:pt idx="161">2.7071999999999998</cx:pt>
          <cx:pt idx="162">2.7075999999999998</cx:pt>
          <cx:pt idx="163">2.7079</cx:pt>
          <cx:pt idx="164">2.7086999999999999</cx:pt>
          <cx:pt idx="165">2.7090000000000001</cx:pt>
          <cx:pt idx="166">2.7092000000000001</cx:pt>
          <cx:pt idx="167">2.7094</cx:pt>
          <cx:pt idx="168">2.71</cx:pt>
          <cx:pt idx="169">2.7103999999999999</cx:pt>
          <cx:pt idx="170">2.7109000000000001</cx:pt>
          <cx:pt idx="171">2.7115</cx:pt>
          <cx:pt idx="172">2.7115</cx:pt>
          <cx:pt idx="173">2.7117</cx:pt>
          <cx:pt idx="174">2.7126999999999999</cx:pt>
          <cx:pt idx="175">2.7128999999999999</cx:pt>
          <cx:pt idx="176">2.7130999999999998</cx:pt>
          <cx:pt idx="177">2.7134999999999998</cx:pt>
          <cx:pt idx="178">2.7136</cx:pt>
          <cx:pt idx="179">2.7136</cx:pt>
          <cx:pt idx="180">2.7141999999999999</cx:pt>
          <cx:pt idx="181">2.7143000000000002</cx:pt>
          <cx:pt idx="182">2.7147000000000001</cx:pt>
          <cx:pt idx="183">2.7149000000000001</cx:pt>
          <cx:pt idx="184">2.7151999999999998</cx:pt>
          <cx:pt idx="185">2.7151999999999998</cx:pt>
          <cx:pt idx="186">2.7151999999999998</cx:pt>
          <cx:pt idx="187">2.7153999999999998</cx:pt>
          <cx:pt idx="188">2.7153999999999998</cx:pt>
          <cx:pt idx="189">2.7155999999999998</cx:pt>
          <cx:pt idx="190">2.7155999999999998</cx:pt>
          <cx:pt idx="191">2.7159</cx:pt>
          <cx:pt idx="192">2.7160000000000002</cx:pt>
          <cx:pt idx="193">2.7161</cx:pt>
          <cx:pt idx="194">2.7170000000000001</cx:pt>
          <cx:pt idx="195">2.7189999999999999</cx:pt>
          <cx:pt idx="196">2.7191999999999998</cx:pt>
          <cx:pt idx="197">2.7198000000000002</cx:pt>
          <cx:pt idx="198">2.7200000000000002</cx:pt>
          <cx:pt idx="199">2.7210000000000001</cx:pt>
          <cx:pt idx="200">2.7210999999999999</cx:pt>
          <cx:pt idx="201">2.7214</cx:pt>
          <cx:pt idx="202">2.7216</cx:pt>
          <cx:pt idx="203">2.7216999999999998</cx:pt>
          <cx:pt idx="204">2.7218</cx:pt>
          <cx:pt idx="205">2.7222</cx:pt>
          <cx:pt idx="206">2.7229000000000001</cx:pt>
          <cx:pt idx="207">2.7240000000000002</cx:pt>
          <cx:pt idx="208">2.7242000000000002</cx:pt>
          <cx:pt idx="209">2.7252000000000001</cx:pt>
          <cx:pt idx="210">2.7254999999999998</cx:pt>
          <cx:pt idx="211">2.7256999999999998</cx:pt>
          <cx:pt idx="212">2.7263000000000002</cx:pt>
          <cx:pt idx="213">2.7267999999999999</cx:pt>
          <cx:pt idx="214">2.7269999999999999</cx:pt>
          <cx:pt idx="215">2.7271000000000001</cx:pt>
          <cx:pt idx="216">2.7273000000000001</cx:pt>
          <cx:pt idx="217">2.7273000000000001</cx:pt>
          <cx:pt idx="218">2.7273999999999998</cx:pt>
          <cx:pt idx="219">2.7277</cx:pt>
          <cx:pt idx="220">2.7282000000000002</cx:pt>
          <cx:pt idx="221">2.7282000000000002</cx:pt>
          <cx:pt idx="222">2.7294999999999998</cx:pt>
          <cx:pt idx="223">2.7303000000000002</cx:pt>
          <cx:pt idx="224">2.7305000000000001</cx:pt>
          <cx:pt idx="225">2.7307999999999999</cx:pt>
          <cx:pt idx="226">2.7311000000000001</cx:pt>
          <cx:pt idx="227">2.7317999999999998</cx:pt>
          <cx:pt idx="228">2.7321</cx:pt>
          <cx:pt idx="229">2.7326000000000001</cx:pt>
          <cx:pt idx="230">2.7330000000000001</cx:pt>
          <cx:pt idx="231">2.7334000000000001</cx:pt>
          <cx:pt idx="232">2.7341000000000002</cx:pt>
          <cx:pt idx="233">2.7347000000000001</cx:pt>
          <cx:pt idx="234">2.7357</cx:pt>
          <cx:pt idx="235">2.7361</cx:pt>
          <cx:pt idx="236">2.7372999999999998</cx:pt>
          <cx:pt idx="237">2.7400000000000002</cx:pt>
          <cx:pt idx="238">2.7410000000000001</cx:pt>
          <cx:pt idx="239">2.7416999999999998</cx:pt>
          <cx:pt idx="240">2.7435999999999998</cx:pt>
          <cx:pt idx="241">2.7477999999999998</cx:pt>
          <cx:pt idx="242">2.7483</cx:pt>
          <cx:pt idx="243">2.7483</cx:pt>
          <cx:pt idx="244">2.7494999999999998</cx:pt>
          <cx:pt idx="245">2.7509999999999999</cx:pt>
          <cx:pt idx="246">2.7511999999999999</cx:pt>
          <cx:pt idx="247">2.7528000000000001</cx:pt>
          <cx:pt idx="248">2.7542</cx:pt>
          <cx:pt idx="249">2.7574999999999998</cx:pt>
          <cx:pt idx="250">2.7585999999999999</cx:pt>
          <cx:pt idx="251">2.7601</cx:pt>
          <cx:pt idx="252">2.7616999999999998</cx:pt>
          <cx:pt idx="253">2.7621000000000002</cx:pt>
          <cx:pt idx="254">2.7623000000000002</cx:pt>
          <cx:pt idx="255">2.7629000000000001</cx:pt>
          <cx:pt idx="256">2.7721</cx:pt>
          <cx:pt idx="257">2.7724000000000002</cx:pt>
          <cx:pt idx="258">2.7755999999999998</cx:pt>
          <cx:pt idx="259">2.7791000000000001</cx:pt>
          <cx:pt idx="260">2.7833000000000001</cx:pt>
          <cx:pt idx="261">2.7854999999999999</cx:pt>
          <cx:pt idx="262">2.7917999999999998</cx:pt>
          <cx:pt idx="263">2.7923</cx:pt>
          <cx:pt idx="264">2.7928999999999999</cx:pt>
          <cx:pt idx="265">2.7936000000000001</cx:pt>
          <cx:pt idx="266">2.7978999999999998</cx:pt>
          <cx:pt idx="267">2.8016999999999999</cx:pt>
          <cx:pt idx="268">2.8018999999999998</cx:pt>
          <cx:pt idx="269">2.8068</cx:pt>
          <cx:pt idx="270">2.8089</cx:pt>
          <cx:pt idx="271">2.8128000000000002</cx:pt>
          <cx:pt idx="272">2.8169</cx:pt>
          <cx:pt idx="273">2.8197999999999999</cx:pt>
          <cx:pt idx="274">2.8212000000000002</cx:pt>
          <cx:pt idx="275">2.8266</cx:pt>
          <cx:pt idx="276">2.8266</cx:pt>
          <cx:pt idx="277">2.8298999999999999</cx:pt>
          <cx:pt idx="278">2.8313999999999999</cx:pt>
          <cx:pt idx="279">2.8393000000000002</cx:pt>
          <cx:pt idx="280">2.8395000000000001</cx:pt>
          <cx:pt idx="281">2.8595000000000002</cx:pt>
          <cx:pt idx="282">2.8635999999999999</cx:pt>
          <cx:pt idx="283">2.8693</cx:pt>
          <cx:pt idx="284">2.8784000000000001</cx:pt>
          <cx:pt idx="285">2.8797999999999999</cx:pt>
          <cx:pt idx="286">2.8820999999999999</cx:pt>
          <cx:pt idx="287">2.8860999999999999</cx:pt>
          <cx:pt idx="288">2.8927999999999998</cx:pt>
          <cx:pt idx="289">2.8982999999999999</cx:pt>
          <cx:pt idx="290">2.9287000000000001</cx:pt>
          <cx:pt idx="291">2.9369000000000001</cx:pt>
          <cx:pt idx="292">2.9403999999999999</cx:pt>
          <cx:pt idx="293">2.9468000000000001</cx:pt>
          <cx:pt idx="294">2.9615</cx:pt>
          <cx:pt idx="295">2.9716999999999998</cx:pt>
          <cx:pt idx="296">2.9828999999999999</cx:pt>
          <cx:pt idx="297">2.9994999999999998</cx:pt>
          <cx:pt idx="298">3.0289999999999999</cx:pt>
          <cx:pt idx="299">4.7394999999999996</cx:pt>
        </cx:lvl>
      </cx:numDim>
    </cx:data>
  </cx:chartData>
  <cx:chart>
    <cx:title pos="t" align="ctr" overlay="0">
      <cx:tx>
        <cx:txData>
          <cx:v>Pool of Std::Thread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Pool of Std::Thread</a:t>
          </a:r>
        </a:p>
      </cx:txPr>
    </cx:title>
    <cx:plotArea>
      <cx:plotAreaRegion>
        <cx:series layoutId="clusteredColumn" uniqueId="{00000000-AE38-4A09-917C-E2E3FFE07518}">
          <cx:tx>
            <cx:txData>
              <cx:f>Raw!$G$1</cx:f>
              <cx:v>latency_nbody_mt_stdpool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6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Raw!$E$2:$E$302</cx:f>
        <cx:lvl ptCount="301" formatCode="General">
          <cx:pt idx="0">2.6714000000000002</cx:pt>
          <cx:pt idx="1">2.6724000000000001</cx:pt>
          <cx:pt idx="2">2.6751999999999998</cx:pt>
          <cx:pt idx="3">2.677</cx:pt>
          <cx:pt idx="4">2.6787000000000001</cx:pt>
          <cx:pt idx="5">2.6802000000000001</cx:pt>
          <cx:pt idx="6">2.6806000000000001</cx:pt>
          <cx:pt idx="7">2.6831999999999998</cx:pt>
          <cx:pt idx="8">2.6844999999999999</cx:pt>
          <cx:pt idx="9">2.6859999999999999</cx:pt>
          <cx:pt idx="10">2.6882000000000001</cx:pt>
          <cx:pt idx="11">2.6903999999999999</cx:pt>
          <cx:pt idx="12">2.6907000000000001</cx:pt>
          <cx:pt idx="13">2.6911999999999998</cx:pt>
          <cx:pt idx="14">2.6955</cx:pt>
          <cx:pt idx="15">2.6962999999999999</cx:pt>
          <cx:pt idx="16">2.6981999999999999</cx:pt>
          <cx:pt idx="17">2.6981999999999999</cx:pt>
          <cx:pt idx="18">2.6989000000000001</cx:pt>
          <cx:pt idx="19">2.7029000000000001</cx:pt>
          <cx:pt idx="20">2.7029000000000001</cx:pt>
          <cx:pt idx="21">2.7046999999999999</cx:pt>
          <cx:pt idx="22">2.7054999999999998</cx:pt>
          <cx:pt idx="23">2.7065999999999999</cx:pt>
          <cx:pt idx="24">2.7094</cx:pt>
          <cx:pt idx="25">2.7136</cx:pt>
          <cx:pt idx="26">2.7147999999999999</cx:pt>
          <cx:pt idx="27">2.7166000000000001</cx:pt>
          <cx:pt idx="28">2.7172000000000001</cx:pt>
          <cx:pt idx="29">2.7174999999999998</cx:pt>
          <cx:pt idx="30">2.7179000000000002</cx:pt>
          <cx:pt idx="31">2.7185999999999999</cx:pt>
          <cx:pt idx="32">2.7206000000000001</cx:pt>
          <cx:pt idx="33">2.7212000000000001</cx:pt>
          <cx:pt idx="34">2.7225000000000001</cx:pt>
          <cx:pt idx="35">2.7244000000000002</cx:pt>
          <cx:pt idx="36">2.7244999999999999</cx:pt>
          <cx:pt idx="37">2.7246000000000001</cx:pt>
          <cx:pt idx="38">2.7248000000000001</cx:pt>
          <cx:pt idx="39">2.7248999999999999</cx:pt>
          <cx:pt idx="40">2.7250999999999999</cx:pt>
          <cx:pt idx="41">2.7252999999999998</cx:pt>
          <cx:pt idx="42">2.7254999999999998</cx:pt>
          <cx:pt idx="43">2.7263000000000002</cx:pt>
          <cx:pt idx="44">2.7263999999999999</cx:pt>
          <cx:pt idx="45">2.7265000000000001</cx:pt>
          <cx:pt idx="46">2.7267000000000001</cx:pt>
          <cx:pt idx="47">2.7267000000000001</cx:pt>
          <cx:pt idx="48">2.7273000000000001</cx:pt>
          <cx:pt idx="49">2.7273999999999998</cx:pt>
          <cx:pt idx="50">2.7275999999999998</cx:pt>
          <cx:pt idx="51">2.7280000000000002</cx:pt>
          <cx:pt idx="52">2.7281</cx:pt>
          <cx:pt idx="53">2.7281</cx:pt>
          <cx:pt idx="54">2.7282999999999999</cx:pt>
          <cx:pt idx="55">2.7284000000000002</cx:pt>
          <cx:pt idx="56">2.7288999999999999</cx:pt>
          <cx:pt idx="57">2.7290000000000001</cx:pt>
          <cx:pt idx="58">2.7290999999999999</cx:pt>
          <cx:pt idx="59">2.7290999999999999</cx:pt>
          <cx:pt idx="60">2.7292000000000001</cx:pt>
          <cx:pt idx="61">2.7292000000000001</cx:pt>
          <cx:pt idx="62">2.7298</cx:pt>
          <cx:pt idx="63">2.73</cx:pt>
          <cx:pt idx="64">2.73</cx:pt>
          <cx:pt idx="65">2.73</cx:pt>
          <cx:pt idx="66">2.7301000000000002</cx:pt>
          <cx:pt idx="67">2.7302</cx:pt>
          <cx:pt idx="68">2.7302</cx:pt>
          <cx:pt idx="69">2.7303000000000002</cx:pt>
          <cx:pt idx="70">2.7307000000000001</cx:pt>
          <cx:pt idx="71">2.7307000000000001</cx:pt>
          <cx:pt idx="72">2.7309000000000001</cx:pt>
          <cx:pt idx="73">2.7311000000000001</cx:pt>
          <cx:pt idx="74">2.7313000000000001</cx:pt>
          <cx:pt idx="75">2.7313000000000001</cx:pt>
          <cx:pt idx="76">2.7319</cx:pt>
          <cx:pt idx="77">2.7320000000000002</cx:pt>
          <cx:pt idx="78">2.7322000000000002</cx:pt>
          <cx:pt idx="79">2.7324000000000002</cx:pt>
          <cx:pt idx="80">2.7326000000000001</cx:pt>
          <cx:pt idx="81">2.7326000000000001</cx:pt>
          <cx:pt idx="82">2.7328000000000001</cx:pt>
          <cx:pt idx="83">2.7328999999999999</cx:pt>
          <cx:pt idx="84">2.7328999999999999</cx:pt>
          <cx:pt idx="85">2.7330000000000001</cx:pt>
          <cx:pt idx="86">2.7332999999999998</cx:pt>
          <cx:pt idx="87">2.7336</cx:pt>
          <cx:pt idx="88">2.7336999999999998</cx:pt>
          <cx:pt idx="89">2.7338</cx:pt>
          <cx:pt idx="90">2.7341000000000002</cx:pt>
          <cx:pt idx="91">2.7342</cx:pt>
          <cx:pt idx="92">2.7343000000000002</cx:pt>
          <cx:pt idx="93">2.7345000000000002</cx:pt>
          <cx:pt idx="94">2.7351999999999999</cx:pt>
          <cx:pt idx="95">2.7353000000000001</cx:pt>
          <cx:pt idx="96">2.7355999999999998</cx:pt>
          <cx:pt idx="97">2.7360000000000002</cx:pt>
          <cx:pt idx="98">2.7361</cx:pt>
          <cx:pt idx="99">2.7364000000000002</cx:pt>
          <cx:pt idx="100">2.7364999999999999</cx:pt>
          <cx:pt idx="101">2.7368000000000001</cx:pt>
          <cx:pt idx="102">2.7368999999999999</cx:pt>
          <cx:pt idx="103">2.7370000000000001</cx:pt>
          <cx:pt idx="104">2.7370000000000001</cx:pt>
          <cx:pt idx="105">2.7372000000000001</cx:pt>
          <cx:pt idx="106">2.7374000000000001</cx:pt>
          <cx:pt idx="107">2.7374000000000001</cx:pt>
          <cx:pt idx="108">2.7374999999999998</cx:pt>
          <cx:pt idx="109">2.7374999999999998</cx:pt>
          <cx:pt idx="110">2.7376999999999998</cx:pt>
          <cx:pt idx="111">2.7378</cx:pt>
          <cx:pt idx="112">2.7378</cx:pt>
          <cx:pt idx="113">2.7378999999999998</cx:pt>
          <cx:pt idx="114">2.738</cx:pt>
          <cx:pt idx="115">2.7382</cx:pt>
          <cx:pt idx="116">2.7383000000000002</cx:pt>
          <cx:pt idx="117">2.7383999999999999</cx:pt>
          <cx:pt idx="118">2.7385000000000002</cx:pt>
          <cx:pt idx="119">2.7387000000000001</cx:pt>
          <cx:pt idx="120">2.7387000000000001</cx:pt>
          <cx:pt idx="121">2.7389999999999999</cx:pt>
          <cx:pt idx="122">2.7395</cx:pt>
          <cx:pt idx="123">2.7395999999999998</cx:pt>
          <cx:pt idx="124">2.7395999999999998</cx:pt>
          <cx:pt idx="125">2.7401</cx:pt>
          <cx:pt idx="126">2.7402000000000002</cx:pt>
          <cx:pt idx="127">2.7403</cx:pt>
          <cx:pt idx="128">2.7404999999999999</cx:pt>
          <cx:pt idx="129">2.7410000000000001</cx:pt>
          <cx:pt idx="130">2.7410000000000001</cx:pt>
          <cx:pt idx="131">2.7410999999999999</cx:pt>
          <cx:pt idx="132">2.7412000000000001</cx:pt>
          <cx:pt idx="133">2.742</cx:pt>
          <cx:pt idx="134">2.7423999999999999</cx:pt>
          <cx:pt idx="135">2.7429999999999999</cx:pt>
          <cx:pt idx="136">2.7431999999999999</cx:pt>
          <cx:pt idx="137">2.7439</cx:pt>
          <cx:pt idx="138">2.7441</cx:pt>
          <cx:pt idx="139">2.7441</cx:pt>
          <cx:pt idx="140">2.7443</cx:pt>
          <cx:pt idx="141">2.7444000000000002</cx:pt>
          <cx:pt idx="142">2.7450000000000001</cx:pt>
          <cx:pt idx="143">2.7450999999999999</cx:pt>
          <cx:pt idx="144">2.7452000000000001</cx:pt>
          <cx:pt idx="145">2.7452000000000001</cx:pt>
          <cx:pt idx="146">2.7467000000000001</cx:pt>
          <cx:pt idx="147">2.7467000000000001</cx:pt>
          <cx:pt idx="148">2.7469000000000001</cx:pt>
          <cx:pt idx="149">2.7475000000000001</cx:pt>
          <cx:pt idx="150">2.7477</cx:pt>
          <cx:pt idx="151">2.7480000000000002</cx:pt>
          <cx:pt idx="152">2.7482000000000002</cx:pt>
          <cx:pt idx="153">2.7486000000000002</cx:pt>
          <cx:pt idx="154">2.7492999999999999</cx:pt>
          <cx:pt idx="155">2.7494999999999998</cx:pt>
          <cx:pt idx="156">2.7496</cx:pt>
          <cx:pt idx="157">2.7504</cx:pt>
          <cx:pt idx="158">2.7505000000000002</cx:pt>
          <cx:pt idx="159">2.7513999999999998</cx:pt>
          <cx:pt idx="160">2.7515000000000001</cx:pt>
          <cx:pt idx="161">2.7517999999999998</cx:pt>
          <cx:pt idx="162">2.7521</cx:pt>
          <cx:pt idx="163">2.7521</cx:pt>
          <cx:pt idx="164">2.7526000000000002</cx:pt>
          <cx:pt idx="165">2.7526999999999999</cx:pt>
          <cx:pt idx="166">2.7528000000000001</cx:pt>
          <cx:pt idx="167">2.7530000000000001</cx:pt>
          <cx:pt idx="168">2.7534999999999998</cx:pt>
          <cx:pt idx="169">2.7536</cx:pt>
          <cx:pt idx="170">2.7538999999999998</cx:pt>
          <cx:pt idx="171">2.7543000000000002</cx:pt>
          <cx:pt idx="172">2.7547000000000001</cx:pt>
          <cx:pt idx="173">2.7568999999999999</cx:pt>
          <cx:pt idx="174">2.7570000000000001</cx:pt>
          <cx:pt idx="175">2.7572999999999999</cx:pt>
          <cx:pt idx="176">2.7578999999999998</cx:pt>
          <cx:pt idx="177">2.7587999999999999</cx:pt>
          <cx:pt idx="178">2.7589999999999999</cx:pt>
          <cx:pt idx="179">2.7591999999999999</cx:pt>
          <cx:pt idx="180">2.7595000000000001</cx:pt>
          <cx:pt idx="181">2.7599</cx:pt>
          <cx:pt idx="182">2.7608999999999999</cx:pt>
          <cx:pt idx="183">2.7614999999999998</cx:pt>
          <cx:pt idx="184">2.7618999999999998</cx:pt>
          <cx:pt idx="185">2.7621000000000002</cx:pt>
          <cx:pt idx="186">2.7623000000000002</cx:pt>
          <cx:pt idx="187">2.7633000000000001</cx:pt>
          <cx:pt idx="188">2.7639</cx:pt>
          <cx:pt idx="189">2.7658999999999998</cx:pt>
          <cx:pt idx="190">2.7665000000000002</cx:pt>
          <cx:pt idx="191">2.7667999999999999</cx:pt>
          <cx:pt idx="192">2.7671999999999999</cx:pt>
          <cx:pt idx="193">2.7675999999999998</cx:pt>
          <cx:pt idx="194">2.7679999999999998</cx:pt>
          <cx:pt idx="195">2.7685</cx:pt>
          <cx:pt idx="196">2.7692999999999999</cx:pt>
          <cx:pt idx="197">2.7694000000000001</cx:pt>
          <cx:pt idx="198">2.7706</cx:pt>
          <cx:pt idx="199">2.7707000000000002</cx:pt>
          <cx:pt idx="200">2.7728999999999999</cx:pt>
          <cx:pt idx="201">2.7742</cx:pt>
          <cx:pt idx="202">2.7747000000000002</cx:pt>
          <cx:pt idx="203">2.7755000000000001</cx:pt>
          <cx:pt idx="204">2.7755000000000001</cx:pt>
          <cx:pt idx="205">2.7759</cx:pt>
          <cx:pt idx="206">2.7761</cx:pt>
          <cx:pt idx="207">2.7793000000000001</cx:pt>
          <cx:pt idx="208">2.7814000000000001</cx:pt>
          <cx:pt idx="209">2.7847</cx:pt>
          <cx:pt idx="210">2.7848000000000002</cx:pt>
          <cx:pt idx="211">2.7850000000000001</cx:pt>
          <cx:pt idx="212">2.7869000000000002</cx:pt>
          <cx:pt idx="213">2.7871000000000001</cx:pt>
          <cx:pt idx="214">2.7886000000000002</cx:pt>
          <cx:pt idx="215">2.7887</cx:pt>
          <cx:pt idx="216">2.7913000000000001</cx:pt>
          <cx:pt idx="217">2.7928999999999999</cx:pt>
          <cx:pt idx="218">2.7932000000000001</cx:pt>
          <cx:pt idx="219">2.7945000000000002</cx:pt>
          <cx:pt idx="220">2.8016000000000001</cx:pt>
          <cx:pt idx="221">2.806</cx:pt>
          <cx:pt idx="222">2.8104</cx:pt>
          <cx:pt idx="223">2.8151999999999999</cx:pt>
          <cx:pt idx="224">2.8155000000000001</cx:pt>
          <cx:pt idx="225">2.8271000000000002</cx:pt>
          <cx:pt idx="226">2.8319000000000001</cx:pt>
          <cx:pt idx="227">2.8325999999999998</cx:pt>
          <cx:pt idx="228">2.8327</cx:pt>
          <cx:pt idx="229">2.839</cx:pt>
          <cx:pt idx="230">2.8460999999999999</cx:pt>
          <cx:pt idx="231">2.8658000000000001</cx:pt>
          <cx:pt idx="232">2.8805000000000001</cx:pt>
          <cx:pt idx="233">2.8984000000000001</cx:pt>
          <cx:pt idx="234">2.9077999999999999</cx:pt>
          <cx:pt idx="235">2.9167000000000001</cx:pt>
          <cx:pt idx="236">2.9182999999999999</cx:pt>
          <cx:pt idx="237">2.9182999999999999</cx:pt>
          <cx:pt idx="238">2.9420000000000002</cx:pt>
          <cx:pt idx="239">2.956</cx:pt>
          <cx:pt idx="240">3.0007000000000001</cx:pt>
          <cx:pt idx="241">3.0066000000000002</cx:pt>
          <cx:pt idx="242">3.0274000000000001</cx:pt>
          <cx:pt idx="243">3.048</cx:pt>
          <cx:pt idx="244">3.0484</cx:pt>
          <cx:pt idx="245">3.0867</cx:pt>
          <cx:pt idx="246">3.1574</cx:pt>
          <cx:pt idx="247">3.1882000000000001</cx:pt>
          <cx:pt idx="248">3.3380999999999998</cx:pt>
          <cx:pt idx="249">3.3940000000000001</cx:pt>
          <cx:pt idx="250">3.4258999999999999</cx:pt>
          <cx:pt idx="251">3.4944999999999999</cx:pt>
          <cx:pt idx="252">3.5251999999999999</cx:pt>
          <cx:pt idx="253">3.5426000000000002</cx:pt>
          <cx:pt idx="254">3.6166</cx:pt>
          <cx:pt idx="255">3.6941000000000002</cx:pt>
          <cx:pt idx="256">3.8214000000000001</cx:pt>
          <cx:pt idx="257">4.2653999999999996</cx:pt>
          <cx:pt idx="258">4.2960000000000003</cx:pt>
          <cx:pt idx="259">4.3757999999999999</cx:pt>
          <cx:pt idx="260">4.4226000000000001</cx:pt>
          <cx:pt idx="261">4.4282000000000004</cx:pt>
          <cx:pt idx="262">4.4337</cx:pt>
          <cx:pt idx="263">4.4371999999999998</cx:pt>
          <cx:pt idx="264">4.4389000000000003</cx:pt>
          <cx:pt idx="265">4.4527999999999999</cx:pt>
          <cx:pt idx="266">4.4606000000000003</cx:pt>
          <cx:pt idx="267">4.5359999999999996</cx:pt>
          <cx:pt idx="268">4.7061999999999999</cx:pt>
          <cx:pt idx="269">4.7111999999999998</cx:pt>
          <cx:pt idx="270">4.7115</cx:pt>
          <cx:pt idx="271">4.7191000000000001</cx:pt>
          <cx:pt idx="272">4.7191999999999998</cx:pt>
          <cx:pt idx="273">4.7225999999999999</cx:pt>
          <cx:pt idx="274">4.7237</cx:pt>
          <cx:pt idx="275">4.7244000000000002</cx:pt>
          <cx:pt idx="276">4.7252000000000001</cx:pt>
          <cx:pt idx="277">4.7286000000000001</cx:pt>
          <cx:pt idx="278">4.7422000000000004</cx:pt>
          <cx:pt idx="279">4.7462</cx:pt>
          <cx:pt idx="280">4.7568000000000001</cx:pt>
          <cx:pt idx="281">4.758</cx:pt>
          <cx:pt idx="282">4.7603999999999997</cx:pt>
          <cx:pt idx="283">4.7603999999999997</cx:pt>
          <cx:pt idx="284">4.7630999999999997</cx:pt>
          <cx:pt idx="285">4.7643000000000004</cx:pt>
          <cx:pt idx="286">4.7674000000000003</cx:pt>
          <cx:pt idx="287">4.7689000000000004</cx:pt>
          <cx:pt idx="288">4.7690999999999999</cx:pt>
          <cx:pt idx="289">4.7706</cx:pt>
          <cx:pt idx="290">4.7724000000000002</cx:pt>
          <cx:pt idx="291">4.8048000000000002</cx:pt>
          <cx:pt idx="292">4.8844000000000003</cx:pt>
          <cx:pt idx="293">4.9268999999999998</cx:pt>
          <cx:pt idx="294">4.9787999999999997</cx:pt>
          <cx:pt idx="295">5.0538999999999996</cx:pt>
          <cx:pt idx="296">5.0682</cx:pt>
          <cx:pt idx="297">5.1672000000000002</cx:pt>
          <cx:pt idx="298">5.2487000000000004</cx:pt>
          <cx:pt idx="299">5.3662000000000001</cx:pt>
          <cx:pt idx="300">5.7000000000000002</cx:pt>
        </cx:lvl>
      </cx:numDim>
    </cx:data>
  </cx:chartData>
  <cx:chart>
    <cx:title pos="t" align="ctr" overlay="0">
      <cx:tx>
        <cx:txData>
          <cx:v>Default OpenMP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Default OpenMP</a:t>
          </a:r>
        </a:p>
      </cx:txPr>
    </cx:title>
    <cx:plotArea>
      <cx:plotAreaRegion>
        <cx:series layoutId="clusteredColumn" uniqueId="{00000000-6780-4254-AB80-7DAB4BF0604F}">
          <cx:tx>
            <cx:txData>
              <cx:f>Raw!$E$1</cx:f>
              <cx:v>latency_nbody_mt_openmp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7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Raw!$F$2:$F$302</cx:f>
        <cx:lvl ptCount="301" formatCode="General">
          <cx:pt idx="0">3.0122</cx:pt>
          <cx:pt idx="1">3.0148999999999999</cx:pt>
          <cx:pt idx="2">3.0236999999999998</cx:pt>
          <cx:pt idx="3">3.024</cx:pt>
          <cx:pt idx="4">3.0249999999999999</cx:pt>
          <cx:pt idx="5">3.0261999999999998</cx:pt>
          <cx:pt idx="6">3.0276000000000001</cx:pt>
          <cx:pt idx="7">3.0308000000000002</cx:pt>
          <cx:pt idx="8">3.0324</cx:pt>
          <cx:pt idx="9">3.0327999999999999</cx:pt>
          <cx:pt idx="10">3.0329000000000002</cx:pt>
          <cx:pt idx="11">3.036</cx:pt>
          <cx:pt idx="12">3.036</cx:pt>
          <cx:pt idx="13">3.0367999999999999</cx:pt>
          <cx:pt idx="14">3.0381999999999998</cx:pt>
          <cx:pt idx="15">3.0387</cx:pt>
          <cx:pt idx="16">3.04</cx:pt>
          <cx:pt idx="17">3.0402</cx:pt>
          <cx:pt idx="18">3.0453000000000001</cx:pt>
          <cx:pt idx="19">3.0470999999999999</cx:pt>
          <cx:pt idx="20">3.0482</cx:pt>
          <cx:pt idx="21">3.0489000000000002</cx:pt>
          <cx:pt idx="22">3.0512999999999999</cx:pt>
          <cx:pt idx="23">3.0518000000000001</cx:pt>
          <cx:pt idx="24">3.0531000000000001</cx:pt>
          <cx:pt idx="25">3.0548999999999999</cx:pt>
          <cx:pt idx="26">3.0552999999999999</cx:pt>
          <cx:pt idx="27">3.0554000000000001</cx:pt>
          <cx:pt idx="28">3.0554000000000001</cx:pt>
          <cx:pt idx="29">3.0573999999999999</cx:pt>
          <cx:pt idx="30">3.0577000000000001</cx:pt>
          <cx:pt idx="31">3.0579999999999998</cx:pt>
          <cx:pt idx="32">3.0594999999999999</cx:pt>
          <cx:pt idx="33">3.0602</cx:pt>
          <cx:pt idx="34">3.0608</cx:pt>
          <cx:pt idx="35">3.0609000000000002</cx:pt>
          <cx:pt idx="36">3.0628000000000002</cx:pt>
          <cx:pt idx="37">3.0634000000000001</cx:pt>
          <cx:pt idx="38">3.0636999999999999</cx:pt>
          <cx:pt idx="39">3.0640000000000001</cx:pt>
          <cx:pt idx="40">3.0642999999999998</cx:pt>
          <cx:pt idx="41">3.0653999999999999</cx:pt>
          <cx:pt idx="42">3.0659000000000001</cx:pt>
          <cx:pt idx="43">3.0661</cx:pt>
          <cx:pt idx="44">3.0663999999999998</cx:pt>
          <cx:pt idx="45">3.0668000000000002</cx:pt>
          <cx:pt idx="46">3.0672999999999999</cx:pt>
          <cx:pt idx="47">3.0674000000000001</cx:pt>
          <cx:pt idx="48">3.0678999999999998</cx:pt>
          <cx:pt idx="49">3.0682</cx:pt>
          <cx:pt idx="50">3.0699000000000001</cx:pt>
          <cx:pt idx="51">3.0712000000000002</cx:pt>
          <cx:pt idx="52">3.0716999999999999</cx:pt>
          <cx:pt idx="53">3.0722999999999998</cx:pt>
          <cx:pt idx="54">3.0724</cx:pt>
          <cx:pt idx="55">3.0726</cx:pt>
          <cx:pt idx="56">3.0733000000000001</cx:pt>
          <cx:pt idx="57">3.0735000000000001</cx:pt>
          <cx:pt idx="58">3.0735999999999999</cx:pt>
          <cx:pt idx="59">3.0749</cx:pt>
          <cx:pt idx="60">3.0758000000000001</cx:pt>
          <cx:pt idx="61">3.0779000000000001</cx:pt>
          <cx:pt idx="62">3.0783</cx:pt>
          <cx:pt idx="63">3.0783999999999998</cx:pt>
          <cx:pt idx="64">3.0783999999999998</cx:pt>
          <cx:pt idx="65">3.0785</cx:pt>
          <cx:pt idx="66">3.0785999999999998</cx:pt>
          <cx:pt idx="67">3.0788000000000002</cx:pt>
          <cx:pt idx="68">3.0792000000000002</cx:pt>
          <cx:pt idx="69">3.0806</cx:pt>
          <cx:pt idx="70">3.0828000000000002</cx:pt>
          <cx:pt idx="71">3.0832999999999999</cx:pt>
          <cx:pt idx="72">3.0836000000000001</cx:pt>
          <cx:pt idx="73">3.0846</cx:pt>
          <cx:pt idx="74">3.0848</cx:pt>
          <cx:pt idx="75">3.0867</cx:pt>
          <cx:pt idx="76">3.0869</cx:pt>
          <cx:pt idx="77">3.0908000000000002</cx:pt>
          <cx:pt idx="78">3.0908000000000002</cx:pt>
          <cx:pt idx="79">3.0912999999999999</cx:pt>
          <cx:pt idx="80">3.0922999999999998</cx:pt>
          <cx:pt idx="81">3.093</cx:pt>
          <cx:pt idx="82">3.0935000000000001</cx:pt>
          <cx:pt idx="83">3.0935999999999999</cx:pt>
          <cx:pt idx="84">3.0951</cx:pt>
          <cx:pt idx="85">3.0956999999999999</cx:pt>
          <cx:pt idx="86">3.0958000000000001</cx:pt>
          <cx:pt idx="87">3.0966</cx:pt>
          <cx:pt idx="88">3.0966</cx:pt>
          <cx:pt idx="89">3.0969000000000002</cx:pt>
          <cx:pt idx="90">3.0971000000000002</cx:pt>
          <cx:pt idx="91">3.0977999999999999</cx:pt>
          <cx:pt idx="92">3.0985</cx:pt>
          <cx:pt idx="93">3.0987</cx:pt>
          <cx:pt idx="94">3.0988000000000002</cx:pt>
          <cx:pt idx="95">3.1006999999999998</cx:pt>
          <cx:pt idx="96">3.1009000000000002</cx:pt>
          <cx:pt idx="97">3.1011000000000002</cx:pt>
          <cx:pt idx="98">3.1012</cx:pt>
          <cx:pt idx="99">3.1015999999999999</cx:pt>
          <cx:pt idx="100">3.1017999999999999</cx:pt>
          <cx:pt idx="101">3.1019000000000001</cx:pt>
          <cx:pt idx="102">3.1021000000000001</cx:pt>
          <cx:pt idx="103">3.1021999999999998</cx:pt>
          <cx:pt idx="104">3.1025999999999998</cx:pt>
          <cx:pt idx="105">3.1027999999999998</cx:pt>
          <cx:pt idx="106">3.1027999999999998</cx:pt>
          <cx:pt idx="107">3.1031</cx:pt>
          <cx:pt idx="108">3.1032000000000002</cx:pt>
          <cx:pt idx="109">3.1034000000000002</cx:pt>
          <cx:pt idx="110">3.1044</cx:pt>
          <cx:pt idx="111">3.1046</cx:pt>
          <cx:pt idx="112">3.1049000000000002</cx:pt>
          <cx:pt idx="113">3.1052</cx:pt>
          <cx:pt idx="114">3.1052</cx:pt>
          <cx:pt idx="115">3.1057000000000001</cx:pt>
          <cx:pt idx="116">3.1059000000000001</cx:pt>
          <cx:pt idx="117">3.1059999999999999</cx:pt>
          <cx:pt idx="118">3.1059999999999999</cx:pt>
          <cx:pt idx="119">3.1061000000000001</cx:pt>
          <cx:pt idx="120">3.1097000000000001</cx:pt>
          <cx:pt idx="121">3.1103000000000001</cx:pt>
          <cx:pt idx="122">3.1111</cx:pt>
          <cx:pt idx="123">3.1116999999999999</cx:pt>
          <cx:pt idx="124">3.1120999999999999</cx:pt>
          <cx:pt idx="125">3.1122000000000001</cx:pt>
          <cx:pt idx="126">3.1135999999999999</cx:pt>
          <cx:pt idx="127">3.1147999999999998</cx:pt>
          <cx:pt idx="128">3.1152000000000002</cx:pt>
          <cx:pt idx="129">3.1154000000000002</cx:pt>
          <cx:pt idx="130">3.1156999999999999</cx:pt>
          <cx:pt idx="131">3.1179999999999999</cx:pt>
          <cx:pt idx="132">3.1194999999999999</cx:pt>
          <cx:pt idx="133">3.1194999999999999</cx:pt>
          <cx:pt idx="134">3.1202999999999999</cx:pt>
          <cx:pt idx="135">3.1204000000000001</cx:pt>
          <cx:pt idx="136">3.1204999999999998</cx:pt>
          <cx:pt idx="137">3.1206999999999998</cx:pt>
          <cx:pt idx="138">3.1212</cx:pt>
          <cx:pt idx="139">3.1213000000000002</cx:pt>
          <cx:pt idx="140">3.1214</cx:pt>
          <cx:pt idx="141">3.1244999999999998</cx:pt>
          <cx:pt idx="142">3.125</cx:pt>
          <cx:pt idx="143">3.1253000000000002</cx:pt>
          <cx:pt idx="144">3.1257999999999999</cx:pt>
          <cx:pt idx="145">3.1263999999999998</cx:pt>
          <cx:pt idx="146">3.1265999999999998</cx:pt>
          <cx:pt idx="147">3.1269999999999998</cx:pt>
          <cx:pt idx="148">3.1288999999999998</cx:pt>
          <cx:pt idx="149">3.1293000000000002</cx:pt>
          <cx:pt idx="150">3.1294</cx:pt>
          <cx:pt idx="151">3.1295999999999999</cx:pt>
          <cx:pt idx="152">3.1299000000000001</cx:pt>
          <cx:pt idx="153">3.1316000000000002</cx:pt>
          <cx:pt idx="154">3.1326000000000001</cx:pt>
          <cx:pt idx="155">3.1333000000000002</cx:pt>
          <cx:pt idx="156">3.1343000000000001</cx:pt>
          <cx:pt idx="157">3.1343999999999999</cx:pt>
          <cx:pt idx="158">3.1351</cx:pt>
          <cx:pt idx="159">3.1353</cx:pt>
          <cx:pt idx="160">3.1371000000000002</cx:pt>
          <cx:pt idx="161">3.1374</cx:pt>
          <cx:pt idx="162">3.1379000000000001</cx:pt>
          <cx:pt idx="163">3.1391</cx:pt>
          <cx:pt idx="164">3.1391</cx:pt>
          <cx:pt idx="165">3.1423999999999999</cx:pt>
          <cx:pt idx="166">3.1427999999999998</cx:pt>
          <cx:pt idx="167">3.1444000000000001</cx:pt>
          <cx:pt idx="168">3.145</cx:pt>
          <cx:pt idx="169">3.1461000000000001</cx:pt>
          <cx:pt idx="170">3.1472000000000002</cx:pt>
          <cx:pt idx="171">3.1499000000000001</cx:pt>
          <cx:pt idx="172">3.1503000000000001</cx:pt>
          <cx:pt idx="173">3.1511999999999998</cx:pt>
          <cx:pt idx="174">3.1516000000000002</cx:pt>
          <cx:pt idx="175">3.1524999999999999</cx:pt>
          <cx:pt idx="176">3.1530999999999998</cx:pt>
          <cx:pt idx="177">3.1532</cx:pt>
          <cx:pt idx="178">3.1532</cx:pt>
          <cx:pt idx="179">3.1534</cx:pt>
          <cx:pt idx="180">3.1539000000000001</cx:pt>
          <cx:pt idx="181">3.1583999999999999</cx:pt>
          <cx:pt idx="182">3.1597</cx:pt>
          <cx:pt idx="183">3.1608999999999998</cx:pt>
          <cx:pt idx="184">3.161</cx:pt>
          <cx:pt idx="185">3.1610999999999998</cx:pt>
          <cx:pt idx="186">3.1638000000000002</cx:pt>
          <cx:pt idx="187">3.1640000000000001</cx:pt>
          <cx:pt idx="188">3.1640000000000001</cx:pt>
          <cx:pt idx="189">3.1665000000000001</cx:pt>
          <cx:pt idx="190">3.1669</cx:pt>
          <cx:pt idx="191">3.1674000000000002</cx:pt>
          <cx:pt idx="192">3.1678000000000002</cx:pt>
          <cx:pt idx="193">3.1688000000000001</cx:pt>
          <cx:pt idx="194">3.1696</cx:pt>
          <cx:pt idx="195">3.1806999999999999</cx:pt>
          <cx:pt idx="196">3.1829000000000001</cx:pt>
          <cx:pt idx="197">3.1831999999999998</cx:pt>
          <cx:pt idx="198">3.1840000000000002</cx:pt>
          <cx:pt idx="199">3.1911999999999998</cx:pt>
          <cx:pt idx="200">3.1922999999999999</cx:pt>
          <cx:pt idx="201">3.1958000000000002</cx:pt>
          <cx:pt idx="202">3.1966000000000001</cx:pt>
          <cx:pt idx="203">3.2014999999999998</cx:pt>
          <cx:pt idx="204">3.2023000000000001</cx:pt>
          <cx:pt idx="205">3.2044999999999999</cx:pt>
          <cx:pt idx="206">3.2052</cx:pt>
          <cx:pt idx="207">3.2061999999999999</cx:pt>
          <cx:pt idx="208">3.2079</cx:pt>
          <cx:pt idx="209">3.2141000000000002</cx:pt>
          <cx:pt idx="210">3.2174</cx:pt>
          <cx:pt idx="211">3.2189999999999999</cx:pt>
          <cx:pt idx="212">3.2252000000000001</cx:pt>
          <cx:pt idx="213">3.2267999999999999</cx:pt>
          <cx:pt idx="214">3.2269000000000001</cx:pt>
          <cx:pt idx="215">3.2277</cx:pt>
          <cx:pt idx="216">3.2277999999999998</cx:pt>
          <cx:pt idx="217">3.2305000000000001</cx:pt>
          <cx:pt idx="218">3.2305000000000001</cx:pt>
          <cx:pt idx="219">3.2328999999999999</cx:pt>
          <cx:pt idx="220">3.2334000000000001</cx:pt>
          <cx:pt idx="221">3.2341000000000002</cx:pt>
          <cx:pt idx="222">3.2349999999999999</cx:pt>
          <cx:pt idx="223">3.2408999999999999</cx:pt>
          <cx:pt idx="224">3.242</cx:pt>
          <cx:pt idx="225">3.2427999999999999</cx:pt>
          <cx:pt idx="226">3.2433999999999998</cx:pt>
          <cx:pt idx="227">3.2444000000000002</cx:pt>
          <cx:pt idx="228">3.2509999999999999</cx:pt>
          <cx:pt idx="229">3.2534999999999998</cx:pt>
          <cx:pt idx="230">3.2536999999999998</cx:pt>
          <cx:pt idx="231">3.2547000000000001</cx:pt>
          <cx:pt idx="232">3.2551999999999999</cx:pt>
          <cx:pt idx="233">3.2559</cx:pt>
          <cx:pt idx="234">3.2561</cx:pt>
          <cx:pt idx="235">3.2612000000000001</cx:pt>
          <cx:pt idx="236">3.2621000000000002</cx:pt>
          <cx:pt idx="237">3.2658</cx:pt>
          <cx:pt idx="238">3.2744</cx:pt>
          <cx:pt idx="239">3.2755999999999998</cx:pt>
          <cx:pt idx="240">3.2757000000000001</cx:pt>
          <cx:pt idx="241">3.2770000000000001</cx:pt>
          <cx:pt idx="242">3.2884000000000002</cx:pt>
          <cx:pt idx="243">3.2936999999999999</cx:pt>
          <cx:pt idx="244">3.2959000000000001</cx:pt>
          <cx:pt idx="245">3.2972999999999999</cx:pt>
          <cx:pt idx="246">3.3033000000000001</cx:pt>
          <cx:pt idx="247">3.3033999999999999</cx:pt>
          <cx:pt idx="248">3.3035000000000001</cx:pt>
          <cx:pt idx="249">3.3037000000000001</cx:pt>
          <cx:pt idx="250">3.3066</cx:pt>
          <cx:pt idx="251">3.3067000000000002</cx:pt>
          <cx:pt idx="252">3.3199000000000001</cx:pt>
          <cx:pt idx="253">3.3208000000000002</cx:pt>
          <cx:pt idx="254">3.3222</cx:pt>
          <cx:pt idx="255">3.3241999999999998</cx:pt>
          <cx:pt idx="256">3.3289</cx:pt>
          <cx:pt idx="257">3.3319999999999999</cx:pt>
          <cx:pt idx="258">3.3331</cx:pt>
          <cx:pt idx="259">3.3353999999999999</cx:pt>
          <cx:pt idx="260">3.3407</cx:pt>
          <cx:pt idx="261">3.3416000000000001</cx:pt>
          <cx:pt idx="262">3.3538999999999999</cx:pt>
          <cx:pt idx="263">3.3549000000000002</cx:pt>
          <cx:pt idx="264">3.3902999999999999</cx:pt>
          <cx:pt idx="265">3.3959999999999999</cx:pt>
          <cx:pt idx="266">3.4020999999999999</cx:pt>
          <cx:pt idx="267">3.4047000000000001</cx:pt>
          <cx:pt idx="268">3.4085000000000001</cx:pt>
          <cx:pt idx="269">3.4098000000000002</cx:pt>
          <cx:pt idx="270">3.4115000000000002</cx:pt>
          <cx:pt idx="271">3.4237000000000002</cx:pt>
          <cx:pt idx="272">3.4278</cx:pt>
          <cx:pt idx="273">3.4285000000000001</cx:pt>
          <cx:pt idx="274">3.4317000000000002</cx:pt>
          <cx:pt idx="275">3.4323000000000001</cx:pt>
          <cx:pt idx="276">3.4344999999999999</cx:pt>
          <cx:pt idx="277">3.4485000000000001</cx:pt>
          <cx:pt idx="278">3.4540999999999999</cx:pt>
          <cx:pt idx="279">3.4575</cx:pt>
          <cx:pt idx="280">3.4592999999999998</cx:pt>
          <cx:pt idx="281">3.4849000000000001</cx:pt>
          <cx:pt idx="282">3.5423</cx:pt>
          <cx:pt idx="283">3.5533000000000001</cx:pt>
          <cx:pt idx="284">3.5905999999999998</cx:pt>
          <cx:pt idx="285">3.6059999999999999</cx:pt>
          <cx:pt idx="286">3.6208999999999998</cx:pt>
          <cx:pt idx="287">3.6442999999999999</cx:pt>
          <cx:pt idx="288">3.6793</cx:pt>
          <cx:pt idx="289">3.7151000000000001</cx:pt>
          <cx:pt idx="290">3.7252999999999998</cx:pt>
          <cx:pt idx="291">3.8146</cx:pt>
          <cx:pt idx="292">3.9359000000000002</cx:pt>
          <cx:pt idx="293">3.9847999999999999</cx:pt>
          <cx:pt idx="294">4.0827</cx:pt>
          <cx:pt idx="295">4.7316000000000003</cx:pt>
          <cx:pt idx="296">4.9245999999999999</cx:pt>
          <cx:pt idx="297">4.9641999999999999</cx:pt>
          <cx:pt idx="298">5.2521000000000004</cx:pt>
          <cx:pt idx="299">5.6726999999999999</cx:pt>
          <cx:pt idx="300">5.7000000000000002</cx:pt>
        </cx:lvl>
      </cx:numDim>
    </cx:data>
  </cx:chartData>
  <cx:chart>
    <cx:title pos="t" align="ctr" overlay="0">
      <cx:tx>
        <cx:txData>
          <cx:v>std::thread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std::thread</a:t>
          </a:r>
        </a:p>
      </cx:txPr>
    </cx:title>
    <cx:plotArea>
      <cx:plotAreaRegion>
        <cx:series layoutId="clusteredColumn" uniqueId="{00000000-4F1F-4B9D-9DCE-CB5C0657759D}">
          <cx:tx>
            <cx:txData>
              <cx:f>Raw!$F$1</cx:f>
              <cx:v>latency_nbody_mt_std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8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Raw!$G$2:$G$302</cx:f>
        <cx:lvl ptCount="301" formatCode="General">
          <cx:pt idx="0">2.6314000000000002</cx:pt>
          <cx:pt idx="1">2.6320000000000001</cx:pt>
          <cx:pt idx="2">2.6345000000000001</cx:pt>
          <cx:pt idx="3">2.6421000000000001</cx:pt>
          <cx:pt idx="4">2.6435</cx:pt>
          <cx:pt idx="5">2.6456</cx:pt>
          <cx:pt idx="6">2.6465000000000001</cx:pt>
          <cx:pt idx="7">2.6469</cx:pt>
          <cx:pt idx="8">2.6475</cx:pt>
          <cx:pt idx="9">2.6476999999999999</cx:pt>
          <cx:pt idx="10">2.6486999999999998</cx:pt>
          <cx:pt idx="11">2.6493000000000002</cx:pt>
          <cx:pt idx="12">2.6501999999999999</cx:pt>
          <cx:pt idx="13">2.6501999999999999</cx:pt>
          <cx:pt idx="14">2.6501999999999999</cx:pt>
          <cx:pt idx="15">2.6501999999999999</cx:pt>
          <cx:pt idx="16">2.6503000000000001</cx:pt>
          <cx:pt idx="17">2.6503000000000001</cx:pt>
          <cx:pt idx="18">2.6509</cx:pt>
          <cx:pt idx="19">2.6511999999999998</cx:pt>
          <cx:pt idx="20">2.6514000000000002</cx:pt>
          <cx:pt idx="21">2.6518999999999999</cx:pt>
          <cx:pt idx="22">2.6522000000000001</cx:pt>
          <cx:pt idx="23">2.6524000000000001</cx:pt>
          <cx:pt idx="24">2.6526999999999998</cx:pt>
          <cx:pt idx="25">2.6528</cx:pt>
          <cx:pt idx="26">2.6528999999999998</cx:pt>
          <cx:pt idx="27">2.6532</cx:pt>
          <cx:pt idx="28">2.6533000000000002</cx:pt>
          <cx:pt idx="29">2.6536</cx:pt>
          <cx:pt idx="30">2.6541000000000001</cx:pt>
          <cx:pt idx="31">2.6545000000000001</cx:pt>
          <cx:pt idx="32">2.6545999999999998</cx:pt>
          <cx:pt idx="33">2.6553</cx:pt>
          <cx:pt idx="34">2.6556000000000002</cx:pt>
          <cx:pt idx="35">2.6560999999999999</cx:pt>
          <cx:pt idx="36">2.6572</cx:pt>
          <cx:pt idx="37">2.6574</cx:pt>
          <cx:pt idx="38">2.6577000000000002</cx:pt>
          <cx:pt idx="39">2.6587999999999998</cx:pt>
          <cx:pt idx="40">2.6587999999999998</cx:pt>
          <cx:pt idx="41">2.6600999999999999</cx:pt>
          <cx:pt idx="42">2.6604999999999999</cx:pt>
          <cx:pt idx="43">2.6604999999999999</cx:pt>
          <cx:pt idx="44">2.6608999999999998</cx:pt>
          <cx:pt idx="45">2.6614</cx:pt>
          <cx:pt idx="46">2.6629999999999998</cx:pt>
          <cx:pt idx="47">2.6631</cx:pt>
          <cx:pt idx="48">2.6631</cx:pt>
          <cx:pt idx="49">2.6640000000000001</cx:pt>
          <cx:pt idx="50">2.6642999999999999</cx:pt>
          <cx:pt idx="51">2.6650999999999998</cx:pt>
          <cx:pt idx="52">2.6652</cx:pt>
          <cx:pt idx="53">2.6657999999999999</cx:pt>
          <cx:pt idx="54">2.6659999999999999</cx:pt>
          <cx:pt idx="55">2.6667000000000001</cx:pt>
          <cx:pt idx="56">2.6669</cx:pt>
          <cx:pt idx="57">2.6671999999999998</cx:pt>
          <cx:pt idx="58">2.6684000000000001</cx:pt>
          <cx:pt idx="59">2.6686999999999999</cx:pt>
          <cx:pt idx="60">2.6697000000000002</cx:pt>
          <cx:pt idx="61">2.6703000000000001</cx:pt>
          <cx:pt idx="62">2.6705999999999999</cx:pt>
          <cx:pt idx="63">2.6707999999999998</cx:pt>
          <cx:pt idx="64">2.6709999999999998</cx:pt>
          <cx:pt idx="65">2.6715</cx:pt>
          <cx:pt idx="66">2.6718000000000002</cx:pt>
          <cx:pt idx="67">2.6718999999999999</cx:pt>
          <cx:pt idx="68">2.6720000000000002</cx:pt>
          <cx:pt idx="69">2.6726999999999999</cx:pt>
          <cx:pt idx="70">2.6726999999999999</cx:pt>
          <cx:pt idx="71">2.6728000000000001</cx:pt>
          <cx:pt idx="72">2.6735000000000002</cx:pt>
          <cx:pt idx="73">2.6737000000000002</cx:pt>
          <cx:pt idx="74">2.6739999999999999</cx:pt>
          <cx:pt idx="75">2.6747000000000001</cx:pt>
          <cx:pt idx="76">2.6747999999999998</cx:pt>
          <cx:pt idx="77">2.6751</cx:pt>
          <cx:pt idx="78">2.6751999999999998</cx:pt>
          <cx:pt idx="79">2.6756000000000002</cx:pt>
          <cx:pt idx="80">2.6760999999999999</cx:pt>
          <cx:pt idx="81">2.6766000000000001</cx:pt>
          <cx:pt idx="82">2.6766999999999999</cx:pt>
          <cx:pt idx="83">2.6768999999999998</cx:pt>
          <cx:pt idx="84">2.6770999999999998</cx:pt>
          <cx:pt idx="85">2.6775000000000002</cx:pt>
          <cx:pt idx="86">2.6776</cx:pt>
          <cx:pt idx="87">2.6783999999999999</cx:pt>
          <cx:pt idx="88">2.6787999999999998</cx:pt>
          <cx:pt idx="89">2.6787999999999998</cx:pt>
          <cx:pt idx="90">2.6789000000000001</cx:pt>
          <cx:pt idx="91">2.6796000000000002</cx:pt>
          <cx:pt idx="92">2.6800000000000002</cx:pt>
          <cx:pt idx="93">2.6800999999999999</cx:pt>
          <cx:pt idx="94">2.6804000000000001</cx:pt>
          <cx:pt idx="95">2.6812</cx:pt>
          <cx:pt idx="96">2.6812</cx:pt>
          <cx:pt idx="97">2.6812999999999998</cx:pt>
          <cx:pt idx="98">2.6818</cx:pt>
          <cx:pt idx="99">2.6819000000000002</cx:pt>
          <cx:pt idx="100">2.6821999999999999</cx:pt>
          <cx:pt idx="101">2.6825000000000001</cx:pt>
          <cx:pt idx="102">2.6827000000000001</cx:pt>
          <cx:pt idx="103">2.6827999999999999</cx:pt>
          <cx:pt idx="104">2.6831999999999998</cx:pt>
          <cx:pt idx="105">2.6833</cx:pt>
          <cx:pt idx="106">2.6835</cx:pt>
          <cx:pt idx="107">2.6837</cx:pt>
          <cx:pt idx="108">2.6840000000000002</cx:pt>
          <cx:pt idx="109">2.6854</cx:pt>
          <cx:pt idx="110">2.6854</cx:pt>
          <cx:pt idx="111">2.6859999999999999</cx:pt>
          <cx:pt idx="112">2.6871</cx:pt>
          <cx:pt idx="113">2.6875</cx:pt>
          <cx:pt idx="114">2.6879</cx:pt>
          <cx:pt idx="115">2.6897000000000002</cx:pt>
          <cx:pt idx="116">2.6899000000000002</cx:pt>
          <cx:pt idx="117">2.6901000000000002</cx:pt>
          <cx:pt idx="118">2.6901000000000002</cx:pt>
          <cx:pt idx="119">2.6903999999999999</cx:pt>
          <cx:pt idx="120">2.6903999999999999</cx:pt>
          <cx:pt idx="121">2.6905000000000001</cx:pt>
          <cx:pt idx="122">2.6905000000000001</cx:pt>
          <cx:pt idx="123">2.6905999999999999</cx:pt>
          <cx:pt idx="124">2.6909999999999998</cx:pt>
          <cx:pt idx="125">2.6913</cx:pt>
          <cx:pt idx="126">2.6913999999999998</cx:pt>
          <cx:pt idx="127">2.6917</cx:pt>
          <cx:pt idx="128">2.6926000000000001</cx:pt>
          <cx:pt idx="129">2.6930999999999998</cx:pt>
          <cx:pt idx="130">2.6932999999999998</cx:pt>
          <cx:pt idx="131">2.6938</cx:pt>
          <cx:pt idx="132">2.6939000000000002</cx:pt>
          <cx:pt idx="133">2.6943000000000001</cx:pt>
          <cx:pt idx="134">2.6945000000000001</cx:pt>
          <cx:pt idx="135">2.6947999999999999</cx:pt>
          <cx:pt idx="136">2.6949000000000001</cx:pt>
          <cx:pt idx="137">2.6951999999999998</cx:pt>
          <cx:pt idx="138">2.6951999999999998</cx:pt>
          <cx:pt idx="139">2.6960999999999999</cx:pt>
          <cx:pt idx="140">2.6968000000000001</cx:pt>
          <cx:pt idx="141">2.6976</cx:pt>
          <cx:pt idx="142">2.6979000000000002</cx:pt>
          <cx:pt idx="143">2.6993</cx:pt>
          <cx:pt idx="144">2.6997</cx:pt>
          <cx:pt idx="145">2.7002999999999999</cx:pt>
          <cx:pt idx="146">2.7012</cx:pt>
          <cx:pt idx="147">2.7018</cx:pt>
          <cx:pt idx="148">2.7027000000000001</cx:pt>
          <cx:pt idx="149">2.7027999999999999</cx:pt>
          <cx:pt idx="150">2.7029999999999998</cx:pt>
          <cx:pt idx="151">2.7039</cx:pt>
          <cx:pt idx="152">2.7040999999999999</cx:pt>
          <cx:pt idx="153">2.7050999999999998</cx:pt>
          <cx:pt idx="154">2.7050999999999998</cx:pt>
          <cx:pt idx="155">2.7052999999999998</cx:pt>
          <cx:pt idx="156">2.7059000000000002</cx:pt>
          <cx:pt idx="157">2.7065000000000001</cx:pt>
          <cx:pt idx="158">2.7067000000000001</cx:pt>
          <cx:pt idx="159">2.7071000000000001</cx:pt>
          <cx:pt idx="160">2.7071999999999998</cx:pt>
          <cx:pt idx="161">2.7071999999999998</cx:pt>
          <cx:pt idx="162">2.7075999999999998</cx:pt>
          <cx:pt idx="163">2.7079</cx:pt>
          <cx:pt idx="164">2.7086999999999999</cx:pt>
          <cx:pt idx="165">2.7090000000000001</cx:pt>
          <cx:pt idx="166">2.7092000000000001</cx:pt>
          <cx:pt idx="167">2.7094</cx:pt>
          <cx:pt idx="168">2.71</cx:pt>
          <cx:pt idx="169">2.7103999999999999</cx:pt>
          <cx:pt idx="170">2.7109000000000001</cx:pt>
          <cx:pt idx="171">2.7115</cx:pt>
          <cx:pt idx="172">2.7115</cx:pt>
          <cx:pt idx="173">2.7117</cx:pt>
          <cx:pt idx="174">2.7126999999999999</cx:pt>
          <cx:pt idx="175">2.7128999999999999</cx:pt>
          <cx:pt idx="176">2.7130999999999998</cx:pt>
          <cx:pt idx="177">2.7134999999999998</cx:pt>
          <cx:pt idx="178">2.7136</cx:pt>
          <cx:pt idx="179">2.7136</cx:pt>
          <cx:pt idx="180">2.7141999999999999</cx:pt>
          <cx:pt idx="181">2.7143000000000002</cx:pt>
          <cx:pt idx="182">2.7147000000000001</cx:pt>
          <cx:pt idx="183">2.7149000000000001</cx:pt>
          <cx:pt idx="184">2.7151999999999998</cx:pt>
          <cx:pt idx="185">2.7151999999999998</cx:pt>
          <cx:pt idx="186">2.7151999999999998</cx:pt>
          <cx:pt idx="187">2.7153999999999998</cx:pt>
          <cx:pt idx="188">2.7153999999999998</cx:pt>
          <cx:pt idx="189">2.7155999999999998</cx:pt>
          <cx:pt idx="190">2.7155999999999998</cx:pt>
          <cx:pt idx="191">2.7159</cx:pt>
          <cx:pt idx="192">2.7160000000000002</cx:pt>
          <cx:pt idx="193">2.7161</cx:pt>
          <cx:pt idx="194">2.7170000000000001</cx:pt>
          <cx:pt idx="195">2.7189999999999999</cx:pt>
          <cx:pt idx="196">2.7191999999999998</cx:pt>
          <cx:pt idx="197">2.7198000000000002</cx:pt>
          <cx:pt idx="198">2.7200000000000002</cx:pt>
          <cx:pt idx="199">2.7210000000000001</cx:pt>
          <cx:pt idx="200">2.7210999999999999</cx:pt>
          <cx:pt idx="201">2.7214</cx:pt>
          <cx:pt idx="202">2.7216</cx:pt>
          <cx:pt idx="203">2.7216999999999998</cx:pt>
          <cx:pt idx="204">2.7218</cx:pt>
          <cx:pt idx="205">2.7222</cx:pt>
          <cx:pt idx="206">2.7229000000000001</cx:pt>
          <cx:pt idx="207">2.7240000000000002</cx:pt>
          <cx:pt idx="208">2.7242000000000002</cx:pt>
          <cx:pt idx="209">2.7252000000000001</cx:pt>
          <cx:pt idx="210">2.7254999999999998</cx:pt>
          <cx:pt idx="211">2.7256999999999998</cx:pt>
          <cx:pt idx="212">2.7263000000000002</cx:pt>
          <cx:pt idx="213">2.7267999999999999</cx:pt>
          <cx:pt idx="214">2.7269999999999999</cx:pt>
          <cx:pt idx="215">2.7271000000000001</cx:pt>
          <cx:pt idx="216">2.7273000000000001</cx:pt>
          <cx:pt idx="217">2.7273000000000001</cx:pt>
          <cx:pt idx="218">2.7273999999999998</cx:pt>
          <cx:pt idx="219">2.7277</cx:pt>
          <cx:pt idx="220">2.7282000000000002</cx:pt>
          <cx:pt idx="221">2.7282000000000002</cx:pt>
          <cx:pt idx="222">2.7294999999999998</cx:pt>
          <cx:pt idx="223">2.7303000000000002</cx:pt>
          <cx:pt idx="224">2.7305000000000001</cx:pt>
          <cx:pt idx="225">2.7307999999999999</cx:pt>
          <cx:pt idx="226">2.7311000000000001</cx:pt>
          <cx:pt idx="227">2.7317999999999998</cx:pt>
          <cx:pt idx="228">2.7321</cx:pt>
          <cx:pt idx="229">2.7326000000000001</cx:pt>
          <cx:pt idx="230">2.7330000000000001</cx:pt>
          <cx:pt idx="231">2.7334000000000001</cx:pt>
          <cx:pt idx="232">2.7341000000000002</cx:pt>
          <cx:pt idx="233">2.7347000000000001</cx:pt>
          <cx:pt idx="234">2.7357</cx:pt>
          <cx:pt idx="235">2.7361</cx:pt>
          <cx:pt idx="236">2.7372999999999998</cx:pt>
          <cx:pt idx="237">2.7400000000000002</cx:pt>
          <cx:pt idx="238">2.7410000000000001</cx:pt>
          <cx:pt idx="239">2.7416999999999998</cx:pt>
          <cx:pt idx="240">2.7435999999999998</cx:pt>
          <cx:pt idx="241">2.7477999999999998</cx:pt>
          <cx:pt idx="242">2.7483</cx:pt>
          <cx:pt idx="243">2.7483</cx:pt>
          <cx:pt idx="244">2.7494999999999998</cx:pt>
          <cx:pt idx="245">2.7509999999999999</cx:pt>
          <cx:pt idx="246">2.7511999999999999</cx:pt>
          <cx:pt idx="247">2.7528000000000001</cx:pt>
          <cx:pt idx="248">2.7542</cx:pt>
          <cx:pt idx="249">2.7574999999999998</cx:pt>
          <cx:pt idx="250">2.7585999999999999</cx:pt>
          <cx:pt idx="251">2.7601</cx:pt>
          <cx:pt idx="252">2.7616999999999998</cx:pt>
          <cx:pt idx="253">2.7621000000000002</cx:pt>
          <cx:pt idx="254">2.7623000000000002</cx:pt>
          <cx:pt idx="255">2.7629000000000001</cx:pt>
          <cx:pt idx="256">2.7721</cx:pt>
          <cx:pt idx="257">2.7724000000000002</cx:pt>
          <cx:pt idx="258">2.7755999999999998</cx:pt>
          <cx:pt idx="259">2.7791000000000001</cx:pt>
          <cx:pt idx="260">2.7833000000000001</cx:pt>
          <cx:pt idx="261">2.7854999999999999</cx:pt>
          <cx:pt idx="262">2.7917999999999998</cx:pt>
          <cx:pt idx="263">2.7923</cx:pt>
          <cx:pt idx="264">2.7928999999999999</cx:pt>
          <cx:pt idx="265">2.7936000000000001</cx:pt>
          <cx:pt idx="266">2.7978999999999998</cx:pt>
          <cx:pt idx="267">2.8016999999999999</cx:pt>
          <cx:pt idx="268">2.8018999999999998</cx:pt>
          <cx:pt idx="269">2.8068</cx:pt>
          <cx:pt idx="270">2.8089</cx:pt>
          <cx:pt idx="271">2.8128000000000002</cx:pt>
          <cx:pt idx="272">2.8169</cx:pt>
          <cx:pt idx="273">2.8197999999999999</cx:pt>
          <cx:pt idx="274">2.8212000000000002</cx:pt>
          <cx:pt idx="275">2.8266</cx:pt>
          <cx:pt idx="276">2.8266</cx:pt>
          <cx:pt idx="277">2.8298999999999999</cx:pt>
          <cx:pt idx="278">2.8313999999999999</cx:pt>
          <cx:pt idx="279">2.8393000000000002</cx:pt>
          <cx:pt idx="280">2.8395000000000001</cx:pt>
          <cx:pt idx="281">2.8595000000000002</cx:pt>
          <cx:pt idx="282">2.8635999999999999</cx:pt>
          <cx:pt idx="283">2.8693</cx:pt>
          <cx:pt idx="284">2.8784000000000001</cx:pt>
          <cx:pt idx="285">2.8797999999999999</cx:pt>
          <cx:pt idx="286">2.8820999999999999</cx:pt>
          <cx:pt idx="287">2.8860999999999999</cx:pt>
          <cx:pt idx="288">2.8927999999999998</cx:pt>
          <cx:pt idx="289">2.8982999999999999</cx:pt>
          <cx:pt idx="290">2.9287000000000001</cx:pt>
          <cx:pt idx="291">2.9369000000000001</cx:pt>
          <cx:pt idx="292">2.9403999999999999</cx:pt>
          <cx:pt idx="293">2.9468000000000001</cx:pt>
          <cx:pt idx="294">2.9615</cx:pt>
          <cx:pt idx="295">2.9716999999999998</cx:pt>
          <cx:pt idx="296">2.9828999999999999</cx:pt>
          <cx:pt idx="297">2.9994999999999998</cx:pt>
          <cx:pt idx="298">3.0289999999999999</cx:pt>
          <cx:pt idx="299">4.7394999999999996</cx:pt>
          <cx:pt idx="300">5.7000000000000002</cx:pt>
        </cx:lvl>
      </cx:numDim>
    </cx:data>
  </cx:chartData>
  <cx:chart>
    <cx:title pos="t" align="ctr" overlay="0">
      <cx:tx>
        <cx:txData>
          <cx:v>std::thread pooling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std::thread pooling</a:t>
          </a:r>
        </a:p>
      </cx:txPr>
    </cx:title>
    <cx:plotArea>
      <cx:plotAreaRegion>
        <cx:series layoutId="clusteredColumn" uniqueId="{00000000-A21B-4B2D-AEBE-05E9835A88EF}">
          <cx:tx>
            <cx:txData>
              <cx:f>Raw!$G$1</cx:f>
              <cx:v>latency_nbody_mt_stdpool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hartEx9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Raw!$H$2:$H$302</cx:f>
        <cx:lvl ptCount="301" formatCode="General">
          <cx:pt idx="0">2.6128999999999998</cx:pt>
          <cx:pt idx="1">2.6368</cx:pt>
          <cx:pt idx="2">2.6375999999999999</cx:pt>
          <cx:pt idx="3">2.6379000000000001</cx:pt>
          <cx:pt idx="4">2.6381999999999999</cx:pt>
          <cx:pt idx="5">2.6413000000000002</cx:pt>
          <cx:pt idx="6">2.6415000000000002</cx:pt>
          <cx:pt idx="7">2.6415000000000002</cx:pt>
          <cx:pt idx="8">2.6417999999999999</cx:pt>
          <cx:pt idx="9">2.6421999999999999</cx:pt>
          <cx:pt idx="10">2.6425000000000001</cx:pt>
          <cx:pt idx="11">2.6425999999999998</cx:pt>
          <cx:pt idx="12">2.6427</cx:pt>
          <cx:pt idx="13">2.6427</cx:pt>
          <cx:pt idx="14">2.6427999999999998</cx:pt>
          <cx:pt idx="15">2.6429999999999998</cx:pt>
          <cx:pt idx="16">2.6429999999999998</cx:pt>
          <cx:pt idx="17">2.6433</cx:pt>
          <cx:pt idx="18">2.6435</cx:pt>
          <cx:pt idx="19">2.6436000000000002</cx:pt>
          <cx:pt idx="20">2.6436999999999999</cx:pt>
          <cx:pt idx="21">2.6438999999999999</cx:pt>
          <cx:pt idx="22">2.6440000000000001</cx:pt>
          <cx:pt idx="23">2.6442000000000001</cx:pt>
          <cx:pt idx="24">2.6444000000000001</cx:pt>
          <cx:pt idx="25">2.6444000000000001</cx:pt>
          <cx:pt idx="26">2.6444999999999999</cx:pt>
          <cx:pt idx="27">2.6446999999999998</cx:pt>
          <cx:pt idx="28">2.6448</cx:pt>
          <cx:pt idx="29">2.6448999999999998</cx:pt>
          <cx:pt idx="30">2.645</cx:pt>
          <cx:pt idx="31">2.6453000000000002</cx:pt>
          <cx:pt idx="32">2.6453000000000002</cx:pt>
          <cx:pt idx="33">2.6454</cx:pt>
          <cx:pt idx="34">2.6455000000000002</cx:pt>
          <cx:pt idx="35">2.6455000000000002</cx:pt>
          <cx:pt idx="36">2.6456</cx:pt>
          <cx:pt idx="37">2.6456</cx:pt>
          <cx:pt idx="38">2.6456</cx:pt>
          <cx:pt idx="39">2.6457999999999999</cx:pt>
          <cx:pt idx="40">2.6457999999999999</cx:pt>
          <cx:pt idx="41">2.6459999999999999</cx:pt>
          <cx:pt idx="42">2.6461000000000001</cx:pt>
          <cx:pt idx="43">2.6461000000000001</cx:pt>
          <cx:pt idx="44">2.6465000000000001</cx:pt>
          <cx:pt idx="45">2.6465000000000001</cx:pt>
          <cx:pt idx="46">2.6465999999999998</cx:pt>
          <cx:pt idx="47">2.6465999999999998</cx:pt>
          <cx:pt idx="48">2.6465999999999998</cx:pt>
          <cx:pt idx="49">2.6465999999999998</cx:pt>
          <cx:pt idx="50">2.6467000000000001</cx:pt>
          <cx:pt idx="51">2.6469</cx:pt>
          <cx:pt idx="52">2.6469999999999998</cx:pt>
          <cx:pt idx="53">2.6473</cx:pt>
          <cx:pt idx="54">2.6473</cx:pt>
          <cx:pt idx="55">2.6474000000000002</cx:pt>
          <cx:pt idx="56">2.6475</cx:pt>
          <cx:pt idx="57">2.6480000000000001</cx:pt>
          <cx:pt idx="58">2.6482000000000001</cx:pt>
          <cx:pt idx="59">2.6482999999999999</cx:pt>
          <cx:pt idx="60">2.6484999999999999</cx:pt>
          <cx:pt idx="61">2.6486000000000001</cx:pt>
          <cx:pt idx="62">2.6488</cx:pt>
          <cx:pt idx="63">2.6488999999999998</cx:pt>
          <cx:pt idx="64">2.6494</cx:pt>
          <cx:pt idx="65">2.6494</cx:pt>
          <cx:pt idx="66">2.6494</cx:pt>
          <cx:pt idx="67">2.6497999999999999</cx:pt>
          <cx:pt idx="68">2.6499000000000001</cx:pt>
          <cx:pt idx="69">2.6499999999999999</cx:pt>
          <cx:pt idx="70">2.6501999999999999</cx:pt>
          <cx:pt idx="71">2.6507999999999998</cx:pt>
          <cx:pt idx="72">2.6509</cx:pt>
          <cx:pt idx="73">2.6509</cx:pt>
          <cx:pt idx="74">2.6511</cx:pt>
          <cx:pt idx="75">2.6514000000000002</cx:pt>
          <cx:pt idx="76">2.6516000000000002</cx:pt>
          <cx:pt idx="77">2.6518000000000002</cx:pt>
          <cx:pt idx="78">2.6518000000000002</cx:pt>
          <cx:pt idx="79">2.6520000000000001</cx:pt>
          <cx:pt idx="80">2.6526999999999998</cx:pt>
          <cx:pt idx="81">2.6528</cx:pt>
          <cx:pt idx="82">2.6528999999999998</cx:pt>
          <cx:pt idx="83">2.6528999999999998</cx:pt>
          <cx:pt idx="84">2.6530999999999998</cx:pt>
          <cx:pt idx="85">2.6535000000000002</cx:pt>
          <cx:pt idx="86">2.6536</cx:pt>
          <cx:pt idx="87">2.6536</cx:pt>
          <cx:pt idx="88">2.6536</cx:pt>
          <cx:pt idx="89">2.6541000000000001</cx:pt>
          <cx:pt idx="90">2.6541999999999999</cx:pt>
          <cx:pt idx="91">2.6543000000000001</cx:pt>
          <cx:pt idx="92">2.6547000000000001</cx:pt>
          <cx:pt idx="93">2.6547999999999998</cx:pt>
          <cx:pt idx="94">2.6551999999999998</cx:pt>
          <cx:pt idx="95">2.6556000000000002</cx:pt>
          <cx:pt idx="96">2.6556999999999999</cx:pt>
          <cx:pt idx="97">2.6558000000000002</cx:pt>
          <cx:pt idx="98">2.6560000000000001</cx:pt>
          <cx:pt idx="99">2.6562000000000001</cx:pt>
          <cx:pt idx="100">2.6566999999999998</cx:pt>
          <cx:pt idx="101">2.6570999999999998</cx:pt>
          <cx:pt idx="102">2.6570999999999998</cx:pt>
          <cx:pt idx="103">2.6570999999999998</cx:pt>
          <cx:pt idx="104">2.6577000000000002</cx:pt>
          <cx:pt idx="105">2.6577999999999999</cx:pt>
          <cx:pt idx="106">2.6577999999999999</cx:pt>
          <cx:pt idx="107">2.6579999999999999</cx:pt>
          <cx:pt idx="108">2.6583000000000001</cx:pt>
          <cx:pt idx="109">2.6589</cx:pt>
          <cx:pt idx="110">2.6589999999999998</cx:pt>
          <cx:pt idx="111">2.6593</cx:pt>
          <cx:pt idx="112">2.6593</cx:pt>
          <cx:pt idx="113">2.6595</cx:pt>
          <cx:pt idx="114">2.6595</cx:pt>
          <cx:pt idx="115">2.6596000000000002</cx:pt>
          <cx:pt idx="116">2.6598000000000002</cx:pt>
          <cx:pt idx="117">2.6602999999999999</cx:pt>
          <cx:pt idx="118">2.6602999999999999</cx:pt>
          <cx:pt idx="119">2.6604999999999999</cx:pt>
          <cx:pt idx="120">2.661</cx:pt>
          <cx:pt idx="121">2.6613000000000002</cx:pt>
          <cx:pt idx="122">2.6613000000000002</cx:pt>
          <cx:pt idx="123">2.6613000000000002</cx:pt>
          <cx:pt idx="124">2.6614</cx:pt>
          <cx:pt idx="125">2.6621999999999999</cx:pt>
          <cx:pt idx="126">2.6623000000000001</cx:pt>
          <cx:pt idx="127">2.6623000000000001</cx:pt>
          <cx:pt idx="128">2.6623999999999999</cx:pt>
          <cx:pt idx="129">2.6629999999999998</cx:pt>
          <cx:pt idx="130">2.6633</cx:pt>
          <cx:pt idx="131">2.6640999999999999</cx:pt>
          <cx:pt idx="132">2.6642999999999999</cx:pt>
          <cx:pt idx="133">2.6648999999999998</cx:pt>
          <cx:pt idx="134">2.665</cx:pt>
          <cx:pt idx="135">2.6650999999999998</cx:pt>
          <cx:pt idx="136">2.6654</cx:pt>
          <cx:pt idx="137">2.6657000000000002</cx:pt>
          <cx:pt idx="138">2.6661000000000001</cx:pt>
          <cx:pt idx="139">2.6663000000000001</cx:pt>
          <cx:pt idx="140">2.6665000000000001</cx:pt>
          <cx:pt idx="141">2.6665000000000001</cx:pt>
          <cx:pt idx="142">2.6676000000000002</cx:pt>
          <cx:pt idx="143">2.6676000000000002</cx:pt>
          <cx:pt idx="144">2.6677</cx:pt>
          <cx:pt idx="145">2.6677</cx:pt>
          <cx:pt idx="146">2.6678999999999999</cx:pt>
          <cx:pt idx="147">2.6678999999999999</cx:pt>
          <cx:pt idx="148">2.6682000000000001</cx:pt>
          <cx:pt idx="149">2.669</cx:pt>
          <cx:pt idx="150">2.669</cx:pt>
          <cx:pt idx="151">2.6690999999999998</cx:pt>
          <cx:pt idx="152">2.6692999999999998</cx:pt>
          <cx:pt idx="153">2.6692999999999998</cx:pt>
          <cx:pt idx="154">2.6694</cx:pt>
          <cx:pt idx="155">2.6707999999999998</cx:pt>
          <cx:pt idx="156">2.6709000000000001</cx:pt>
          <cx:pt idx="157">2.6715</cx:pt>
          <cx:pt idx="158">2.6715</cx:pt>
          <cx:pt idx="159">2.6716000000000002</cx:pt>
          <cx:pt idx="160">2.6718000000000002</cx:pt>
          <cx:pt idx="161">2.6722000000000001</cx:pt>
          <cx:pt idx="162">2.6722999999999999</cx:pt>
          <cx:pt idx="163">2.6728000000000001</cx:pt>
          <cx:pt idx="164">2.6730999999999998</cx:pt>
          <cx:pt idx="165">2.6732</cx:pt>
          <cx:pt idx="166">2.6739999999999999</cx:pt>
          <cx:pt idx="167">2.6743999999999999</cx:pt>
          <cx:pt idx="168">2.6745000000000001</cx:pt>
          <cx:pt idx="169">2.6747000000000001</cx:pt>
          <cx:pt idx="170">2.6749999999999998</cx:pt>
          <cx:pt idx="171">2.6749999999999998</cx:pt>
          <cx:pt idx="172">2.6755</cx:pt>
          <cx:pt idx="173">2.6760000000000002</cx:pt>
          <cx:pt idx="174">2.6760999999999999</cx:pt>
          <cx:pt idx="175">2.6762000000000001</cx:pt>
          <cx:pt idx="176">2.6764999999999999</cx:pt>
          <cx:pt idx="177">2.6777000000000002</cx:pt>
          <cx:pt idx="178">2.6796000000000002</cx:pt>
          <cx:pt idx="179">2.6800000000000002</cx:pt>
          <cx:pt idx="180">2.6800999999999999</cx:pt>
          <cx:pt idx="181">2.6806999999999999</cx:pt>
          <cx:pt idx="182">2.6814</cx:pt>
          <cx:pt idx="183">2.6825000000000001</cx:pt>
          <cx:pt idx="184">2.6827000000000001</cx:pt>
          <cx:pt idx="185">2.6827000000000001</cx:pt>
          <cx:pt idx="186">2.6829000000000001</cx:pt>
          <cx:pt idx="187">2.6842999999999999</cx:pt>
          <cx:pt idx="188">2.6842999999999999</cx:pt>
          <cx:pt idx="189">2.6848999999999998</cx:pt>
          <cx:pt idx="190">2.6852999999999998</cx:pt>
          <cx:pt idx="191">2.6858</cx:pt>
          <cx:pt idx="192">2.6863999999999999</cx:pt>
          <cx:pt idx="193">2.6865999999999999</cx:pt>
          <cx:pt idx="194">2.6867000000000001</cx:pt>
          <cx:pt idx="195">2.6886000000000001</cx:pt>
          <cx:pt idx="196">2.6890000000000001</cx:pt>
          <cx:pt idx="197">2.6894</cx:pt>
          <cx:pt idx="198">2.6894999999999998</cx:pt>
          <cx:pt idx="199">2.6905999999999999</cx:pt>
          <cx:pt idx="200">2.6913</cx:pt>
          <cx:pt idx="201">2.6918000000000002</cx:pt>
          <cx:pt idx="202">2.6924999999999999</cx:pt>
          <cx:pt idx="203">2.6930000000000001</cx:pt>
          <cx:pt idx="204">2.6937000000000002</cx:pt>
          <cx:pt idx="205">2.694</cx:pt>
          <cx:pt idx="206">2.6943000000000001</cx:pt>
          <cx:pt idx="207">2.6943000000000001</cx:pt>
          <cx:pt idx="208">2.6951999999999998</cx:pt>
          <cx:pt idx="209">2.6955</cx:pt>
          <cx:pt idx="210">2.6964000000000001</cx:pt>
          <cx:pt idx="211">2.6972999999999998</cx:pt>
          <cx:pt idx="212">2.698</cx:pt>
          <cx:pt idx="213">2.6981999999999999</cx:pt>
          <cx:pt idx="214">2.6983000000000001</cx:pt>
          <cx:pt idx="215">2.6985000000000001</cx:pt>
          <cx:pt idx="216">2.6987000000000001</cx:pt>
          <cx:pt idx="217">2.6989000000000001</cx:pt>
          <cx:pt idx="218">2.6991000000000001</cx:pt>
          <cx:pt idx="219">2.6998000000000002</cx:pt>
          <cx:pt idx="220">2.7000000000000002</cx:pt>
          <cx:pt idx="221">2.7004999999999999</cx:pt>
          <cx:pt idx="222">2.7008999999999999</cx:pt>
          <cx:pt idx="223">2.7012</cx:pt>
          <cx:pt idx="224">2.7025000000000001</cx:pt>
          <cx:pt idx="225">2.7042999999999999</cx:pt>
          <cx:pt idx="226">2.7054999999999998</cx:pt>
          <cx:pt idx="227">2.7056</cx:pt>
          <cx:pt idx="228">2.7069000000000001</cx:pt>
          <cx:pt idx="229">2.7069999999999999</cx:pt>
          <cx:pt idx="230">2.7081</cx:pt>
          <cx:pt idx="231">2.7082999999999999</cx:pt>
          <cx:pt idx="232">2.7101999999999999</cx:pt>
          <cx:pt idx="233">2.7107000000000001</cx:pt>
          <cx:pt idx="234">2.7118000000000002</cx:pt>
          <cx:pt idx="235">2.7126000000000001</cx:pt>
          <cx:pt idx="236">2.7130999999999998</cx:pt>
          <cx:pt idx="237">2.7136999999999998</cx:pt>
          <cx:pt idx="238">2.714</cx:pt>
          <cx:pt idx="239">2.7147000000000001</cx:pt>
          <cx:pt idx="240">2.7170000000000001</cx:pt>
          <cx:pt idx="241">2.7197</cx:pt>
          <cx:pt idx="242">2.7212999999999998</cx:pt>
          <cx:pt idx="243">2.7214999999999998</cx:pt>
          <cx:pt idx="244">2.7261000000000002</cx:pt>
          <cx:pt idx="245">2.7271000000000001</cx:pt>
          <cx:pt idx="246">2.7282999999999999</cx:pt>
          <cx:pt idx="247">2.7284000000000002</cx:pt>
          <cx:pt idx="248">2.7294999999999998</cx:pt>
          <cx:pt idx="249">2.7324000000000002</cx:pt>
          <cx:pt idx="250">2.734</cx:pt>
          <cx:pt idx="251">2.7347999999999999</cx:pt>
          <cx:pt idx="252">2.7370999999999999</cx:pt>
          <cx:pt idx="253">2.7383999999999999</cx:pt>
          <cx:pt idx="254">2.7393999999999998</cx:pt>
          <cx:pt idx="255">2.7399</cx:pt>
          <cx:pt idx="256">2.7480000000000002</cx:pt>
          <cx:pt idx="257">2.7492999999999999</cx:pt>
          <cx:pt idx="258">2.7526999999999999</cx:pt>
          <cx:pt idx="259">2.7536</cx:pt>
          <cx:pt idx="260">2.7557</cx:pt>
          <cx:pt idx="261">2.7606000000000002</cx:pt>
          <cx:pt idx="262">2.762</cx:pt>
          <cx:pt idx="263">2.7656000000000001</cx:pt>
          <cx:pt idx="264">2.7665000000000002</cx:pt>
          <cx:pt idx="265">2.7711999999999999</cx:pt>
          <cx:pt idx="266">2.7726000000000002</cx:pt>
          <cx:pt idx="267">2.7736000000000001</cx:pt>
          <cx:pt idx="268">2.7757000000000001</cx:pt>
          <cx:pt idx="269">2.7772999999999999</cx:pt>
          <cx:pt idx="270">2.7776000000000001</cx:pt>
          <cx:pt idx="271">2.7782</cx:pt>
          <cx:pt idx="272">2.7835999999999999</cx:pt>
          <cx:pt idx="273">2.7884000000000002</cx:pt>
          <cx:pt idx="274">2.7898999999999998</cx:pt>
          <cx:pt idx="275">2.7904</cx:pt>
          <cx:pt idx="276">2.7940999999999998</cx:pt>
          <cx:pt idx="277">2.7989999999999999</cx:pt>
          <cx:pt idx="278">2.8026</cx:pt>
          <cx:pt idx="279">2.8031999999999999</cx:pt>
          <cx:pt idx="280">2.8035000000000001</cx:pt>
          <cx:pt idx="281">2.8090000000000002</cx:pt>
          <cx:pt idx="282">2.8250999999999999</cx:pt>
          <cx:pt idx="283">2.8309000000000002</cx:pt>
          <cx:pt idx="284">2.8311999999999999</cx:pt>
          <cx:pt idx="285">2.8574000000000002</cx:pt>
          <cx:pt idx="286">2.8626999999999998</cx:pt>
          <cx:pt idx="287">2.8651</cx:pt>
          <cx:pt idx="288">2.8673999999999999</cx:pt>
          <cx:pt idx="289">2.8694999999999999</cx:pt>
          <cx:pt idx="290">2.8952</cx:pt>
          <cx:pt idx="291">2.9037999999999999</cx:pt>
          <cx:pt idx="292">2.9041999999999999</cx:pt>
          <cx:pt idx="293">2.9079999999999999</cx:pt>
          <cx:pt idx="294">2.9119000000000002</cx:pt>
          <cx:pt idx="295">2.9477000000000002</cx:pt>
          <cx:pt idx="296">2.9497</cx:pt>
          <cx:pt idx="297">2.9695999999999998</cx:pt>
          <cx:pt idx="298">3.0301</cx:pt>
          <cx:pt idx="299">3.0501</cx:pt>
          <cx:pt idx="300">5.7000000000000002</cx:pt>
        </cx:lvl>
      </cx:numDim>
    </cx:data>
  </cx:chartData>
  <cx:chart>
    <cx:title pos="t" align="ctr" overlay="0">
      <cx:tx>
        <cx:txData>
          <cx:v>OpenMP Dynamic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rPr>
            <a:t>OpenMP Dynamic</a:t>
          </a:r>
        </a:p>
      </cx:txPr>
    </cx:title>
    <cx:plotArea>
      <cx:plotAreaRegion>
        <cx:series layoutId="clusteredColumn" uniqueId="{00000000-1B6A-402F-A0FE-A2D1887E2A70}">
          <cx:tx>
            <cx:txData>
              <cx:f>Raw!$H$1</cx:f>
              <cx:v>latency_nbody_mt_openmp_dynamic</cx:v>
            </cx:txData>
          </cx:tx>
          <cx:dataId val="0"/>
          <cx:layoutPr>
            <cx:binning intervalClosed="r">
              <cx:binCount val="16"/>
            </cx:binning>
          </cx:layoutPr>
        </cx:series>
      </cx:plotAreaRegion>
      <cx:axis id="0">
        <cx:catScaling gapWidth="0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9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b2712ec6e_0_6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g38b2712ec6e_0_6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8b2712ec6e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g38b2712ec6e_0_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8b2712ec6e_0_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b2712ec6e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8b2712ec6e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8b2712ec6e_0_1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8b2712ec6e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g38b2712ec6e_0_3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g38b2712ec6e_0_3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b2712ec6e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8b2712ec6e_0_5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8b2712ec6e_0_5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8b2712ec6e_0_5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8b2712ec6e_0_5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8b2712ec6e_0_5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8b2712ec6e_0_6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38b2712ec6e_0_6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8b2712ec6e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8b2712ec6e_0_5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g38b2712ec6e_0_5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8b2712ec6e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8b2712ec6e_0_6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Example camera capture</a:t>
            </a:r>
            <a:endParaRPr/>
          </a:p>
        </p:txBody>
      </p:sp>
      <p:sp>
        <p:nvSpPr>
          <p:cNvPr id="330" name="Google Shape;330;g38b2712ec6e_0_6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I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8b2712ec6e_0_6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38b2712ec6e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8b2712ec6e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g38b2712ec6e_0_6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g38b2712ec6e_0_6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>
          <a:extLst>
            <a:ext uri="{FF2B5EF4-FFF2-40B4-BE49-F238E27FC236}">
              <a16:creationId xmlns:a16="http://schemas.microsoft.com/office/drawing/2014/main" id="{D6EA1D35-9270-82F2-DF08-4BBBDB195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8b2712ec6e_0_623:notes">
            <a:extLst>
              <a:ext uri="{FF2B5EF4-FFF2-40B4-BE49-F238E27FC236}">
                <a16:creationId xmlns:a16="http://schemas.microsoft.com/office/drawing/2014/main" id="{7F8BAE0F-EA80-7903-F8EB-112F48E24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38b2712ec6e_0_623:notes">
            <a:extLst>
              <a:ext uri="{FF2B5EF4-FFF2-40B4-BE49-F238E27FC236}">
                <a16:creationId xmlns:a16="http://schemas.microsoft.com/office/drawing/2014/main" id="{47F97CA0-5900-4663-EC85-73597A427E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6213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../media/image1.png"/><Relationship Id="rId2" Type="http://schemas.microsoft.com/office/2014/relationships/chartEx" Target="../charts/chartEx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microsoft.com/office/2014/relationships/chartEx" Target="../charts/chartEx3.xml"/><Relationship Id="rId1" Type="http://schemas.openxmlformats.org/officeDocument/2006/relationships/slideLayout" Target="../slideLayouts/slideLayout2.xml"/><Relationship Id="rId6" Type="http://schemas.microsoft.com/office/2014/relationships/chartEx" Target="../charts/chartEx5.xml"/><Relationship Id="rId5" Type="http://schemas.openxmlformats.org/officeDocument/2006/relationships/image" Target="../media/image9.png"/><Relationship Id="rId4" Type="http://schemas.microsoft.com/office/2014/relationships/chartEx" Target="../charts/chartEx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14/relationships/chartEx" Target="../charts/chartEx9.xml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microsoft.com/office/2014/relationships/chartEx" Target="../charts/chartEx6.xml"/><Relationship Id="rId1" Type="http://schemas.openxmlformats.org/officeDocument/2006/relationships/slideLayout" Target="../slideLayouts/slideLayout2.xml"/><Relationship Id="rId6" Type="http://schemas.microsoft.com/office/2014/relationships/chartEx" Target="../charts/chartEx8.xml"/><Relationship Id="rId5" Type="http://schemas.openxmlformats.org/officeDocument/2006/relationships/image" Target="../media/image12.png"/><Relationship Id="rId4" Type="http://schemas.microsoft.com/office/2014/relationships/chartEx" Target="../charts/chartEx7.xml"/><Relationship Id="rId9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/>
              <a:t>Multicore Architecture &amp; Programming</a:t>
            </a:r>
            <a:endParaRPr/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 dirty="0"/>
              <a:t>Sriram Kashyap - 2026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b2712ec6e_0_60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br>
              <a:rPr lang="en-IN"/>
            </a:br>
            <a:r>
              <a:rPr lang="en-IN"/>
              <a:t>Parallel Architectures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Single Core CPU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2426663" y="3956955"/>
            <a:ext cx="33546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426824" y="4953350"/>
            <a:ext cx="335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2426663" y="4178662"/>
            <a:ext cx="33546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2426663" y="2960612"/>
            <a:ext cx="33546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2426663" y="1690712"/>
            <a:ext cx="335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>
                <a:solidFill>
                  <a:schemeClr val="dk1"/>
                </a:solidFill>
              </a:rPr>
              <a:t>Compute Unit.</a:t>
            </a:r>
            <a:br>
              <a:rPr lang="en-I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>
                <a:solidFill>
                  <a:schemeClr val="dk1"/>
                </a:solidFill>
              </a:rPr>
              <a:t>Super Scalar +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Vector Compute (SIMD)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2426663" y="3460412"/>
            <a:ext cx="33546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6474938" y="2128775"/>
            <a:ext cx="3290400" cy="221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Fetch + Instruction Cache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6474938" y="1704712"/>
            <a:ext cx="3290400" cy="221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Decode + Branch Predictor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6474938" y="1926412"/>
            <a:ext cx="3290400" cy="221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Dispatch + Reorder Buffer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6718244" y="2780387"/>
            <a:ext cx="626700" cy="30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6718244" y="3535037"/>
            <a:ext cx="626700" cy="30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7677957" y="2780337"/>
            <a:ext cx="626700" cy="492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ALU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00613" y="2780387"/>
            <a:ext cx="1122900" cy="1644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Float / SIMD ALU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7677957" y="3356062"/>
            <a:ext cx="626700" cy="492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ALU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7677957" y="3931787"/>
            <a:ext cx="626700" cy="492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ALU</a:t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6718232" y="3157712"/>
            <a:ext cx="626700" cy="30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</p:txBody>
      </p:sp>
      <p:cxnSp>
        <p:nvCxnSpPr>
          <p:cNvPr id="117" name="Google Shape;117;p2"/>
          <p:cNvCxnSpPr>
            <a:endCxn id="110" idx="1"/>
          </p:cNvCxnSpPr>
          <p:nvPr/>
        </p:nvCxnSpPr>
        <p:spPr>
          <a:xfrm rot="-5400000" flipH="1">
            <a:off x="6308744" y="2522237"/>
            <a:ext cx="575700" cy="2433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" name="Google Shape;118;p2"/>
          <p:cNvCxnSpPr>
            <a:endCxn id="116" idx="1"/>
          </p:cNvCxnSpPr>
          <p:nvPr/>
        </p:nvCxnSpPr>
        <p:spPr>
          <a:xfrm rot="-5400000" flipH="1">
            <a:off x="6120032" y="2710862"/>
            <a:ext cx="9519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2"/>
          <p:cNvCxnSpPr>
            <a:endCxn id="111" idx="1"/>
          </p:cNvCxnSpPr>
          <p:nvPr/>
        </p:nvCxnSpPr>
        <p:spPr>
          <a:xfrm rot="-5400000" flipH="1">
            <a:off x="5931944" y="2900087"/>
            <a:ext cx="13281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0" name="Google Shape;120;p2"/>
          <p:cNvCxnSpPr>
            <a:endCxn id="112" idx="1"/>
          </p:cNvCxnSpPr>
          <p:nvPr/>
        </p:nvCxnSpPr>
        <p:spPr>
          <a:xfrm rot="-5400000" flipH="1">
            <a:off x="7221507" y="2570187"/>
            <a:ext cx="669600" cy="2433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" name="Google Shape;121;p2"/>
          <p:cNvCxnSpPr>
            <a:endCxn id="114" idx="1"/>
          </p:cNvCxnSpPr>
          <p:nvPr/>
        </p:nvCxnSpPr>
        <p:spPr>
          <a:xfrm rot="-5400000" flipH="1">
            <a:off x="6933657" y="2858062"/>
            <a:ext cx="12441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" name="Google Shape;122;p2"/>
          <p:cNvCxnSpPr>
            <a:endCxn id="115" idx="1"/>
          </p:cNvCxnSpPr>
          <p:nvPr/>
        </p:nvCxnSpPr>
        <p:spPr>
          <a:xfrm rot="-5400000" flipH="1">
            <a:off x="6646407" y="3146537"/>
            <a:ext cx="1818600" cy="2445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3" name="Google Shape;123;p2"/>
          <p:cNvCxnSpPr>
            <a:endCxn id="113" idx="1"/>
          </p:cNvCxnSpPr>
          <p:nvPr/>
        </p:nvCxnSpPr>
        <p:spPr>
          <a:xfrm rot="-5400000" flipH="1">
            <a:off x="7896663" y="2898437"/>
            <a:ext cx="1245300" cy="1626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4" name="Google Shape;124;p2"/>
          <p:cNvSpPr txBox="1"/>
          <p:nvPr/>
        </p:nvSpPr>
        <p:spPr>
          <a:xfrm>
            <a:off x="6433238" y="4953362"/>
            <a:ext cx="3290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Inside an ALU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661350" y="5566750"/>
            <a:ext cx="110289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Implicit Parallelism: Execute scalar instructions ASAP (parallel / out of order)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Explicit Parallelism: Code includes explicit SIMD Operations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9765339" y="1790950"/>
            <a:ext cx="166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>
                <a:solidFill>
                  <a:srgbClr val="666666"/>
                </a:solidFill>
              </a:rPr>
              <a:t>Frontend</a:t>
            </a:r>
            <a:endParaRPr sz="1600">
              <a:solidFill>
                <a:srgbClr val="666666"/>
              </a:solidFill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9765350" y="3309050"/>
            <a:ext cx="166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>
                <a:solidFill>
                  <a:srgbClr val="666666"/>
                </a:solidFill>
              </a:rPr>
              <a:t>Backend</a:t>
            </a:r>
            <a:endParaRPr sz="1600">
              <a:solidFill>
                <a:srgbClr val="666666"/>
              </a:solidFill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6442850" y="1615150"/>
            <a:ext cx="4771800" cy="804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6442850" y="2674791"/>
            <a:ext cx="4771800" cy="18186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8b2712ec6e_0_5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Multi Core CPU</a:t>
            </a:r>
            <a:endParaRPr/>
          </a:p>
        </p:txBody>
      </p:sp>
      <p:sp>
        <p:nvSpPr>
          <p:cNvPr id="136" name="Google Shape;136;g38b2712ec6e_0_56"/>
          <p:cNvSpPr/>
          <p:nvPr/>
        </p:nvSpPr>
        <p:spPr>
          <a:xfrm>
            <a:off x="2643000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37" name="Google Shape;137;g38b2712ec6e_0_56"/>
          <p:cNvSpPr/>
          <p:nvPr/>
        </p:nvSpPr>
        <p:spPr>
          <a:xfrm>
            <a:off x="2643000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38" name="Google Shape;138;g38b2712ec6e_0_56"/>
          <p:cNvSpPr/>
          <p:nvPr/>
        </p:nvSpPr>
        <p:spPr>
          <a:xfrm>
            <a:off x="2643000" y="3484238"/>
            <a:ext cx="1056000" cy="4998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39" name="Google Shape;139;g38b2712ec6e_0_56"/>
          <p:cNvSpPr/>
          <p:nvPr/>
        </p:nvSpPr>
        <p:spPr>
          <a:xfrm>
            <a:off x="2643000" y="3979841"/>
            <a:ext cx="1056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40" name="Google Shape;140;g38b2712ec6e_0_56"/>
          <p:cNvSpPr/>
          <p:nvPr/>
        </p:nvSpPr>
        <p:spPr>
          <a:xfrm>
            <a:off x="2643000" y="4201616"/>
            <a:ext cx="1056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/>
              <a:t>DRAM /  Peripherals</a:t>
            </a:r>
            <a:endParaRPr sz="1300"/>
          </a:p>
        </p:txBody>
      </p:sp>
      <p:sp>
        <p:nvSpPr>
          <p:cNvPr id="141" name="Google Shape;141;g38b2712ec6e_0_56"/>
          <p:cNvSpPr txBox="1"/>
          <p:nvPr/>
        </p:nvSpPr>
        <p:spPr>
          <a:xfrm>
            <a:off x="2071850" y="4977178"/>
            <a:ext cx="211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CPU (1 core)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42" name="Google Shape;142;g38b2712ec6e_0_56"/>
          <p:cNvSpPr/>
          <p:nvPr/>
        </p:nvSpPr>
        <p:spPr>
          <a:xfrm>
            <a:off x="5129525" y="3980778"/>
            <a:ext cx="4224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43" name="Google Shape;143;g38b2712ec6e_0_56"/>
          <p:cNvSpPr txBox="1"/>
          <p:nvPr/>
        </p:nvSpPr>
        <p:spPr>
          <a:xfrm>
            <a:off x="6185675" y="4978928"/>
            <a:ext cx="211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CPU (4 core)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44" name="Google Shape;144;g38b2712ec6e_0_56"/>
          <p:cNvSpPr/>
          <p:nvPr/>
        </p:nvSpPr>
        <p:spPr>
          <a:xfrm>
            <a:off x="5129525" y="4202503"/>
            <a:ext cx="4224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45" name="Google Shape;145;g38b2712ec6e_0_56"/>
          <p:cNvSpPr/>
          <p:nvPr/>
        </p:nvSpPr>
        <p:spPr>
          <a:xfrm>
            <a:off x="5129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46" name="Google Shape;146;g38b2712ec6e_0_56"/>
          <p:cNvSpPr/>
          <p:nvPr/>
        </p:nvSpPr>
        <p:spPr>
          <a:xfrm>
            <a:off x="5129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47" name="Google Shape;147;g38b2712ec6e_0_56"/>
          <p:cNvSpPr/>
          <p:nvPr/>
        </p:nvSpPr>
        <p:spPr>
          <a:xfrm>
            <a:off x="5129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48" name="Google Shape;148;g38b2712ec6e_0_56"/>
          <p:cNvSpPr/>
          <p:nvPr/>
        </p:nvSpPr>
        <p:spPr>
          <a:xfrm>
            <a:off x="6185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49" name="Google Shape;149;g38b2712ec6e_0_56"/>
          <p:cNvSpPr/>
          <p:nvPr/>
        </p:nvSpPr>
        <p:spPr>
          <a:xfrm>
            <a:off x="6185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50" name="Google Shape;150;g38b2712ec6e_0_56"/>
          <p:cNvSpPr/>
          <p:nvPr/>
        </p:nvSpPr>
        <p:spPr>
          <a:xfrm>
            <a:off x="6185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51" name="Google Shape;151;g38b2712ec6e_0_56"/>
          <p:cNvSpPr/>
          <p:nvPr/>
        </p:nvSpPr>
        <p:spPr>
          <a:xfrm>
            <a:off x="5129525" y="3739228"/>
            <a:ext cx="4224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L2 Cache</a:t>
            </a:r>
            <a:endParaRPr/>
          </a:p>
        </p:txBody>
      </p:sp>
      <p:sp>
        <p:nvSpPr>
          <p:cNvPr id="152" name="Google Shape;152;g38b2712ec6e_0_56"/>
          <p:cNvSpPr/>
          <p:nvPr/>
        </p:nvSpPr>
        <p:spPr>
          <a:xfrm>
            <a:off x="7241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53" name="Google Shape;153;g38b2712ec6e_0_56"/>
          <p:cNvSpPr/>
          <p:nvPr/>
        </p:nvSpPr>
        <p:spPr>
          <a:xfrm>
            <a:off x="7241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54" name="Google Shape;154;g38b2712ec6e_0_56"/>
          <p:cNvSpPr/>
          <p:nvPr/>
        </p:nvSpPr>
        <p:spPr>
          <a:xfrm>
            <a:off x="7241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55" name="Google Shape;155;g38b2712ec6e_0_56"/>
          <p:cNvSpPr/>
          <p:nvPr/>
        </p:nvSpPr>
        <p:spPr>
          <a:xfrm>
            <a:off x="8297525" y="1714538"/>
            <a:ext cx="105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Unit (ALU)</a:t>
            </a:r>
            <a:endParaRPr/>
          </a:p>
        </p:txBody>
      </p:sp>
      <p:sp>
        <p:nvSpPr>
          <p:cNvPr id="156" name="Google Shape;156;g38b2712ec6e_0_56"/>
          <p:cNvSpPr/>
          <p:nvPr/>
        </p:nvSpPr>
        <p:spPr>
          <a:xfrm>
            <a:off x="8297525" y="2984438"/>
            <a:ext cx="10560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57" name="Google Shape;157;g38b2712ec6e_0_56"/>
          <p:cNvSpPr/>
          <p:nvPr/>
        </p:nvSpPr>
        <p:spPr>
          <a:xfrm>
            <a:off x="8297525" y="3484238"/>
            <a:ext cx="1056000" cy="255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L1 Cache</a:t>
            </a:r>
            <a:endParaRPr/>
          </a:p>
        </p:txBody>
      </p:sp>
      <p:sp>
        <p:nvSpPr>
          <p:cNvPr id="158" name="Google Shape;158;g38b2712ec6e_0_56"/>
          <p:cNvSpPr txBox="1"/>
          <p:nvPr/>
        </p:nvSpPr>
        <p:spPr>
          <a:xfrm>
            <a:off x="661350" y="5566750"/>
            <a:ext cx="110289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Explicit Parallelism: User specifies multiple independent tasks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Shared Cache: Allows cores to run on shared datasets</a:t>
            </a: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8b2712ec6e_0_1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Digital Signal Processor</a:t>
            </a:r>
            <a:endParaRPr/>
          </a:p>
        </p:txBody>
      </p:sp>
      <p:sp>
        <p:nvSpPr>
          <p:cNvPr id="165" name="Google Shape;165;g38b2712ec6e_0_129"/>
          <p:cNvSpPr/>
          <p:nvPr/>
        </p:nvSpPr>
        <p:spPr>
          <a:xfrm>
            <a:off x="1008738" y="3956953"/>
            <a:ext cx="33546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66" name="Google Shape;166;g38b2712ec6e_0_129"/>
          <p:cNvSpPr txBox="1"/>
          <p:nvPr/>
        </p:nvSpPr>
        <p:spPr>
          <a:xfrm>
            <a:off x="1008899" y="4953348"/>
            <a:ext cx="335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67" name="Google Shape;167;g38b2712ec6e_0_129"/>
          <p:cNvSpPr/>
          <p:nvPr/>
        </p:nvSpPr>
        <p:spPr>
          <a:xfrm>
            <a:off x="1008738" y="4178660"/>
            <a:ext cx="33546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68" name="Google Shape;168;g38b2712ec6e_0_129"/>
          <p:cNvSpPr/>
          <p:nvPr/>
        </p:nvSpPr>
        <p:spPr>
          <a:xfrm>
            <a:off x="1008738" y="2960610"/>
            <a:ext cx="33546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69" name="Google Shape;169;g38b2712ec6e_0_129"/>
          <p:cNvSpPr/>
          <p:nvPr/>
        </p:nvSpPr>
        <p:spPr>
          <a:xfrm>
            <a:off x="1008738" y="1690710"/>
            <a:ext cx="335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8b2712ec6e_0_129"/>
          <p:cNvSpPr/>
          <p:nvPr/>
        </p:nvSpPr>
        <p:spPr>
          <a:xfrm>
            <a:off x="1008738" y="3460410"/>
            <a:ext cx="33546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71" name="Google Shape;171;g38b2712ec6e_0_129"/>
          <p:cNvSpPr/>
          <p:nvPr/>
        </p:nvSpPr>
        <p:spPr>
          <a:xfrm>
            <a:off x="4765336" y="3970399"/>
            <a:ext cx="6588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172" name="Google Shape;172;g38b2712ec6e_0_129"/>
          <p:cNvSpPr txBox="1"/>
          <p:nvPr/>
        </p:nvSpPr>
        <p:spPr>
          <a:xfrm>
            <a:off x="4765503" y="4980198"/>
            <a:ext cx="6588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DSP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173" name="Google Shape;173;g38b2712ec6e_0_129"/>
          <p:cNvSpPr/>
          <p:nvPr/>
        </p:nvSpPr>
        <p:spPr>
          <a:xfrm>
            <a:off x="4765336" y="4192107"/>
            <a:ext cx="6588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174" name="Google Shape;174;g38b2712ec6e_0_129"/>
          <p:cNvSpPr/>
          <p:nvPr/>
        </p:nvSpPr>
        <p:spPr>
          <a:xfrm>
            <a:off x="4765500" y="2960600"/>
            <a:ext cx="6588000" cy="22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175" name="Google Shape;175;g38b2712ec6e_0_129"/>
          <p:cNvSpPr/>
          <p:nvPr/>
        </p:nvSpPr>
        <p:spPr>
          <a:xfrm>
            <a:off x="4765499" y="1690698"/>
            <a:ext cx="658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8b2712ec6e_0_129"/>
          <p:cNvSpPr/>
          <p:nvPr/>
        </p:nvSpPr>
        <p:spPr>
          <a:xfrm>
            <a:off x="4765500" y="3182300"/>
            <a:ext cx="6588000" cy="56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User-Managed SRAM</a:t>
            </a:r>
            <a:endParaRPr/>
          </a:p>
        </p:txBody>
      </p:sp>
      <p:sp>
        <p:nvSpPr>
          <p:cNvPr id="177" name="Google Shape;177;g38b2712ec6e_0_129"/>
          <p:cNvSpPr txBox="1"/>
          <p:nvPr/>
        </p:nvSpPr>
        <p:spPr>
          <a:xfrm>
            <a:off x="0" y="2017848"/>
            <a:ext cx="1008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Compute Unit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78" name="Google Shape;178;g38b2712ec6e_0_129"/>
          <p:cNvSpPr/>
          <p:nvPr/>
        </p:nvSpPr>
        <p:spPr>
          <a:xfrm>
            <a:off x="4765325" y="3748698"/>
            <a:ext cx="6588000" cy="221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179" name="Google Shape;179;g38b2712ec6e_0_129"/>
          <p:cNvSpPr/>
          <p:nvPr/>
        </p:nvSpPr>
        <p:spPr>
          <a:xfrm>
            <a:off x="1008899" y="1690698"/>
            <a:ext cx="1008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180" name="Google Shape;180;g38b2712ec6e_0_129"/>
          <p:cNvSpPr/>
          <p:nvPr/>
        </p:nvSpPr>
        <p:spPr>
          <a:xfrm>
            <a:off x="20178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181" name="Google Shape;181;g38b2712ec6e_0_129"/>
          <p:cNvSpPr/>
          <p:nvPr/>
        </p:nvSpPr>
        <p:spPr>
          <a:xfrm>
            <a:off x="26535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 / Float</a:t>
            </a:r>
            <a:endParaRPr/>
          </a:p>
        </p:txBody>
      </p:sp>
      <p:sp>
        <p:nvSpPr>
          <p:cNvPr id="182" name="Google Shape;182;g38b2712ec6e_0_129"/>
          <p:cNvSpPr/>
          <p:nvPr/>
        </p:nvSpPr>
        <p:spPr>
          <a:xfrm>
            <a:off x="3288900" y="1690698"/>
            <a:ext cx="107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</a:t>
            </a:r>
            <a:endParaRPr/>
          </a:p>
        </p:txBody>
      </p:sp>
      <p:sp>
        <p:nvSpPr>
          <p:cNvPr id="183" name="Google Shape;183;g38b2712ec6e_0_129"/>
          <p:cNvSpPr/>
          <p:nvPr/>
        </p:nvSpPr>
        <p:spPr>
          <a:xfrm>
            <a:off x="4765325" y="1693373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184" name="Google Shape;184;g38b2712ec6e_0_129"/>
          <p:cNvSpPr/>
          <p:nvPr/>
        </p:nvSpPr>
        <p:spPr>
          <a:xfrm>
            <a:off x="5401025" y="1693373"/>
            <a:ext cx="12429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185" name="Google Shape;185;g38b2712ec6e_0_129"/>
          <p:cNvSpPr/>
          <p:nvPr/>
        </p:nvSpPr>
        <p:spPr>
          <a:xfrm>
            <a:off x="6643800" y="1693373"/>
            <a:ext cx="401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</p:txBody>
      </p:sp>
      <p:sp>
        <p:nvSpPr>
          <p:cNvPr id="186" name="Google Shape;186;g38b2712ec6e_0_129"/>
          <p:cNvSpPr/>
          <p:nvPr/>
        </p:nvSpPr>
        <p:spPr>
          <a:xfrm>
            <a:off x="7045325" y="1693373"/>
            <a:ext cx="430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 Int / Float</a:t>
            </a:r>
            <a:endParaRPr/>
          </a:p>
        </p:txBody>
      </p:sp>
      <p:sp>
        <p:nvSpPr>
          <p:cNvPr id="187" name="Google Shape;187;g38b2712ec6e_0_129"/>
          <p:cNvSpPr txBox="1"/>
          <p:nvPr/>
        </p:nvSpPr>
        <p:spPr>
          <a:xfrm>
            <a:off x="661350" y="5566750"/>
            <a:ext cx="110289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Explicit Parallelism: Code includes explicit SIMD Operations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Specialized Core: Bigger SIMD / Load Store, Smaller Front End and Scalar</a:t>
            </a: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Non-Uniform Memory: User-managed high-speed on-chip memory</a:t>
            </a: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g38b2712ec6e_0_320"/>
          <p:cNvGrpSpPr/>
          <p:nvPr/>
        </p:nvGrpSpPr>
        <p:grpSpPr>
          <a:xfrm>
            <a:off x="4895200" y="2015422"/>
            <a:ext cx="6588186" cy="1953372"/>
            <a:chOff x="4765314" y="1690706"/>
            <a:chExt cx="6588186" cy="1953372"/>
          </a:xfrm>
        </p:grpSpPr>
        <p:sp>
          <p:nvSpPr>
            <p:cNvPr id="194" name="Google Shape;194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195" name="Google Shape;195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197" name="Google Shape;197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198" name="Google Shape;198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199" name="Google Shape;199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00" name="Google Shape;200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01" name="Google Shape;201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</a:t>
              </a:r>
              <a:endParaRPr/>
            </a:p>
          </p:txBody>
        </p:sp>
      </p:grpSp>
      <p:grpSp>
        <p:nvGrpSpPr>
          <p:cNvPr id="202" name="Google Shape;202;g38b2712ec6e_0_320"/>
          <p:cNvGrpSpPr/>
          <p:nvPr/>
        </p:nvGrpSpPr>
        <p:grpSpPr>
          <a:xfrm>
            <a:off x="5047600" y="2167822"/>
            <a:ext cx="6588186" cy="1953372"/>
            <a:chOff x="4765314" y="1690706"/>
            <a:chExt cx="6588186" cy="1953372"/>
          </a:xfrm>
        </p:grpSpPr>
        <p:sp>
          <p:nvSpPr>
            <p:cNvPr id="203" name="Google Shape;203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204" name="Google Shape;204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206" name="Google Shape;206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207" name="Google Shape;207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208" name="Google Shape;208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09" name="Google Shape;209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10" name="Google Shape;210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</a:t>
              </a:r>
              <a:endParaRPr/>
            </a:p>
          </p:txBody>
        </p:sp>
      </p:grpSp>
      <p:grpSp>
        <p:nvGrpSpPr>
          <p:cNvPr id="211" name="Google Shape;211;g38b2712ec6e_0_320"/>
          <p:cNvGrpSpPr/>
          <p:nvPr/>
        </p:nvGrpSpPr>
        <p:grpSpPr>
          <a:xfrm>
            <a:off x="5200000" y="2320222"/>
            <a:ext cx="6588186" cy="1953372"/>
            <a:chOff x="4765314" y="1690706"/>
            <a:chExt cx="6588186" cy="1953372"/>
          </a:xfrm>
        </p:grpSpPr>
        <p:sp>
          <p:nvSpPr>
            <p:cNvPr id="212" name="Google Shape;212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213" name="Google Shape;213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215" name="Google Shape;215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216" name="Google Shape;216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217" name="Google Shape;217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18" name="Google Shape;218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19" name="Google Shape;219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</a:t>
              </a:r>
              <a:endParaRPr/>
            </a:p>
          </p:txBody>
        </p:sp>
      </p:grpSp>
      <p:grpSp>
        <p:nvGrpSpPr>
          <p:cNvPr id="220" name="Google Shape;220;g38b2712ec6e_0_320"/>
          <p:cNvGrpSpPr/>
          <p:nvPr/>
        </p:nvGrpSpPr>
        <p:grpSpPr>
          <a:xfrm>
            <a:off x="5352400" y="2472622"/>
            <a:ext cx="6588186" cy="1953372"/>
            <a:chOff x="4765314" y="1690706"/>
            <a:chExt cx="6588186" cy="1953372"/>
          </a:xfrm>
        </p:grpSpPr>
        <p:sp>
          <p:nvSpPr>
            <p:cNvPr id="221" name="Google Shape;221;g38b2712ec6e_0_320"/>
            <p:cNvSpPr/>
            <p:nvPr/>
          </p:nvSpPr>
          <p:spPr>
            <a:xfrm>
              <a:off x="4765500" y="2634280"/>
              <a:ext cx="6588000" cy="5664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Registers</a:t>
              </a:r>
              <a:endParaRPr/>
            </a:p>
          </p:txBody>
        </p:sp>
        <p:sp>
          <p:nvSpPr>
            <p:cNvPr id="222" name="Google Shape;222;g38b2712ec6e_0_320"/>
            <p:cNvSpPr/>
            <p:nvPr/>
          </p:nvSpPr>
          <p:spPr>
            <a:xfrm>
              <a:off x="4765489" y="1690706"/>
              <a:ext cx="658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g38b2712ec6e_0_320"/>
            <p:cNvSpPr/>
            <p:nvPr/>
          </p:nvSpPr>
          <p:spPr>
            <a:xfrm>
              <a:off x="4765500" y="3200521"/>
              <a:ext cx="6588000" cy="221700"/>
            </a:xfrm>
            <a:prstGeom prst="rect">
              <a:avLst/>
            </a:prstGeom>
            <a:solidFill>
              <a:srgbClr val="FFF2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User-Managed SRAM</a:t>
              </a:r>
              <a:endParaRPr/>
            </a:p>
          </p:txBody>
        </p:sp>
        <p:sp>
          <p:nvSpPr>
            <p:cNvPr id="224" name="Google Shape;224;g38b2712ec6e_0_320"/>
            <p:cNvSpPr/>
            <p:nvPr/>
          </p:nvSpPr>
          <p:spPr>
            <a:xfrm>
              <a:off x="4765325" y="3422378"/>
              <a:ext cx="6588000" cy="221700"/>
            </a:xfrm>
            <a:prstGeom prst="rect">
              <a:avLst/>
            </a:prstGeom>
            <a:solidFill>
              <a:srgbClr val="FCE5CD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Texture Cache (Spatial locality for 1D / 2D / 3D arrays)</a:t>
              </a:r>
              <a:endParaRPr/>
            </a:p>
          </p:txBody>
        </p:sp>
        <p:sp>
          <p:nvSpPr>
            <p:cNvPr id="225" name="Google Shape;225;g38b2712ec6e_0_320"/>
            <p:cNvSpPr/>
            <p:nvPr/>
          </p:nvSpPr>
          <p:spPr>
            <a:xfrm>
              <a:off x="4765314" y="1693381"/>
              <a:ext cx="635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Front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End</a:t>
              </a:r>
              <a:endParaRPr/>
            </a:p>
          </p:txBody>
        </p:sp>
        <p:sp>
          <p:nvSpPr>
            <p:cNvPr id="226" name="Google Shape;226;g38b2712ec6e_0_320"/>
            <p:cNvSpPr/>
            <p:nvPr/>
          </p:nvSpPr>
          <p:spPr>
            <a:xfrm>
              <a:off x="5401014" y="1693381"/>
              <a:ext cx="12429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Load</a:t>
              </a:r>
              <a:endParaRPr/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Store</a:t>
              </a:r>
              <a:endParaRPr/>
            </a:p>
          </p:txBody>
        </p:sp>
        <p:sp>
          <p:nvSpPr>
            <p:cNvPr id="227" name="Google Shape;227;g38b2712ec6e_0_320"/>
            <p:cNvSpPr/>
            <p:nvPr/>
          </p:nvSpPr>
          <p:spPr>
            <a:xfrm>
              <a:off x="6643789" y="1693381"/>
              <a:ext cx="4014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Int</a:t>
              </a:r>
              <a:endParaRPr/>
            </a:p>
          </p:txBody>
        </p:sp>
        <p:sp>
          <p:nvSpPr>
            <p:cNvPr id="228" name="Google Shape;228;g38b2712ec6e_0_320"/>
            <p:cNvSpPr/>
            <p:nvPr/>
          </p:nvSpPr>
          <p:spPr>
            <a:xfrm>
              <a:off x="7045314" y="1693381"/>
              <a:ext cx="4308000" cy="942600"/>
            </a:xfrm>
            <a:prstGeom prst="rect">
              <a:avLst/>
            </a:prstGeom>
            <a:solidFill>
              <a:srgbClr val="C9DAF8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IN"/>
                <a:t>SIMD Int / Float</a:t>
              </a:r>
              <a:endParaRPr/>
            </a:p>
          </p:txBody>
        </p:sp>
      </p:grpSp>
      <p:sp>
        <p:nvSpPr>
          <p:cNvPr id="229" name="Google Shape;229;g38b2712ec6e_0_3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Graphics Processing Unit</a:t>
            </a:r>
            <a:endParaRPr/>
          </a:p>
        </p:txBody>
      </p:sp>
      <p:sp>
        <p:nvSpPr>
          <p:cNvPr id="230" name="Google Shape;230;g38b2712ec6e_0_320"/>
          <p:cNvSpPr/>
          <p:nvPr/>
        </p:nvSpPr>
        <p:spPr>
          <a:xfrm>
            <a:off x="1008750" y="3956946"/>
            <a:ext cx="33585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231" name="Google Shape;231;g38b2712ec6e_0_320"/>
          <p:cNvSpPr txBox="1"/>
          <p:nvPr/>
        </p:nvSpPr>
        <p:spPr>
          <a:xfrm>
            <a:off x="1127963" y="4886700"/>
            <a:ext cx="2867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232" name="Google Shape;232;g38b2712ec6e_0_320"/>
          <p:cNvSpPr/>
          <p:nvPr/>
        </p:nvSpPr>
        <p:spPr>
          <a:xfrm>
            <a:off x="1008750" y="4178652"/>
            <a:ext cx="33585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33" name="Google Shape;233;g38b2712ec6e_0_320"/>
          <p:cNvSpPr/>
          <p:nvPr/>
        </p:nvSpPr>
        <p:spPr>
          <a:xfrm>
            <a:off x="1008750" y="2960607"/>
            <a:ext cx="33585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234" name="Google Shape;234;g38b2712ec6e_0_320"/>
          <p:cNvSpPr/>
          <p:nvPr/>
        </p:nvSpPr>
        <p:spPr>
          <a:xfrm>
            <a:off x="1008750" y="1690712"/>
            <a:ext cx="33585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g38b2712ec6e_0_320"/>
          <p:cNvSpPr/>
          <p:nvPr/>
        </p:nvSpPr>
        <p:spPr>
          <a:xfrm>
            <a:off x="1008750" y="3460405"/>
            <a:ext cx="33585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236" name="Google Shape;236;g38b2712ec6e_0_320"/>
          <p:cNvSpPr/>
          <p:nvPr/>
        </p:nvSpPr>
        <p:spPr>
          <a:xfrm>
            <a:off x="1008911" y="1690700"/>
            <a:ext cx="10098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237" name="Google Shape;237;g38b2712ec6e_0_320"/>
          <p:cNvSpPr/>
          <p:nvPr/>
        </p:nvSpPr>
        <p:spPr>
          <a:xfrm>
            <a:off x="2018892" y="1690700"/>
            <a:ext cx="63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238" name="Google Shape;238;g38b2712ec6e_0_320"/>
          <p:cNvSpPr/>
          <p:nvPr/>
        </p:nvSpPr>
        <p:spPr>
          <a:xfrm>
            <a:off x="2655273" y="1690700"/>
            <a:ext cx="636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 / Float</a:t>
            </a:r>
            <a:endParaRPr/>
          </a:p>
        </p:txBody>
      </p:sp>
      <p:sp>
        <p:nvSpPr>
          <p:cNvPr id="239" name="Google Shape;239;g38b2712ec6e_0_320"/>
          <p:cNvSpPr/>
          <p:nvPr/>
        </p:nvSpPr>
        <p:spPr>
          <a:xfrm>
            <a:off x="3291352" y="1690700"/>
            <a:ext cx="10755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</a:t>
            </a:r>
            <a:endParaRPr/>
          </a:p>
        </p:txBody>
      </p:sp>
      <p:sp>
        <p:nvSpPr>
          <p:cNvPr id="240" name="Google Shape;240;g38b2712ec6e_0_320"/>
          <p:cNvSpPr/>
          <p:nvPr/>
        </p:nvSpPr>
        <p:spPr>
          <a:xfrm>
            <a:off x="4895225" y="5152336"/>
            <a:ext cx="6588000" cy="545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Wide Interface</a:t>
            </a:r>
            <a:endParaRPr/>
          </a:p>
        </p:txBody>
      </p:sp>
      <p:sp>
        <p:nvSpPr>
          <p:cNvPr id="241" name="Google Shape;241;g38b2712ec6e_0_320"/>
          <p:cNvSpPr/>
          <p:nvPr/>
        </p:nvSpPr>
        <p:spPr>
          <a:xfrm>
            <a:off x="4895222" y="5698043"/>
            <a:ext cx="6588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42" name="Google Shape;242;g38b2712ec6e_0_320"/>
          <p:cNvSpPr/>
          <p:nvPr/>
        </p:nvSpPr>
        <p:spPr>
          <a:xfrm>
            <a:off x="4895225" y="4616088"/>
            <a:ext cx="6588000" cy="545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Big L2 Cache</a:t>
            </a:r>
            <a:endParaRPr/>
          </a:p>
        </p:txBody>
      </p:sp>
      <p:sp>
        <p:nvSpPr>
          <p:cNvPr id="243" name="Google Shape;243;g38b2712ec6e_0_320"/>
          <p:cNvSpPr/>
          <p:nvPr/>
        </p:nvSpPr>
        <p:spPr>
          <a:xfrm>
            <a:off x="4895200" y="1509600"/>
            <a:ext cx="6588300" cy="33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Thread Dispatcher</a:t>
            </a:r>
            <a:endParaRPr/>
          </a:p>
        </p:txBody>
      </p:sp>
      <p:cxnSp>
        <p:nvCxnSpPr>
          <p:cNvPr id="244" name="Google Shape;244;g38b2712ec6e_0_320"/>
          <p:cNvCxnSpPr>
            <a:endCxn id="198" idx="0"/>
          </p:cNvCxnSpPr>
          <p:nvPr/>
        </p:nvCxnSpPr>
        <p:spPr>
          <a:xfrm>
            <a:off x="5212600" y="1838397"/>
            <a:ext cx="300" cy="179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5" name="Google Shape;245;g38b2712ec6e_0_320"/>
          <p:cNvCxnSpPr>
            <a:endCxn id="246" idx="0"/>
          </p:cNvCxnSpPr>
          <p:nvPr/>
        </p:nvCxnSpPr>
        <p:spPr>
          <a:xfrm>
            <a:off x="5365311" y="1838514"/>
            <a:ext cx="0" cy="33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7" name="Google Shape;247;g38b2712ec6e_0_320"/>
          <p:cNvCxnSpPr>
            <a:endCxn id="248" idx="0"/>
          </p:cNvCxnSpPr>
          <p:nvPr/>
        </p:nvCxnSpPr>
        <p:spPr>
          <a:xfrm>
            <a:off x="5517711" y="1833589"/>
            <a:ext cx="0" cy="48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9" name="Google Shape;249;g38b2712ec6e_0_320"/>
          <p:cNvCxnSpPr/>
          <p:nvPr/>
        </p:nvCxnSpPr>
        <p:spPr>
          <a:xfrm>
            <a:off x="5670100" y="1843225"/>
            <a:ext cx="0" cy="63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0" name="Google Shape;250;g38b2712ec6e_0_320"/>
          <p:cNvCxnSpPr/>
          <p:nvPr/>
        </p:nvCxnSpPr>
        <p:spPr>
          <a:xfrm>
            <a:off x="4977925" y="3970400"/>
            <a:ext cx="0" cy="63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1" name="Google Shape;251;g38b2712ec6e_0_320"/>
          <p:cNvCxnSpPr/>
          <p:nvPr/>
        </p:nvCxnSpPr>
        <p:spPr>
          <a:xfrm>
            <a:off x="5130325" y="4126525"/>
            <a:ext cx="0" cy="476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2" name="Google Shape;252;g38b2712ec6e_0_320"/>
          <p:cNvCxnSpPr/>
          <p:nvPr/>
        </p:nvCxnSpPr>
        <p:spPr>
          <a:xfrm>
            <a:off x="5282725" y="4271425"/>
            <a:ext cx="0" cy="330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3" name="Google Shape;253;g38b2712ec6e_0_320"/>
          <p:cNvCxnSpPr/>
          <p:nvPr/>
        </p:nvCxnSpPr>
        <p:spPr>
          <a:xfrm>
            <a:off x="5435125" y="4425175"/>
            <a:ext cx="0" cy="177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4" name="Google Shape;254;g38b2712ec6e_0_320"/>
          <p:cNvSpPr txBox="1"/>
          <p:nvPr/>
        </p:nvSpPr>
        <p:spPr>
          <a:xfrm>
            <a:off x="6755651" y="6285600"/>
            <a:ext cx="2867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GPU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8b2712ec6e_0_5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Neural Processing Unit</a:t>
            </a:r>
            <a:endParaRPr/>
          </a:p>
        </p:txBody>
      </p:sp>
      <p:sp>
        <p:nvSpPr>
          <p:cNvPr id="261" name="Google Shape;261;g38b2712ec6e_0_525"/>
          <p:cNvSpPr/>
          <p:nvPr/>
        </p:nvSpPr>
        <p:spPr>
          <a:xfrm>
            <a:off x="1008738" y="3956953"/>
            <a:ext cx="33546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262" name="Google Shape;262;g38b2712ec6e_0_525"/>
          <p:cNvSpPr txBox="1"/>
          <p:nvPr/>
        </p:nvSpPr>
        <p:spPr>
          <a:xfrm>
            <a:off x="1008899" y="4953348"/>
            <a:ext cx="3354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CPU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263" name="Google Shape;263;g38b2712ec6e_0_525"/>
          <p:cNvSpPr/>
          <p:nvPr/>
        </p:nvSpPr>
        <p:spPr>
          <a:xfrm>
            <a:off x="1008738" y="4178660"/>
            <a:ext cx="33546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64" name="Google Shape;264;g38b2712ec6e_0_525"/>
          <p:cNvSpPr/>
          <p:nvPr/>
        </p:nvSpPr>
        <p:spPr>
          <a:xfrm>
            <a:off x="1008738" y="2960610"/>
            <a:ext cx="3354600" cy="49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265" name="Google Shape;265;g38b2712ec6e_0_525"/>
          <p:cNvSpPr/>
          <p:nvPr/>
        </p:nvSpPr>
        <p:spPr>
          <a:xfrm>
            <a:off x="1008738" y="1690710"/>
            <a:ext cx="335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38b2712ec6e_0_525"/>
          <p:cNvSpPr/>
          <p:nvPr/>
        </p:nvSpPr>
        <p:spPr>
          <a:xfrm>
            <a:off x="1008738" y="3460410"/>
            <a:ext cx="3354600" cy="510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Cache</a:t>
            </a:r>
            <a:endParaRPr/>
          </a:p>
        </p:txBody>
      </p:sp>
      <p:sp>
        <p:nvSpPr>
          <p:cNvPr id="267" name="Google Shape;267;g38b2712ec6e_0_525"/>
          <p:cNvSpPr/>
          <p:nvPr/>
        </p:nvSpPr>
        <p:spPr>
          <a:xfrm>
            <a:off x="4765336" y="3970399"/>
            <a:ext cx="6588000" cy="221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Interface</a:t>
            </a:r>
            <a:endParaRPr/>
          </a:p>
        </p:txBody>
      </p:sp>
      <p:sp>
        <p:nvSpPr>
          <p:cNvPr id="268" name="Google Shape;268;g38b2712ec6e_0_525"/>
          <p:cNvSpPr txBox="1"/>
          <p:nvPr/>
        </p:nvSpPr>
        <p:spPr>
          <a:xfrm>
            <a:off x="4765503" y="4980198"/>
            <a:ext cx="6588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000">
                <a:solidFill>
                  <a:schemeClr val="dk1"/>
                </a:solidFill>
              </a:rPr>
              <a:t>Single Core DSP</a:t>
            </a:r>
            <a:endParaRPr sz="2000">
              <a:solidFill>
                <a:schemeClr val="dk1"/>
              </a:solidFill>
            </a:endParaRPr>
          </a:p>
        </p:txBody>
      </p:sp>
      <p:sp>
        <p:nvSpPr>
          <p:cNvPr id="269" name="Google Shape;269;g38b2712ec6e_0_525"/>
          <p:cNvSpPr/>
          <p:nvPr/>
        </p:nvSpPr>
        <p:spPr>
          <a:xfrm>
            <a:off x="4765336" y="4192107"/>
            <a:ext cx="6588000" cy="4998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 /  Peripherals</a:t>
            </a:r>
            <a:endParaRPr/>
          </a:p>
        </p:txBody>
      </p:sp>
      <p:sp>
        <p:nvSpPr>
          <p:cNvPr id="270" name="Google Shape;270;g38b2712ec6e_0_525"/>
          <p:cNvSpPr/>
          <p:nvPr/>
        </p:nvSpPr>
        <p:spPr>
          <a:xfrm>
            <a:off x="4765500" y="2960600"/>
            <a:ext cx="6588000" cy="22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Registers</a:t>
            </a:r>
            <a:endParaRPr/>
          </a:p>
        </p:txBody>
      </p:sp>
      <p:sp>
        <p:nvSpPr>
          <p:cNvPr id="271" name="Google Shape;271;g38b2712ec6e_0_525"/>
          <p:cNvSpPr/>
          <p:nvPr/>
        </p:nvSpPr>
        <p:spPr>
          <a:xfrm>
            <a:off x="4765499" y="1690698"/>
            <a:ext cx="658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g38b2712ec6e_0_525"/>
          <p:cNvSpPr/>
          <p:nvPr/>
        </p:nvSpPr>
        <p:spPr>
          <a:xfrm>
            <a:off x="4765500" y="3182300"/>
            <a:ext cx="6588000" cy="788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SRAM</a:t>
            </a:r>
            <a:endParaRPr/>
          </a:p>
        </p:txBody>
      </p:sp>
      <p:sp>
        <p:nvSpPr>
          <p:cNvPr id="273" name="Google Shape;273;g38b2712ec6e_0_525"/>
          <p:cNvSpPr txBox="1"/>
          <p:nvPr/>
        </p:nvSpPr>
        <p:spPr>
          <a:xfrm>
            <a:off x="0" y="2017848"/>
            <a:ext cx="1008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Compute Unit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74" name="Google Shape;274;g38b2712ec6e_0_525"/>
          <p:cNvSpPr/>
          <p:nvPr/>
        </p:nvSpPr>
        <p:spPr>
          <a:xfrm>
            <a:off x="1008899" y="1690698"/>
            <a:ext cx="1008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275" name="Google Shape;275;g38b2712ec6e_0_525"/>
          <p:cNvSpPr/>
          <p:nvPr/>
        </p:nvSpPr>
        <p:spPr>
          <a:xfrm>
            <a:off x="20178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276" name="Google Shape;276;g38b2712ec6e_0_525"/>
          <p:cNvSpPr/>
          <p:nvPr/>
        </p:nvSpPr>
        <p:spPr>
          <a:xfrm>
            <a:off x="2653500" y="1690698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 / Float</a:t>
            </a:r>
            <a:endParaRPr/>
          </a:p>
        </p:txBody>
      </p:sp>
      <p:sp>
        <p:nvSpPr>
          <p:cNvPr id="277" name="Google Shape;277;g38b2712ec6e_0_525"/>
          <p:cNvSpPr/>
          <p:nvPr/>
        </p:nvSpPr>
        <p:spPr>
          <a:xfrm>
            <a:off x="3288900" y="1690698"/>
            <a:ext cx="10746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SIMD</a:t>
            </a:r>
            <a:endParaRPr/>
          </a:p>
        </p:txBody>
      </p:sp>
      <p:sp>
        <p:nvSpPr>
          <p:cNvPr id="278" name="Google Shape;278;g38b2712ec6e_0_525"/>
          <p:cNvSpPr/>
          <p:nvPr/>
        </p:nvSpPr>
        <p:spPr>
          <a:xfrm>
            <a:off x="4765325" y="1693373"/>
            <a:ext cx="635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Front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End</a:t>
            </a:r>
            <a:endParaRPr/>
          </a:p>
        </p:txBody>
      </p:sp>
      <p:sp>
        <p:nvSpPr>
          <p:cNvPr id="279" name="Google Shape;279;g38b2712ec6e_0_525"/>
          <p:cNvSpPr/>
          <p:nvPr/>
        </p:nvSpPr>
        <p:spPr>
          <a:xfrm>
            <a:off x="5401025" y="1693373"/>
            <a:ext cx="12429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Load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Store</a:t>
            </a:r>
            <a:endParaRPr/>
          </a:p>
        </p:txBody>
      </p:sp>
      <p:sp>
        <p:nvSpPr>
          <p:cNvPr id="280" name="Google Shape;280;g38b2712ec6e_0_525"/>
          <p:cNvSpPr/>
          <p:nvPr/>
        </p:nvSpPr>
        <p:spPr>
          <a:xfrm>
            <a:off x="6643800" y="1693373"/>
            <a:ext cx="4014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</a:t>
            </a:r>
            <a:endParaRPr/>
          </a:p>
        </p:txBody>
      </p:sp>
      <p:sp>
        <p:nvSpPr>
          <p:cNvPr id="281" name="Google Shape;281;g38b2712ec6e_0_525"/>
          <p:cNvSpPr txBox="1"/>
          <p:nvPr/>
        </p:nvSpPr>
        <p:spPr>
          <a:xfrm>
            <a:off x="661350" y="5566750"/>
            <a:ext cx="110289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 dirty="0">
                <a:solidFill>
                  <a:schemeClr val="dk1"/>
                </a:solidFill>
              </a:rPr>
              <a:t>Implicit Parallelism: Compiler-driven &amp; application-specific</a:t>
            </a:r>
            <a:endParaRPr sz="2400" dirty="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 dirty="0">
                <a:solidFill>
                  <a:schemeClr val="dk1"/>
                </a:solidFill>
              </a:rPr>
              <a:t>Specialized Core: Large N-d matrix / tensor processing, systolic arrays…</a:t>
            </a:r>
            <a:endParaRPr sz="2400" dirty="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 dirty="0">
                <a:solidFill>
                  <a:schemeClr val="dk1"/>
                </a:solidFill>
              </a:rPr>
              <a:t>Non-Uniform Memory: Compiler managed high-speed on-chip memory</a:t>
            </a:r>
            <a:endParaRPr sz="2400" dirty="0">
              <a:solidFill>
                <a:schemeClr val="dk1"/>
              </a:solidFill>
            </a:endParaRPr>
          </a:p>
        </p:txBody>
      </p:sp>
      <p:sp>
        <p:nvSpPr>
          <p:cNvPr id="282" name="Google Shape;282;g38b2712ec6e_0_525"/>
          <p:cNvSpPr/>
          <p:nvPr/>
        </p:nvSpPr>
        <p:spPr>
          <a:xfrm>
            <a:off x="7045325" y="1693373"/>
            <a:ext cx="4308000" cy="12699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Tensor Processors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8b2712ec6e_0_55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Primitives</a:t>
            </a:r>
            <a:endParaRPr/>
          </a:p>
        </p:txBody>
      </p:sp>
      <p:pic>
        <p:nvPicPr>
          <p:cNvPr id="289" name="Google Shape;289;g38b2712ec6e_0_553"/>
          <p:cNvPicPr preferRelativeResize="0"/>
          <p:nvPr/>
        </p:nvPicPr>
        <p:blipFill rotWithShape="1">
          <a:blip r:embed="rId3">
            <a:alphaModFix/>
          </a:blip>
          <a:srcRect t="16819"/>
          <a:stretch/>
        </p:blipFill>
        <p:spPr>
          <a:xfrm>
            <a:off x="205325" y="2622326"/>
            <a:ext cx="11887200" cy="2740375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g38b2712ec6e_0_553"/>
          <p:cNvSpPr txBox="1"/>
          <p:nvPr/>
        </p:nvSpPr>
        <p:spPr>
          <a:xfrm>
            <a:off x="0" y="6519300"/>
            <a:ext cx="7924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00">
                <a:solidFill>
                  <a:schemeClr val="dk1"/>
                </a:solidFill>
              </a:rPr>
              <a:t>https://www.databasemart.com/blog/cpu-gpu-tpu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8b2712ec6e_0_60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/>
              <a:t>Real computers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8b2712ec6e_0_5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on a modern SoC</a:t>
            </a:r>
            <a:endParaRPr/>
          </a:p>
        </p:txBody>
      </p:sp>
      <p:sp>
        <p:nvSpPr>
          <p:cNvPr id="302" name="Google Shape;302;g38b2712ec6e_0_519"/>
          <p:cNvSpPr/>
          <p:nvPr/>
        </p:nvSpPr>
        <p:spPr>
          <a:xfrm rot="5400000">
            <a:off x="950650" y="3090375"/>
            <a:ext cx="3345300" cy="357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Interconnect</a:t>
            </a:r>
            <a:endParaRPr/>
          </a:p>
        </p:txBody>
      </p:sp>
      <p:sp>
        <p:nvSpPr>
          <p:cNvPr id="303" name="Google Shape;303;g38b2712ec6e_0_519"/>
          <p:cNvSpPr/>
          <p:nvPr/>
        </p:nvSpPr>
        <p:spPr>
          <a:xfrm>
            <a:off x="977400" y="5303275"/>
            <a:ext cx="4353900" cy="9060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DRAM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4" name="Google Shape;304;g38b2712ec6e_0_519"/>
          <p:cNvSpPr/>
          <p:nvPr/>
        </p:nvSpPr>
        <p:spPr>
          <a:xfrm>
            <a:off x="977400" y="4038475"/>
            <a:ext cx="965700" cy="906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Big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5" name="Google Shape;305;g38b2712ec6e_0_519"/>
          <p:cNvSpPr/>
          <p:nvPr/>
        </p:nvSpPr>
        <p:spPr>
          <a:xfrm>
            <a:off x="977400" y="3406325"/>
            <a:ext cx="965700" cy="6324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Mid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6" name="Google Shape;306;g38b2712ec6e_0_519"/>
          <p:cNvSpPr/>
          <p:nvPr/>
        </p:nvSpPr>
        <p:spPr>
          <a:xfrm>
            <a:off x="977400" y="2773925"/>
            <a:ext cx="965700" cy="6324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Mid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7" name="Google Shape;307;g38b2712ec6e_0_519"/>
          <p:cNvSpPr/>
          <p:nvPr/>
        </p:nvSpPr>
        <p:spPr>
          <a:xfrm>
            <a:off x="977400" y="2141525"/>
            <a:ext cx="965700" cy="6324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Mid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8" name="Google Shape;308;g38b2712ec6e_0_519"/>
          <p:cNvSpPr/>
          <p:nvPr/>
        </p:nvSpPr>
        <p:spPr>
          <a:xfrm>
            <a:off x="977400" y="1869075"/>
            <a:ext cx="965700" cy="27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Tiny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09" name="Google Shape;309;g38b2712ec6e_0_519"/>
          <p:cNvSpPr/>
          <p:nvPr/>
        </p:nvSpPr>
        <p:spPr>
          <a:xfrm>
            <a:off x="977400" y="1596375"/>
            <a:ext cx="965700" cy="27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Tiny CPU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10" name="Google Shape;310;g38b2712ec6e_0_519"/>
          <p:cNvSpPr/>
          <p:nvPr/>
        </p:nvSpPr>
        <p:spPr>
          <a:xfrm>
            <a:off x="3185300" y="3055375"/>
            <a:ext cx="2145900" cy="906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GPU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11" name="Google Shape;311;g38b2712ec6e_0_519"/>
          <p:cNvSpPr/>
          <p:nvPr/>
        </p:nvSpPr>
        <p:spPr>
          <a:xfrm>
            <a:off x="3185300" y="4147875"/>
            <a:ext cx="2145900" cy="7938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NPU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12" name="Google Shape;312;g38b2712ec6e_0_519"/>
          <p:cNvCxnSpPr>
            <a:stCxn id="302" idx="3"/>
          </p:cNvCxnSpPr>
          <p:nvPr/>
        </p:nvCxnSpPr>
        <p:spPr>
          <a:xfrm>
            <a:off x="2623300" y="4941675"/>
            <a:ext cx="0" cy="33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13" name="Google Shape;313;g38b2712ec6e_0_519"/>
          <p:cNvCxnSpPr/>
          <p:nvPr/>
        </p:nvCxnSpPr>
        <p:spPr>
          <a:xfrm>
            <a:off x="2061300" y="309012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14" name="Google Shape;314;g38b2712ec6e_0_519"/>
          <p:cNvSpPr/>
          <p:nvPr/>
        </p:nvSpPr>
        <p:spPr>
          <a:xfrm rot="5400000">
            <a:off x="324900" y="3209933"/>
            <a:ext cx="3354600" cy="118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5" name="Google Shape;315;g38b2712ec6e_0_519"/>
          <p:cNvCxnSpPr/>
          <p:nvPr/>
        </p:nvCxnSpPr>
        <p:spPr>
          <a:xfrm>
            <a:off x="2790800" y="35083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316" name="Google Shape;316;g38b2712ec6e_0_519"/>
          <p:cNvCxnSpPr/>
          <p:nvPr/>
        </p:nvCxnSpPr>
        <p:spPr>
          <a:xfrm>
            <a:off x="2790800" y="44914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17" name="Google Shape;317;g38b2712ec6e_0_519"/>
          <p:cNvSpPr/>
          <p:nvPr/>
        </p:nvSpPr>
        <p:spPr>
          <a:xfrm>
            <a:off x="3185300" y="2773925"/>
            <a:ext cx="2145900" cy="171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Audio DSP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18" name="Google Shape;318;g38b2712ec6e_0_519"/>
          <p:cNvCxnSpPr/>
          <p:nvPr/>
        </p:nvCxnSpPr>
        <p:spPr>
          <a:xfrm>
            <a:off x="2790800" y="285942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19" name="Google Shape;319;g38b2712ec6e_0_519"/>
          <p:cNvSpPr/>
          <p:nvPr/>
        </p:nvSpPr>
        <p:spPr>
          <a:xfrm>
            <a:off x="3185300" y="2492475"/>
            <a:ext cx="2145900" cy="171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Ambient CPU / DSP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20" name="Google Shape;320;g38b2712ec6e_0_519"/>
          <p:cNvCxnSpPr/>
          <p:nvPr/>
        </p:nvCxnSpPr>
        <p:spPr>
          <a:xfrm>
            <a:off x="2790800" y="25779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1" name="Google Shape;321;g38b2712ec6e_0_519"/>
          <p:cNvSpPr/>
          <p:nvPr/>
        </p:nvSpPr>
        <p:spPr>
          <a:xfrm>
            <a:off x="3185300" y="2127633"/>
            <a:ext cx="2145900" cy="2727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Camera ISP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22" name="Google Shape;322;g38b2712ec6e_0_519"/>
          <p:cNvCxnSpPr/>
          <p:nvPr/>
        </p:nvCxnSpPr>
        <p:spPr>
          <a:xfrm>
            <a:off x="2790800" y="2263975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3" name="Google Shape;323;g38b2712ec6e_0_519"/>
          <p:cNvSpPr/>
          <p:nvPr/>
        </p:nvSpPr>
        <p:spPr>
          <a:xfrm>
            <a:off x="3185300" y="1627978"/>
            <a:ext cx="2145900" cy="1710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>
                <a:solidFill>
                  <a:schemeClr val="dk1"/>
                </a:solidFill>
              </a:rPr>
              <a:t>Secure CPU</a:t>
            </a:r>
            <a:endParaRPr sz="1300">
              <a:solidFill>
                <a:schemeClr val="dk1"/>
              </a:solidFill>
            </a:endParaRPr>
          </a:p>
        </p:txBody>
      </p:sp>
      <p:cxnSp>
        <p:nvCxnSpPr>
          <p:cNvPr id="324" name="Google Shape;324;g38b2712ec6e_0_519"/>
          <p:cNvCxnSpPr/>
          <p:nvPr/>
        </p:nvCxnSpPr>
        <p:spPr>
          <a:xfrm>
            <a:off x="2801950" y="1634100"/>
            <a:ext cx="394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325" name="Google Shape;325;g38b2712ec6e_0_519"/>
          <p:cNvSpPr txBox="1"/>
          <p:nvPr/>
        </p:nvSpPr>
        <p:spPr>
          <a:xfrm>
            <a:off x="3917400" y="1655450"/>
            <a:ext cx="7977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100">
                <a:solidFill>
                  <a:schemeClr val="dk1"/>
                </a:solidFill>
              </a:rPr>
              <a:t>…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326" name="Google Shape;326;g38b2712ec6e_0_519"/>
          <p:cNvSpPr txBox="1"/>
          <p:nvPr/>
        </p:nvSpPr>
        <p:spPr>
          <a:xfrm>
            <a:off x="5714550" y="1591725"/>
            <a:ext cx="6034500" cy="27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Different processors specialized for different applications - for performance or power efficiency</a:t>
            </a:r>
            <a:endParaRPr sz="24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AutoNum type="arabicPeriod"/>
            </a:pPr>
            <a:r>
              <a:rPr lang="en-IN" sz="2400">
                <a:solidFill>
                  <a:schemeClr val="dk1"/>
                </a:solidFill>
              </a:rPr>
              <a:t>Different stages of a single computation run on different processors</a:t>
            </a: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g38b2712ec6e_0_6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600" y="695850"/>
            <a:ext cx="85725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g38b2712ec6e_0_613"/>
          <p:cNvSpPr/>
          <p:nvPr/>
        </p:nvSpPr>
        <p:spPr>
          <a:xfrm>
            <a:off x="8871375" y="695850"/>
            <a:ext cx="3157500" cy="27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/>
              <a:t>Random Scary Block Diagram</a:t>
            </a: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/>
              <a:t>(Snapdragon SoC)</a:t>
            </a:r>
            <a:endParaRPr sz="1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IN" sz="1600"/>
              <a:t>The full chip has hundreds of components …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IN" sz="1600"/>
              <a:t>Dozens of programmable CPUs / DSPs …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IN" sz="1600"/>
              <a:t>Each running a different operating system and custom firmware.</a:t>
            </a:r>
            <a:endParaRPr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8b2712ec6e_0_62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/>
              <a:t>Why Multicore?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Parallel Compute</a:t>
            </a:r>
            <a:endParaRPr/>
          </a:p>
        </p:txBody>
      </p:sp>
      <p:sp>
        <p:nvSpPr>
          <p:cNvPr id="345" name="Google Shape;345;p3"/>
          <p:cNvSpPr/>
          <p:nvPr/>
        </p:nvSpPr>
        <p:spPr>
          <a:xfrm>
            <a:off x="2732100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6" name="Google Shape;346;p3"/>
          <p:cNvSpPr/>
          <p:nvPr/>
        </p:nvSpPr>
        <p:spPr>
          <a:xfrm>
            <a:off x="4621925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7" name="Google Shape;347;p3"/>
          <p:cNvSpPr/>
          <p:nvPr/>
        </p:nvSpPr>
        <p:spPr>
          <a:xfrm>
            <a:off x="6511750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8" name="Google Shape;348;p3"/>
          <p:cNvSpPr/>
          <p:nvPr/>
        </p:nvSpPr>
        <p:spPr>
          <a:xfrm>
            <a:off x="8401575" y="28664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49" name="Google Shape;349;p3"/>
          <p:cNvSpPr txBox="1"/>
          <p:nvPr/>
        </p:nvSpPr>
        <p:spPr>
          <a:xfrm>
            <a:off x="924075" y="2860485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Single Core: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50" name="Google Shape;350;p3"/>
          <p:cNvSpPr txBox="1"/>
          <p:nvPr/>
        </p:nvSpPr>
        <p:spPr>
          <a:xfrm>
            <a:off x="924075" y="3776735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Multi Core: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51" name="Google Shape;351;p3"/>
          <p:cNvSpPr/>
          <p:nvPr/>
        </p:nvSpPr>
        <p:spPr>
          <a:xfrm>
            <a:off x="2732100" y="378273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52" name="Google Shape;352;p3"/>
          <p:cNvSpPr/>
          <p:nvPr/>
        </p:nvSpPr>
        <p:spPr>
          <a:xfrm>
            <a:off x="2732100" y="4223710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53" name="Google Shape;353;p3"/>
          <p:cNvSpPr/>
          <p:nvPr/>
        </p:nvSpPr>
        <p:spPr>
          <a:xfrm>
            <a:off x="2732100" y="4664685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54" name="Google Shape;354;p3"/>
          <p:cNvSpPr/>
          <p:nvPr/>
        </p:nvSpPr>
        <p:spPr>
          <a:xfrm>
            <a:off x="2732100" y="5105660"/>
            <a:ext cx="183450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cxnSp>
        <p:nvCxnSpPr>
          <p:cNvPr id="355" name="Google Shape;355;p3"/>
          <p:cNvCxnSpPr/>
          <p:nvPr/>
        </p:nvCxnSpPr>
        <p:spPr>
          <a:xfrm>
            <a:off x="2793800" y="2419510"/>
            <a:ext cx="7399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6" name="Google Shape;356;p3"/>
          <p:cNvSpPr txBox="1"/>
          <p:nvPr/>
        </p:nvSpPr>
        <p:spPr>
          <a:xfrm>
            <a:off x="6242175" y="2019310"/>
            <a:ext cx="66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Time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" name="Google Shape;363;g38b2712ec6e_0_645">
            <a:extLst>
              <a:ext uri="{FF2B5EF4-FFF2-40B4-BE49-F238E27FC236}">
                <a16:creationId xmlns:a16="http://schemas.microsoft.com/office/drawing/2014/main" id="{7FDE37C1-7800-FEB7-4416-98FA693470DD}"/>
              </a:ext>
            </a:extLst>
          </p:cNvPr>
          <p:cNvSpPr/>
          <p:nvPr/>
        </p:nvSpPr>
        <p:spPr>
          <a:xfrm>
            <a:off x="10364853" y="2866485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20 seconds</a:t>
            </a:r>
            <a:endParaRPr dirty="0"/>
          </a:p>
        </p:txBody>
      </p:sp>
      <p:sp>
        <p:nvSpPr>
          <p:cNvPr id="3" name="Google Shape;363;g38b2712ec6e_0_645">
            <a:extLst>
              <a:ext uri="{FF2B5EF4-FFF2-40B4-BE49-F238E27FC236}">
                <a16:creationId xmlns:a16="http://schemas.microsoft.com/office/drawing/2014/main" id="{64F7DC49-3392-CF4E-3EAA-63D722875434}"/>
              </a:ext>
            </a:extLst>
          </p:cNvPr>
          <p:cNvSpPr/>
          <p:nvPr/>
        </p:nvSpPr>
        <p:spPr>
          <a:xfrm>
            <a:off x="10364852" y="3776735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5 seconds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8b2712ec6e_0_64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IN"/>
              <a:t>Asynchronous Processing</a:t>
            </a:r>
            <a:endParaRPr/>
          </a:p>
        </p:txBody>
      </p:sp>
      <p:sp>
        <p:nvSpPr>
          <p:cNvPr id="363" name="Google Shape;363;g38b2712ec6e_0_645"/>
          <p:cNvSpPr/>
          <p:nvPr/>
        </p:nvSpPr>
        <p:spPr>
          <a:xfrm>
            <a:off x="2732099" y="2850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File Read</a:t>
            </a:r>
            <a:endParaRPr dirty="0"/>
          </a:p>
        </p:txBody>
      </p:sp>
      <p:sp>
        <p:nvSpPr>
          <p:cNvPr id="364" name="Google Shape;364;g38b2712ec6e_0_645"/>
          <p:cNvSpPr/>
          <p:nvPr/>
        </p:nvSpPr>
        <p:spPr>
          <a:xfrm>
            <a:off x="4935805" y="2844369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65" name="Google Shape;365;g38b2712ec6e_0_645"/>
          <p:cNvSpPr/>
          <p:nvPr/>
        </p:nvSpPr>
        <p:spPr>
          <a:xfrm>
            <a:off x="6352809" y="2844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File Read</a:t>
            </a:r>
            <a:endParaRPr/>
          </a:p>
        </p:txBody>
      </p:sp>
      <p:sp>
        <p:nvSpPr>
          <p:cNvPr id="366" name="Google Shape;366;g38b2712ec6e_0_645"/>
          <p:cNvSpPr txBox="1"/>
          <p:nvPr/>
        </p:nvSpPr>
        <p:spPr>
          <a:xfrm>
            <a:off x="924075" y="2844369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Single Core: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67" name="Google Shape;367;g38b2712ec6e_0_645"/>
          <p:cNvSpPr txBox="1"/>
          <p:nvPr/>
        </p:nvSpPr>
        <p:spPr>
          <a:xfrm>
            <a:off x="924075" y="3588640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Multi Core:</a:t>
            </a:r>
            <a:endParaRPr dirty="0">
              <a:solidFill>
                <a:schemeClr val="dk1"/>
              </a:solidFill>
            </a:endParaRPr>
          </a:p>
        </p:txBody>
      </p:sp>
      <p:cxnSp>
        <p:nvCxnSpPr>
          <p:cNvPr id="368" name="Google Shape;368;g38b2712ec6e_0_645"/>
          <p:cNvCxnSpPr/>
          <p:nvPr/>
        </p:nvCxnSpPr>
        <p:spPr>
          <a:xfrm>
            <a:off x="2793800" y="2403394"/>
            <a:ext cx="7399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69" name="Google Shape;369;g38b2712ec6e_0_645"/>
          <p:cNvSpPr txBox="1"/>
          <p:nvPr/>
        </p:nvSpPr>
        <p:spPr>
          <a:xfrm>
            <a:off x="6242175" y="2003194"/>
            <a:ext cx="66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>
                <a:solidFill>
                  <a:schemeClr val="dk1"/>
                </a:solidFill>
              </a:rPr>
              <a:t>Time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70" name="Google Shape;370;g38b2712ec6e_0_645"/>
          <p:cNvSpPr/>
          <p:nvPr/>
        </p:nvSpPr>
        <p:spPr>
          <a:xfrm>
            <a:off x="8556515" y="2844369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371" name="Google Shape;371;g38b2712ec6e_0_645"/>
          <p:cNvSpPr/>
          <p:nvPr/>
        </p:nvSpPr>
        <p:spPr>
          <a:xfrm>
            <a:off x="2732099" y="3594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File Read</a:t>
            </a:r>
            <a:endParaRPr dirty="0"/>
          </a:p>
        </p:txBody>
      </p:sp>
      <p:sp>
        <p:nvSpPr>
          <p:cNvPr id="372" name="Google Shape;372;g38b2712ec6e_0_645"/>
          <p:cNvSpPr/>
          <p:nvPr/>
        </p:nvSpPr>
        <p:spPr>
          <a:xfrm>
            <a:off x="4935804" y="4080365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373" name="Google Shape;373;g38b2712ec6e_0_645"/>
          <p:cNvSpPr/>
          <p:nvPr/>
        </p:nvSpPr>
        <p:spPr>
          <a:xfrm>
            <a:off x="4935804" y="3588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File Read</a:t>
            </a:r>
            <a:endParaRPr dirty="0"/>
          </a:p>
        </p:txBody>
      </p:sp>
      <p:sp>
        <p:nvSpPr>
          <p:cNvPr id="374" name="Google Shape;374;g38b2712ec6e_0_645"/>
          <p:cNvSpPr/>
          <p:nvPr/>
        </p:nvSpPr>
        <p:spPr>
          <a:xfrm>
            <a:off x="7081847" y="4080365"/>
            <a:ext cx="1359341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Compute Task</a:t>
            </a:r>
            <a:endParaRPr/>
          </a:p>
        </p:txBody>
      </p:sp>
      <p:sp>
        <p:nvSpPr>
          <p:cNvPr id="2" name="Google Shape;363;g38b2712ec6e_0_645">
            <a:extLst>
              <a:ext uri="{FF2B5EF4-FFF2-40B4-BE49-F238E27FC236}">
                <a16:creationId xmlns:a16="http://schemas.microsoft.com/office/drawing/2014/main" id="{7882F9A4-71E2-88E3-9892-85F01DAAA3D0}"/>
              </a:ext>
            </a:extLst>
          </p:cNvPr>
          <p:cNvSpPr/>
          <p:nvPr/>
        </p:nvSpPr>
        <p:spPr>
          <a:xfrm>
            <a:off x="10364852" y="2844369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20 seconds</a:t>
            </a:r>
            <a:endParaRPr dirty="0"/>
          </a:p>
        </p:txBody>
      </p:sp>
      <p:sp>
        <p:nvSpPr>
          <p:cNvPr id="3" name="Google Shape;363;g38b2712ec6e_0_645">
            <a:extLst>
              <a:ext uri="{FF2B5EF4-FFF2-40B4-BE49-F238E27FC236}">
                <a16:creationId xmlns:a16="http://schemas.microsoft.com/office/drawing/2014/main" id="{1060F3E2-6579-DE36-2819-572D8349A734}"/>
              </a:ext>
            </a:extLst>
          </p:cNvPr>
          <p:cNvSpPr/>
          <p:nvPr/>
        </p:nvSpPr>
        <p:spPr>
          <a:xfrm>
            <a:off x="10364852" y="3588640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15 seconds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79C08-B5B9-1C42-6D03-656F72858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Amdahl's Law</a:t>
            </a:r>
          </a:p>
        </p:txBody>
      </p:sp>
      <p:sp>
        <p:nvSpPr>
          <p:cNvPr id="5" name="Google Shape;363;g38b2712ec6e_0_645">
            <a:extLst>
              <a:ext uri="{FF2B5EF4-FFF2-40B4-BE49-F238E27FC236}">
                <a16:creationId xmlns:a16="http://schemas.microsoft.com/office/drawing/2014/main" id="{3A65CD71-2EBC-A675-A490-45BE1960C5F2}"/>
              </a:ext>
            </a:extLst>
          </p:cNvPr>
          <p:cNvSpPr/>
          <p:nvPr/>
        </p:nvSpPr>
        <p:spPr>
          <a:xfrm>
            <a:off x="2732099" y="2850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Read Input</a:t>
            </a:r>
            <a:endParaRPr dirty="0"/>
          </a:p>
        </p:txBody>
      </p:sp>
      <p:sp>
        <p:nvSpPr>
          <p:cNvPr id="6" name="Google Shape;364;g38b2712ec6e_0_645">
            <a:extLst>
              <a:ext uri="{FF2B5EF4-FFF2-40B4-BE49-F238E27FC236}">
                <a16:creationId xmlns:a16="http://schemas.microsoft.com/office/drawing/2014/main" id="{C3545CD7-3927-FFE0-8954-AC7D961EC240}"/>
              </a:ext>
            </a:extLst>
          </p:cNvPr>
          <p:cNvSpPr/>
          <p:nvPr/>
        </p:nvSpPr>
        <p:spPr>
          <a:xfrm>
            <a:off x="4935804" y="2850369"/>
            <a:ext cx="2770130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7" name="Google Shape;365;g38b2712ec6e_0_645">
            <a:extLst>
              <a:ext uri="{FF2B5EF4-FFF2-40B4-BE49-F238E27FC236}">
                <a16:creationId xmlns:a16="http://schemas.microsoft.com/office/drawing/2014/main" id="{00065644-38EA-6CAF-878F-33A7AD4B4460}"/>
              </a:ext>
            </a:extLst>
          </p:cNvPr>
          <p:cNvSpPr/>
          <p:nvPr/>
        </p:nvSpPr>
        <p:spPr>
          <a:xfrm>
            <a:off x="7761517" y="2850369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Write Output</a:t>
            </a:r>
            <a:endParaRPr dirty="0"/>
          </a:p>
        </p:txBody>
      </p:sp>
      <p:sp>
        <p:nvSpPr>
          <p:cNvPr id="8" name="Google Shape;366;g38b2712ec6e_0_645">
            <a:extLst>
              <a:ext uri="{FF2B5EF4-FFF2-40B4-BE49-F238E27FC236}">
                <a16:creationId xmlns:a16="http://schemas.microsoft.com/office/drawing/2014/main" id="{DCD0A31D-F881-9ADB-19D3-0B91B1BA81F0}"/>
              </a:ext>
            </a:extLst>
          </p:cNvPr>
          <p:cNvSpPr txBox="1"/>
          <p:nvPr/>
        </p:nvSpPr>
        <p:spPr>
          <a:xfrm>
            <a:off x="924075" y="2844369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1 Core: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9" name="Google Shape;367;g38b2712ec6e_0_645">
            <a:extLst>
              <a:ext uri="{FF2B5EF4-FFF2-40B4-BE49-F238E27FC236}">
                <a16:creationId xmlns:a16="http://schemas.microsoft.com/office/drawing/2014/main" id="{970EB219-11E9-4089-5CA2-37870D2AC3C7}"/>
              </a:ext>
            </a:extLst>
          </p:cNvPr>
          <p:cNvSpPr txBox="1"/>
          <p:nvPr/>
        </p:nvSpPr>
        <p:spPr>
          <a:xfrm>
            <a:off x="924075" y="3588640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2 Cores:</a:t>
            </a:r>
            <a:endParaRPr dirty="0">
              <a:solidFill>
                <a:schemeClr val="dk1"/>
              </a:solidFill>
            </a:endParaRPr>
          </a:p>
        </p:txBody>
      </p:sp>
      <p:cxnSp>
        <p:nvCxnSpPr>
          <p:cNvPr id="10" name="Google Shape;368;g38b2712ec6e_0_645">
            <a:extLst>
              <a:ext uri="{FF2B5EF4-FFF2-40B4-BE49-F238E27FC236}">
                <a16:creationId xmlns:a16="http://schemas.microsoft.com/office/drawing/2014/main" id="{8335CAAC-4710-58F6-6C9B-37AEAA8A47A4}"/>
              </a:ext>
            </a:extLst>
          </p:cNvPr>
          <p:cNvCxnSpPr/>
          <p:nvPr/>
        </p:nvCxnSpPr>
        <p:spPr>
          <a:xfrm>
            <a:off x="2793800" y="2403394"/>
            <a:ext cx="7399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369;g38b2712ec6e_0_645">
            <a:extLst>
              <a:ext uri="{FF2B5EF4-FFF2-40B4-BE49-F238E27FC236}">
                <a16:creationId xmlns:a16="http://schemas.microsoft.com/office/drawing/2014/main" id="{DD96C1B5-C882-3BCE-5037-D68052D926A1}"/>
              </a:ext>
            </a:extLst>
          </p:cNvPr>
          <p:cNvSpPr txBox="1"/>
          <p:nvPr/>
        </p:nvSpPr>
        <p:spPr>
          <a:xfrm>
            <a:off x="6242175" y="2003194"/>
            <a:ext cx="661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Time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17" name="Google Shape;363;g38b2712ec6e_0_645">
            <a:extLst>
              <a:ext uri="{FF2B5EF4-FFF2-40B4-BE49-F238E27FC236}">
                <a16:creationId xmlns:a16="http://schemas.microsoft.com/office/drawing/2014/main" id="{F4401DAB-772D-4F78-19BE-16BE03149BD6}"/>
              </a:ext>
            </a:extLst>
          </p:cNvPr>
          <p:cNvSpPr/>
          <p:nvPr/>
        </p:nvSpPr>
        <p:spPr>
          <a:xfrm>
            <a:off x="2732098" y="3588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Read Input</a:t>
            </a:r>
            <a:endParaRPr dirty="0"/>
          </a:p>
        </p:txBody>
      </p:sp>
      <p:sp>
        <p:nvSpPr>
          <p:cNvPr id="18" name="Google Shape;365;g38b2712ec6e_0_645">
            <a:extLst>
              <a:ext uri="{FF2B5EF4-FFF2-40B4-BE49-F238E27FC236}">
                <a16:creationId xmlns:a16="http://schemas.microsoft.com/office/drawing/2014/main" id="{CEC15C88-3084-17E5-F764-5D1EF8EA88D0}"/>
              </a:ext>
            </a:extLst>
          </p:cNvPr>
          <p:cNvSpPr/>
          <p:nvPr/>
        </p:nvSpPr>
        <p:spPr>
          <a:xfrm>
            <a:off x="6340160" y="3588640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Write Output</a:t>
            </a:r>
            <a:endParaRPr dirty="0"/>
          </a:p>
        </p:txBody>
      </p:sp>
      <p:sp>
        <p:nvSpPr>
          <p:cNvPr id="19" name="Google Shape;364;g38b2712ec6e_0_645">
            <a:extLst>
              <a:ext uri="{FF2B5EF4-FFF2-40B4-BE49-F238E27FC236}">
                <a16:creationId xmlns:a16="http://schemas.microsoft.com/office/drawing/2014/main" id="{429A7406-DE06-97AC-7F58-E3D5D3F7A4ED}"/>
              </a:ext>
            </a:extLst>
          </p:cNvPr>
          <p:cNvSpPr/>
          <p:nvPr/>
        </p:nvSpPr>
        <p:spPr>
          <a:xfrm>
            <a:off x="4935804" y="3588640"/>
            <a:ext cx="1346693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20" name="Google Shape;364;g38b2712ec6e_0_645">
            <a:extLst>
              <a:ext uri="{FF2B5EF4-FFF2-40B4-BE49-F238E27FC236}">
                <a16:creationId xmlns:a16="http://schemas.microsoft.com/office/drawing/2014/main" id="{5787D8E7-5BCD-0B75-618F-83DBF6327F3F}"/>
              </a:ext>
            </a:extLst>
          </p:cNvPr>
          <p:cNvSpPr/>
          <p:nvPr/>
        </p:nvSpPr>
        <p:spPr>
          <a:xfrm>
            <a:off x="4935804" y="4035614"/>
            <a:ext cx="1346693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Compute Task</a:t>
            </a:r>
            <a:endParaRPr dirty="0"/>
          </a:p>
        </p:txBody>
      </p:sp>
      <p:sp>
        <p:nvSpPr>
          <p:cNvPr id="21" name="Google Shape;367;g38b2712ec6e_0_645">
            <a:extLst>
              <a:ext uri="{FF2B5EF4-FFF2-40B4-BE49-F238E27FC236}">
                <a16:creationId xmlns:a16="http://schemas.microsoft.com/office/drawing/2014/main" id="{FFAF345C-04F2-F158-1BDC-82BBC5B6B2CB}"/>
              </a:ext>
            </a:extLst>
          </p:cNvPr>
          <p:cNvSpPr txBox="1"/>
          <p:nvPr/>
        </p:nvSpPr>
        <p:spPr>
          <a:xfrm>
            <a:off x="924075" y="4619186"/>
            <a:ext cx="1393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>
                <a:solidFill>
                  <a:schemeClr val="dk1"/>
                </a:solidFill>
              </a:rPr>
              <a:t>∞ Cores: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2" name="Google Shape;363;g38b2712ec6e_0_645">
            <a:extLst>
              <a:ext uri="{FF2B5EF4-FFF2-40B4-BE49-F238E27FC236}">
                <a16:creationId xmlns:a16="http://schemas.microsoft.com/office/drawing/2014/main" id="{4B048164-FC78-AF74-52E0-9C39E2BE8C24}"/>
              </a:ext>
            </a:extLst>
          </p:cNvPr>
          <p:cNvSpPr/>
          <p:nvPr/>
        </p:nvSpPr>
        <p:spPr>
          <a:xfrm>
            <a:off x="2732097" y="4619186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Read Input</a:t>
            </a:r>
            <a:endParaRPr dirty="0"/>
          </a:p>
        </p:txBody>
      </p:sp>
      <p:sp>
        <p:nvSpPr>
          <p:cNvPr id="23" name="Google Shape;364;g38b2712ec6e_0_645">
            <a:extLst>
              <a:ext uri="{FF2B5EF4-FFF2-40B4-BE49-F238E27FC236}">
                <a16:creationId xmlns:a16="http://schemas.microsoft.com/office/drawing/2014/main" id="{148D1185-71A7-16C5-5C92-429806AA0026}"/>
              </a:ext>
            </a:extLst>
          </p:cNvPr>
          <p:cNvSpPr/>
          <p:nvPr/>
        </p:nvSpPr>
        <p:spPr>
          <a:xfrm>
            <a:off x="4927748" y="46191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" name="Google Shape;364;g38b2712ec6e_0_645">
            <a:extLst>
              <a:ext uri="{FF2B5EF4-FFF2-40B4-BE49-F238E27FC236}">
                <a16:creationId xmlns:a16="http://schemas.microsoft.com/office/drawing/2014/main" id="{C21ABB68-4D67-4F68-8E79-F9C8AEF4F67A}"/>
              </a:ext>
            </a:extLst>
          </p:cNvPr>
          <p:cNvSpPr/>
          <p:nvPr/>
        </p:nvSpPr>
        <p:spPr>
          <a:xfrm>
            <a:off x="4927747" y="50193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" name="Google Shape;364;g38b2712ec6e_0_645">
            <a:extLst>
              <a:ext uri="{FF2B5EF4-FFF2-40B4-BE49-F238E27FC236}">
                <a16:creationId xmlns:a16="http://schemas.microsoft.com/office/drawing/2014/main" id="{65E8BB18-83A8-1E5B-792C-DFCAA30427A4}"/>
              </a:ext>
            </a:extLst>
          </p:cNvPr>
          <p:cNvSpPr/>
          <p:nvPr/>
        </p:nvSpPr>
        <p:spPr>
          <a:xfrm>
            <a:off x="4927746" y="54195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" name="Google Shape;364;g38b2712ec6e_0_645">
            <a:extLst>
              <a:ext uri="{FF2B5EF4-FFF2-40B4-BE49-F238E27FC236}">
                <a16:creationId xmlns:a16="http://schemas.microsoft.com/office/drawing/2014/main" id="{ED9EFB65-6D27-7474-8436-11EC5720C515}"/>
              </a:ext>
            </a:extLst>
          </p:cNvPr>
          <p:cNvSpPr/>
          <p:nvPr/>
        </p:nvSpPr>
        <p:spPr>
          <a:xfrm>
            <a:off x="4927746" y="5819786"/>
            <a:ext cx="45719" cy="388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" name="Google Shape;365;g38b2712ec6e_0_645">
            <a:extLst>
              <a:ext uri="{FF2B5EF4-FFF2-40B4-BE49-F238E27FC236}">
                <a16:creationId xmlns:a16="http://schemas.microsoft.com/office/drawing/2014/main" id="{FFE05051-27BD-1504-DF03-CC7D519FC0F2}"/>
              </a:ext>
            </a:extLst>
          </p:cNvPr>
          <p:cNvSpPr/>
          <p:nvPr/>
        </p:nvSpPr>
        <p:spPr>
          <a:xfrm>
            <a:off x="5022978" y="4619186"/>
            <a:ext cx="2146043" cy="3882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Write Output</a:t>
            </a:r>
            <a:endParaRPr dirty="0"/>
          </a:p>
        </p:txBody>
      </p:sp>
      <p:sp>
        <p:nvSpPr>
          <p:cNvPr id="29" name="Google Shape;363;g38b2712ec6e_0_645">
            <a:extLst>
              <a:ext uri="{FF2B5EF4-FFF2-40B4-BE49-F238E27FC236}">
                <a16:creationId xmlns:a16="http://schemas.microsoft.com/office/drawing/2014/main" id="{6B82CF05-6781-D0C3-AD66-26CEEE15680B}"/>
              </a:ext>
            </a:extLst>
          </p:cNvPr>
          <p:cNvSpPr/>
          <p:nvPr/>
        </p:nvSpPr>
        <p:spPr>
          <a:xfrm>
            <a:off x="10155387" y="2850369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20 seconds</a:t>
            </a:r>
            <a:endParaRPr dirty="0"/>
          </a:p>
        </p:txBody>
      </p:sp>
      <p:sp>
        <p:nvSpPr>
          <p:cNvPr id="30" name="Google Shape;363;g38b2712ec6e_0_645">
            <a:extLst>
              <a:ext uri="{FF2B5EF4-FFF2-40B4-BE49-F238E27FC236}">
                <a16:creationId xmlns:a16="http://schemas.microsoft.com/office/drawing/2014/main" id="{0EB357BE-0A74-3854-B21B-8CD9709C91D8}"/>
              </a:ext>
            </a:extLst>
          </p:cNvPr>
          <p:cNvSpPr/>
          <p:nvPr/>
        </p:nvSpPr>
        <p:spPr>
          <a:xfrm>
            <a:off x="10155387" y="3588640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16 seconds</a:t>
            </a:r>
            <a:endParaRPr dirty="0"/>
          </a:p>
        </p:txBody>
      </p:sp>
      <p:sp>
        <p:nvSpPr>
          <p:cNvPr id="31" name="Google Shape;363;g38b2712ec6e_0_645">
            <a:extLst>
              <a:ext uri="{FF2B5EF4-FFF2-40B4-BE49-F238E27FC236}">
                <a16:creationId xmlns:a16="http://schemas.microsoft.com/office/drawing/2014/main" id="{D4A962D1-FBE4-A0A2-5A24-F1D1D342B0D7}"/>
              </a:ext>
            </a:extLst>
          </p:cNvPr>
          <p:cNvSpPr/>
          <p:nvPr/>
        </p:nvSpPr>
        <p:spPr>
          <a:xfrm>
            <a:off x="10155386" y="4619186"/>
            <a:ext cx="1112537" cy="388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IN" dirty="0"/>
              <a:t>12 seconds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201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>
          <a:extLst>
            <a:ext uri="{FF2B5EF4-FFF2-40B4-BE49-F238E27FC236}">
              <a16:creationId xmlns:a16="http://schemas.microsoft.com/office/drawing/2014/main" id="{13D72086-AD5D-180C-C0DA-93C9D8D29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8b2712ec6e_0_623">
            <a:extLst>
              <a:ext uri="{FF2B5EF4-FFF2-40B4-BE49-F238E27FC236}">
                <a16:creationId xmlns:a16="http://schemas.microsoft.com/office/drawing/2014/main" id="{925221A0-F394-35D0-1EFF-36454C82D9D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IN" dirty="0"/>
              <a:t>Example</a:t>
            </a:r>
            <a:endParaRPr dirty="0"/>
          </a:p>
        </p:txBody>
      </p:sp>
      <p:sp>
        <p:nvSpPr>
          <p:cNvPr id="2" name="Google Shape;89;p1">
            <a:extLst>
              <a:ext uri="{FF2B5EF4-FFF2-40B4-BE49-F238E27FC236}">
                <a16:creationId xmlns:a16="http://schemas.microsoft.com/office/drawing/2014/main" id="{C9A6DFD6-AC49-97B7-944C-E03FB898805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 dirty="0"/>
              <a:t>#1: N-Body Simulation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8816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0EB72-40E8-2AF2-94CD-C2787512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F304A-1B25-675F-5B81-51E56C1EB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N-Body Simulation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F578-8555-A231-0265-C8FB9B9AA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90688"/>
            <a:ext cx="6573520" cy="2477135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IN" sz="1800" dirty="0"/>
              <a:t>Simulate gravity between ‘n’ point objects in 2D space:</a:t>
            </a:r>
          </a:p>
          <a:p>
            <a:pPr marL="114300" indent="0">
              <a:buNone/>
            </a:pPr>
            <a:r>
              <a:rPr lang="en-IN" sz="1800" dirty="0"/>
              <a:t>In a for-loop, advance a time variable:</a:t>
            </a:r>
          </a:p>
          <a:p>
            <a:r>
              <a:rPr lang="en-IN" sz="1800" dirty="0"/>
              <a:t>Calculate the force on each point due to every other point.</a:t>
            </a:r>
          </a:p>
          <a:p>
            <a:r>
              <a:rPr lang="en-IN" sz="1800" dirty="0"/>
              <a:t>Calculate the acceleration due to this force on each point.</a:t>
            </a:r>
          </a:p>
          <a:p>
            <a:r>
              <a:rPr lang="en-IN" sz="1800" dirty="0"/>
              <a:t>Calculate velocity of each point based on elapsed time.</a:t>
            </a:r>
          </a:p>
          <a:p>
            <a:r>
              <a:rPr lang="en-IN" sz="1800" dirty="0"/>
              <a:t>Calculate position of each point based on elapsed time.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0A137E-756B-B639-6223-E38404ECC377}"/>
              </a:ext>
            </a:extLst>
          </p:cNvPr>
          <p:cNvSpPr txBox="1"/>
          <p:nvPr/>
        </p:nvSpPr>
        <p:spPr>
          <a:xfrm>
            <a:off x="1036320" y="4244657"/>
            <a:ext cx="5633720" cy="64633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+mj-lt"/>
              </a:rPr>
              <a:t>Force Due To Gravity between 2 masses at a distance: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force = </a:t>
            </a:r>
            <a:r>
              <a:rPr lang="en-IN" sz="1200" dirty="0" err="1">
                <a:latin typeface="Consolas" panose="020B0609020204030204" pitchFamily="49" charset="0"/>
              </a:rPr>
              <a:t>Gravity_Constant</a:t>
            </a:r>
            <a:r>
              <a:rPr lang="en-IN" sz="1200" dirty="0">
                <a:latin typeface="Consolas" panose="020B0609020204030204" pitchFamily="49" charset="0"/>
              </a:rPr>
              <a:t> x mass1 x mass2 / (distance ^ 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70C6E3-7A95-4D83-FEBB-718411FDDF38}"/>
              </a:ext>
            </a:extLst>
          </p:cNvPr>
          <p:cNvSpPr txBox="1"/>
          <p:nvPr/>
        </p:nvSpPr>
        <p:spPr>
          <a:xfrm>
            <a:off x="1036320" y="5053430"/>
            <a:ext cx="5633720" cy="101566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+mj-lt"/>
              </a:rPr>
              <a:t>Equations of motion: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acceleration = force / mass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velocity = </a:t>
            </a:r>
            <a:r>
              <a:rPr lang="en-IN" sz="1200" dirty="0" err="1">
                <a:latin typeface="Consolas" panose="020B0609020204030204" pitchFamily="49" charset="0"/>
              </a:rPr>
              <a:t>initial_velocity</a:t>
            </a:r>
            <a:r>
              <a:rPr lang="en-IN" sz="1200" dirty="0">
                <a:latin typeface="Consolas" panose="020B0609020204030204" pitchFamily="49" charset="0"/>
              </a:rPr>
              <a:t> + acceleration * </a:t>
            </a:r>
            <a:r>
              <a:rPr lang="en-IN" sz="1200" dirty="0" err="1">
                <a:latin typeface="Consolas" panose="020B0609020204030204" pitchFamily="49" charset="0"/>
              </a:rPr>
              <a:t>time_interval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position = </a:t>
            </a:r>
            <a:r>
              <a:rPr lang="en-IN" sz="1200" dirty="0" err="1">
                <a:latin typeface="Consolas" panose="020B0609020204030204" pitchFamily="49" charset="0"/>
              </a:rPr>
              <a:t>initial_position</a:t>
            </a:r>
            <a:r>
              <a:rPr lang="en-IN" sz="1200" dirty="0">
                <a:latin typeface="Consolas" panose="020B0609020204030204" pitchFamily="49" charset="0"/>
              </a:rPr>
              <a:t> + velocity * </a:t>
            </a:r>
            <a:r>
              <a:rPr lang="en-IN" sz="1200" dirty="0" err="1">
                <a:latin typeface="Consolas" panose="020B0609020204030204" pitchFamily="49" charset="0"/>
              </a:rPr>
              <a:t>time_interval</a:t>
            </a:r>
            <a:endParaRPr lang="en-IN" sz="1200" dirty="0"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00B4CD-45EB-CF7B-E398-B6359AE4A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720" y="1468896"/>
            <a:ext cx="2288349" cy="22883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F78ACA-CCA4-D845-6F51-E1501031F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8423" y="1468895"/>
            <a:ext cx="2288349" cy="22883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3226C9-4488-8960-4730-D4CA022F9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1720" y="3799826"/>
            <a:ext cx="2288349" cy="22883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143952-CAB2-EF1B-7076-41FC8C600A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8423" y="3799826"/>
            <a:ext cx="2288349" cy="228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69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D087C-D9C5-EEC1-B13F-3DFCC8DB4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Coding N-Body Simulation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DA1D33-C199-4E37-A4D6-5D64D1E8B5AA}"/>
              </a:ext>
            </a:extLst>
          </p:cNvPr>
          <p:cNvSpPr txBox="1"/>
          <p:nvPr/>
        </p:nvSpPr>
        <p:spPr>
          <a:xfrm>
            <a:off x="838200" y="1651467"/>
            <a:ext cx="4358640" cy="83099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struct 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Point2D position, velocity;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float mass;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4665B4-C966-21E2-09D0-B13F71603EF2}"/>
              </a:ext>
            </a:extLst>
          </p:cNvPr>
          <p:cNvSpPr txBox="1"/>
          <p:nvPr/>
        </p:nvSpPr>
        <p:spPr>
          <a:xfrm>
            <a:off x="838200" y="2709545"/>
            <a:ext cx="4358640" cy="30469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class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public: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Compute the effect of all other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points on point at `index`.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void 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the position of point at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`index` based on current velocity.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void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Simulate the whole system using a </a:t>
            </a:r>
            <a:b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</a:b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time scaling factor `timestep`.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virtual void Simulate(float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protected: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std::vector&lt;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&gt; data;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22ED7-ECCF-6A09-C84B-925C8D9EF0DE}"/>
              </a:ext>
            </a:extLst>
          </p:cNvPr>
          <p:cNvSpPr txBox="1"/>
          <p:nvPr/>
        </p:nvSpPr>
        <p:spPr>
          <a:xfrm>
            <a:off x="5389661" y="1647716"/>
            <a:ext cx="6097314" cy="304698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::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&amp; p = data[index];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Calculate force on point p due to all other points.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Point2D </a:t>
            </a:r>
            <a:r>
              <a:rPr lang="en-IN" sz="1200" dirty="0" err="1">
                <a:latin typeface="Consolas" panose="020B0609020204030204" pitchFamily="49" charset="0"/>
              </a:rPr>
              <a:t>net_force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j = 0; j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++j)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Point2D </a:t>
            </a:r>
            <a:r>
              <a:rPr lang="en-IN" sz="1200" dirty="0" err="1">
                <a:latin typeface="Consolas" panose="020B0609020204030204" pitchFamily="49" charset="0"/>
              </a:rPr>
              <a:t>vec</a:t>
            </a:r>
            <a:r>
              <a:rPr lang="en-IN" sz="1200" dirty="0">
                <a:latin typeface="Consolas" panose="020B0609020204030204" pitchFamily="49" charset="0"/>
              </a:rPr>
              <a:t> = data[j].position - </a:t>
            </a:r>
            <a:r>
              <a:rPr lang="en-IN" sz="1200" dirty="0" err="1">
                <a:latin typeface="Consolas" panose="020B0609020204030204" pitchFamily="49" charset="0"/>
              </a:rPr>
              <a:t>p.position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float r = length(</a:t>
            </a:r>
            <a:r>
              <a:rPr lang="en-IN" sz="1200" dirty="0" err="1">
                <a:latin typeface="Consolas" panose="020B0609020204030204" pitchFamily="49" charset="0"/>
              </a:rPr>
              <a:t>vec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  // Force due to a single point.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net_force</a:t>
            </a:r>
            <a:r>
              <a:rPr lang="en-IN" sz="1200" dirty="0">
                <a:latin typeface="Consolas" panose="020B0609020204030204" pitchFamily="49" charset="0"/>
              </a:rPr>
              <a:t> += unit(</a:t>
            </a:r>
            <a:r>
              <a:rPr lang="en-IN" sz="1200" dirty="0" err="1">
                <a:latin typeface="Consolas" panose="020B0609020204030204" pitchFamily="49" charset="0"/>
              </a:rPr>
              <a:t>vec</a:t>
            </a:r>
            <a:r>
              <a:rPr lang="en-IN" sz="1200" dirty="0">
                <a:latin typeface="Consolas" panose="020B0609020204030204" pitchFamily="49" charset="0"/>
              </a:rPr>
              <a:t>) * </a:t>
            </a:r>
            <a:r>
              <a:rPr lang="en-IN" sz="1200" dirty="0" err="1">
                <a:latin typeface="Consolas" panose="020B0609020204030204" pitchFamily="49" charset="0"/>
              </a:rPr>
              <a:t>p.mass</a:t>
            </a:r>
            <a:r>
              <a:rPr lang="en-IN" sz="1200" dirty="0">
                <a:latin typeface="Consolas" panose="020B0609020204030204" pitchFamily="49" charset="0"/>
              </a:rPr>
              <a:t> * data[j].mass / (r * r);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velocity based on force and timestep.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pi.velocity</a:t>
            </a:r>
            <a:r>
              <a:rPr lang="en-IN" sz="1200" dirty="0">
                <a:latin typeface="Consolas" panose="020B0609020204030204" pitchFamily="49" charset="0"/>
              </a:rPr>
              <a:t> += </a:t>
            </a:r>
            <a:r>
              <a:rPr lang="en-IN" sz="1200" dirty="0" err="1">
                <a:latin typeface="Consolas" panose="020B0609020204030204" pitchFamily="49" charset="0"/>
              </a:rPr>
              <a:t>net_force</a:t>
            </a:r>
            <a:r>
              <a:rPr lang="en-IN" sz="1200" dirty="0">
                <a:latin typeface="Consolas" panose="020B0609020204030204" pitchFamily="49" charset="0"/>
              </a:rPr>
              <a:t> * timestep / </a:t>
            </a:r>
            <a:r>
              <a:rPr lang="en-IN" sz="1200" dirty="0" err="1">
                <a:latin typeface="Consolas" panose="020B0609020204030204" pitchFamily="49" charset="0"/>
              </a:rPr>
              <a:t>p.mass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4C62BD-2ADC-BB16-DD40-08CF71C022E8}"/>
              </a:ext>
            </a:extLst>
          </p:cNvPr>
          <p:cNvSpPr txBox="1"/>
          <p:nvPr/>
        </p:nvSpPr>
        <p:spPr>
          <a:xfrm>
            <a:off x="5389661" y="4925536"/>
            <a:ext cx="6096000" cy="83099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::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(int index,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PointMass</a:t>
            </a:r>
            <a:r>
              <a:rPr lang="en-IN" sz="1200" dirty="0">
                <a:latin typeface="Consolas" panose="020B0609020204030204" pitchFamily="49" charset="0"/>
              </a:rPr>
              <a:t>&amp; p = data[index];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p.position</a:t>
            </a:r>
            <a:r>
              <a:rPr lang="en-IN" sz="1200" dirty="0">
                <a:latin typeface="Consolas" panose="020B0609020204030204" pitchFamily="49" charset="0"/>
              </a:rPr>
              <a:t> += </a:t>
            </a:r>
            <a:r>
              <a:rPr lang="en-IN" sz="1200" dirty="0" err="1">
                <a:latin typeface="Consolas" panose="020B0609020204030204" pitchFamily="49" charset="0"/>
              </a:rPr>
              <a:t>p.velocity</a:t>
            </a:r>
            <a:r>
              <a:rPr lang="en-IN" sz="1200" dirty="0">
                <a:latin typeface="Consolas" panose="020B0609020204030204" pitchFamily="49" charset="0"/>
              </a:rPr>
              <a:t> * timestep;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796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8F55D-D7A0-6DF7-B512-B2CA72B7F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Parallel N-Body Simulation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4014D-0D77-785F-1476-9B5D54495E6D}"/>
              </a:ext>
            </a:extLst>
          </p:cNvPr>
          <p:cNvSpPr txBox="1"/>
          <p:nvPr/>
        </p:nvSpPr>
        <p:spPr>
          <a:xfrm>
            <a:off x="907903" y="4186397"/>
            <a:ext cx="6706842" cy="212365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ParticleSystemOpenMP</a:t>
            </a:r>
            <a:r>
              <a:rPr lang="en-IN" sz="1200" dirty="0">
                <a:latin typeface="Consolas" panose="020B0609020204030204" pitchFamily="49" charset="0"/>
              </a:rPr>
              <a:t>::Simulate(float timestep) { 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b="1" dirty="0">
                <a:latin typeface="Consolas" panose="020B0609020204030204" pitchFamily="49" charset="0"/>
              </a:rPr>
              <a:t>#pragma </a:t>
            </a:r>
            <a:r>
              <a:rPr lang="en-IN" sz="1200" b="1" dirty="0" err="1">
                <a:latin typeface="Consolas" panose="020B0609020204030204" pitchFamily="49" charset="0"/>
              </a:rPr>
              <a:t>omp</a:t>
            </a:r>
            <a:r>
              <a:rPr lang="en-IN" sz="1200" b="1" dirty="0">
                <a:latin typeface="Consolas" panose="020B0609020204030204" pitchFamily="49" charset="0"/>
              </a:rPr>
              <a:t> parallel for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  <a:br>
              <a:rPr lang="en-IN" sz="1200" dirty="0">
                <a:latin typeface="Consolas" panose="020B0609020204030204" pitchFamily="49" charset="0"/>
              </a:rPr>
            </a:b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 Could be parallel?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394D04-4073-C579-47D5-79DB735F2CAC}"/>
              </a:ext>
            </a:extLst>
          </p:cNvPr>
          <p:cNvSpPr txBox="1"/>
          <p:nvPr/>
        </p:nvSpPr>
        <p:spPr>
          <a:xfrm>
            <a:off x="907903" y="2503345"/>
            <a:ext cx="6706842" cy="120032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07D39-8FE3-5D46-4CC1-898046139BA5}"/>
              </a:ext>
            </a:extLst>
          </p:cNvPr>
          <p:cNvSpPr txBox="1"/>
          <p:nvPr/>
        </p:nvSpPr>
        <p:spPr>
          <a:xfrm>
            <a:off x="907903" y="208395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/>
              <a:t>Sequential: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C1389-8C42-BCC0-3C36-A52ED62E347B}"/>
              </a:ext>
            </a:extLst>
          </p:cNvPr>
          <p:cNvSpPr txBox="1"/>
          <p:nvPr/>
        </p:nvSpPr>
        <p:spPr>
          <a:xfrm>
            <a:off x="838200" y="3770378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/>
              <a:t>Parallel: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3BF850-2BC0-A60B-2248-25DAD077956A}"/>
              </a:ext>
            </a:extLst>
          </p:cNvPr>
          <p:cNvSpPr txBox="1"/>
          <p:nvPr/>
        </p:nvSpPr>
        <p:spPr>
          <a:xfrm>
            <a:off x="2390144" y="6492875"/>
            <a:ext cx="792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All results measured on Core i5-13600K (6 perf cores, 8 efficiency cores), running on Windows 11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895359-1FB1-DC0D-851E-8E22D3466089}"/>
              </a:ext>
            </a:extLst>
          </p:cNvPr>
          <p:cNvSpPr txBox="1"/>
          <p:nvPr/>
        </p:nvSpPr>
        <p:spPr>
          <a:xfrm>
            <a:off x="907903" y="1603503"/>
            <a:ext cx="6295521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dirty="0"/>
              <a:t>Experiment Setup:  5000 points  /  300 iterations  /  Measure Median time.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9011E4-88A7-A822-FFE4-5856BC0DE07F}"/>
              </a:ext>
            </a:extLst>
          </p:cNvPr>
          <p:cNvSpPr/>
          <p:nvPr/>
        </p:nvSpPr>
        <p:spPr>
          <a:xfrm>
            <a:off x="8639506" y="2507316"/>
            <a:ext cx="1883978" cy="119635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dirty="0"/>
              <a:t>25 </a:t>
            </a:r>
            <a:r>
              <a:rPr lang="en-IN" sz="2800" dirty="0" err="1"/>
              <a:t>ms</a:t>
            </a:r>
            <a:endParaRPr lang="en-IN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1E3D84-550A-50B5-9147-5C8C9FCA8351}"/>
              </a:ext>
            </a:extLst>
          </p:cNvPr>
          <p:cNvSpPr/>
          <p:nvPr/>
        </p:nvSpPr>
        <p:spPr>
          <a:xfrm>
            <a:off x="8639506" y="4186396"/>
            <a:ext cx="1883978" cy="212365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dirty="0"/>
              <a:t>2.7 </a:t>
            </a:r>
            <a:r>
              <a:rPr lang="en-IN" sz="2800" dirty="0" err="1"/>
              <a:t>ms</a:t>
            </a:r>
            <a:endParaRPr lang="en-IN" sz="2800" dirty="0"/>
          </a:p>
          <a:p>
            <a:pPr algn="ctr"/>
            <a:endParaRPr lang="en-IN" sz="2800" dirty="0"/>
          </a:p>
          <a:p>
            <a:pPr algn="ctr"/>
            <a:r>
              <a:rPr lang="en-IN" sz="2800" dirty="0"/>
              <a:t>(9.3x)</a:t>
            </a:r>
          </a:p>
        </p:txBody>
      </p:sp>
    </p:spTree>
    <p:extLst>
      <p:ext uri="{BB962C8B-B14F-4D97-AF65-F5344CB8AC3E}">
        <p14:creationId xmlns:p14="http://schemas.microsoft.com/office/powerpoint/2010/main" val="16152996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0346-FD91-C5D9-2064-3BFF7324F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Understanding threads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1EFE1194-09BC-E8BE-AAB7-E9E4637014D0}"/>
              </a:ext>
            </a:extLst>
          </p:cNvPr>
          <p:cNvGrpSpPr/>
          <p:nvPr/>
        </p:nvGrpSpPr>
        <p:grpSpPr>
          <a:xfrm>
            <a:off x="915501" y="2009423"/>
            <a:ext cx="9822837" cy="962143"/>
            <a:chOff x="915501" y="1731716"/>
            <a:chExt cx="9822837" cy="96214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88126F9-5056-E1D5-AB14-EE5AF700EF4C}"/>
                </a:ext>
              </a:extLst>
            </p:cNvPr>
            <p:cNvSpPr/>
            <p:nvPr/>
          </p:nvSpPr>
          <p:spPr>
            <a:xfrm>
              <a:off x="2641529" y="2122788"/>
              <a:ext cx="2844384" cy="2069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std::thread (function, parameters)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7E33BF9-3324-2C6B-58B1-8CB203075910}"/>
                </a:ext>
              </a:extLst>
            </p:cNvPr>
            <p:cNvSpPr/>
            <p:nvPr/>
          </p:nvSpPr>
          <p:spPr>
            <a:xfrm>
              <a:off x="4221703" y="2468560"/>
              <a:ext cx="5601820" cy="22529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Child Thread Execution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B86B692-9046-F70A-0177-F003CCE62E5C}"/>
                </a:ext>
              </a:extLst>
            </p:cNvPr>
            <p:cNvSpPr/>
            <p:nvPr/>
          </p:nvSpPr>
          <p:spPr>
            <a:xfrm>
              <a:off x="2641529" y="1731716"/>
              <a:ext cx="8096809" cy="22529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Main Thread Execution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BB3EA49-C90C-E2BE-13B5-EFAAD5351AA9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4063721" y="1962028"/>
              <a:ext cx="0" cy="1607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80D38C6D-6E7C-3309-7937-203423262925}"/>
                </a:ext>
              </a:extLst>
            </p:cNvPr>
            <p:cNvCxnSpPr>
              <a:cxnSpLocks/>
              <a:stCxn id="10" idx="2"/>
              <a:endCxn id="18" idx="1"/>
            </p:cNvCxnSpPr>
            <p:nvPr/>
          </p:nvCxnSpPr>
          <p:spPr>
            <a:xfrm rot="16200000" flipH="1">
              <a:off x="4016989" y="2376496"/>
              <a:ext cx="251446" cy="1579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99226D5-84CA-B932-C498-261E0CC5CB93}"/>
                </a:ext>
              </a:extLst>
            </p:cNvPr>
            <p:cNvSpPr/>
            <p:nvPr/>
          </p:nvSpPr>
          <p:spPr>
            <a:xfrm>
              <a:off x="8223739" y="2086706"/>
              <a:ext cx="1922575" cy="22529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thread::join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610A6B0-D1C7-4AC8-AEED-8A1AA8119CC8}"/>
                </a:ext>
              </a:extLst>
            </p:cNvPr>
            <p:cNvCxnSpPr>
              <a:cxnSpLocks/>
            </p:cNvCxnSpPr>
            <p:nvPr/>
          </p:nvCxnSpPr>
          <p:spPr>
            <a:xfrm>
              <a:off x="8616463" y="1962028"/>
              <a:ext cx="0" cy="1040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: Elbow 35">
              <a:extLst>
                <a:ext uri="{FF2B5EF4-FFF2-40B4-BE49-F238E27FC236}">
                  <a16:creationId xmlns:a16="http://schemas.microsoft.com/office/drawing/2014/main" id="{BCF29B00-B099-7DA6-6418-63D38FEB275E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V="1">
              <a:off x="9823523" y="2312005"/>
              <a:ext cx="157982" cy="269205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1F24E25C-DDC4-6D96-A043-54F1BBE7B835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10146314" y="1973384"/>
              <a:ext cx="205164" cy="22597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21AFA9-323B-D14B-F2DC-BA5DE3C2D6BB}"/>
                </a:ext>
              </a:extLst>
            </p:cNvPr>
            <p:cNvSpPr/>
            <p:nvPr/>
          </p:nvSpPr>
          <p:spPr>
            <a:xfrm>
              <a:off x="8616463" y="1757541"/>
              <a:ext cx="1735015" cy="19522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Waiting…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9877996-C493-138A-9B95-4E5A4A95CC2C}"/>
                </a:ext>
              </a:extLst>
            </p:cNvPr>
            <p:cNvSpPr txBox="1"/>
            <p:nvPr/>
          </p:nvSpPr>
          <p:spPr>
            <a:xfrm>
              <a:off x="915501" y="2018053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800" dirty="0"/>
                <a:t>std::thread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D436A382-5D29-55E9-D941-9681C6F72A78}"/>
              </a:ext>
            </a:extLst>
          </p:cNvPr>
          <p:cNvGrpSpPr/>
          <p:nvPr/>
        </p:nvGrpSpPr>
        <p:grpSpPr>
          <a:xfrm>
            <a:off x="902677" y="3990297"/>
            <a:ext cx="8815999" cy="1534552"/>
            <a:chOff x="902677" y="3097910"/>
            <a:chExt cx="8815999" cy="153455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E20A58E-BD25-83CB-CF5E-DF03E405ABDD}"/>
                </a:ext>
              </a:extLst>
            </p:cNvPr>
            <p:cNvSpPr txBox="1"/>
            <p:nvPr/>
          </p:nvSpPr>
          <p:spPr>
            <a:xfrm>
              <a:off x="902677" y="3471031"/>
              <a:ext cx="13003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800" dirty="0"/>
                <a:t>std::atomic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357868C-52A8-6351-BDE1-E5CE31AEB7B4}"/>
                </a:ext>
              </a:extLst>
            </p:cNvPr>
            <p:cNvSpPr/>
            <p:nvPr/>
          </p:nvSpPr>
          <p:spPr>
            <a:xfrm>
              <a:off x="3073329" y="3097911"/>
              <a:ext cx="986438" cy="22529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Thread 1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B03C7E7-16DB-982E-E613-E87FD709AC5A}"/>
                </a:ext>
              </a:extLst>
            </p:cNvPr>
            <p:cNvSpPr/>
            <p:nvPr/>
          </p:nvSpPr>
          <p:spPr>
            <a:xfrm>
              <a:off x="4761372" y="3097911"/>
              <a:ext cx="986438" cy="225299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Thread 2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139460A-960F-F997-347B-EAF16BE8AF85}"/>
                </a:ext>
              </a:extLst>
            </p:cNvPr>
            <p:cNvSpPr/>
            <p:nvPr/>
          </p:nvSpPr>
          <p:spPr>
            <a:xfrm>
              <a:off x="6182714" y="3097910"/>
              <a:ext cx="1338862" cy="22529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std::atomic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00EE09D7-3872-7B64-F93E-E6590DDE5DBD}"/>
                </a:ext>
              </a:extLst>
            </p:cNvPr>
            <p:cNvSpPr/>
            <p:nvPr/>
          </p:nvSpPr>
          <p:spPr>
            <a:xfrm>
              <a:off x="8379814" y="3097910"/>
              <a:ext cx="1338862" cy="22529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Variable</a:t>
              </a: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6B8633C3-6287-7462-4F51-19BC8FD06C45}"/>
                </a:ext>
              </a:extLst>
            </p:cNvPr>
            <p:cNvCxnSpPr>
              <a:cxnSpLocks/>
            </p:cNvCxnSpPr>
            <p:nvPr/>
          </p:nvCxnSpPr>
          <p:spPr>
            <a:xfrm>
              <a:off x="3566548" y="335813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1708950-041F-CCE0-5887-CCE24E7E495D}"/>
                </a:ext>
              </a:extLst>
            </p:cNvPr>
            <p:cNvCxnSpPr>
              <a:cxnSpLocks/>
            </p:cNvCxnSpPr>
            <p:nvPr/>
          </p:nvCxnSpPr>
          <p:spPr>
            <a:xfrm>
              <a:off x="5227039" y="335813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81C95CA-8B70-145B-4E11-6395B9A79FA4}"/>
                </a:ext>
              </a:extLst>
            </p:cNvPr>
            <p:cNvCxnSpPr>
              <a:cxnSpLocks/>
            </p:cNvCxnSpPr>
            <p:nvPr/>
          </p:nvCxnSpPr>
          <p:spPr>
            <a:xfrm>
              <a:off x="6852145" y="3358134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F39F5014-2245-73D7-0BCE-6BC531D3F307}"/>
                </a:ext>
              </a:extLst>
            </p:cNvPr>
            <p:cNvCxnSpPr>
              <a:cxnSpLocks/>
            </p:cNvCxnSpPr>
            <p:nvPr/>
          </p:nvCxnSpPr>
          <p:spPr>
            <a:xfrm>
              <a:off x="9047093" y="3361541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F7C15A6-56D4-AE56-5EB1-C37D6E1E2A2C}"/>
                </a:ext>
              </a:extLst>
            </p:cNvPr>
            <p:cNvSpPr txBox="1"/>
            <p:nvPr/>
          </p:nvSpPr>
          <p:spPr>
            <a:xfrm>
              <a:off x="3610073" y="3365353"/>
              <a:ext cx="13965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Read and Decrement</a:t>
              </a:r>
            </a:p>
          </p:txBody>
        </p: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02CD026-4819-AFD6-FEF9-23753B032CE7}"/>
                </a:ext>
              </a:extLst>
            </p:cNvPr>
            <p:cNvCxnSpPr/>
            <p:nvPr/>
          </p:nvCxnSpPr>
          <p:spPr>
            <a:xfrm>
              <a:off x="3566548" y="3556636"/>
              <a:ext cx="3285597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3FA5AC03-7FBB-F815-B3AE-74BB18CD780B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3650588"/>
              <a:ext cx="2205828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881372E-4600-0A00-7B75-4045DD2FFE7F}"/>
                </a:ext>
              </a:extLst>
            </p:cNvPr>
            <p:cNvSpPr txBox="1"/>
            <p:nvPr/>
          </p:nvSpPr>
          <p:spPr>
            <a:xfrm>
              <a:off x="7574355" y="3471032"/>
              <a:ext cx="7505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Get Value</a:t>
              </a:r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7DD682F0-6ADF-55B4-107D-726455F0E364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4022443"/>
              <a:ext cx="2194948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BF2E38D-49D3-0E4A-97A0-6A0E44826334}"/>
                </a:ext>
              </a:extLst>
            </p:cNvPr>
            <p:cNvSpPr txBox="1"/>
            <p:nvPr/>
          </p:nvSpPr>
          <p:spPr>
            <a:xfrm>
              <a:off x="7563476" y="3828287"/>
              <a:ext cx="9829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Set Value to 1</a:t>
              </a:r>
            </a:p>
          </p:txBody>
        </p: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8AF2A26-672D-6EBE-E21F-F5A3AADBDD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52145" y="3831462"/>
              <a:ext cx="2194948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ACA5E1E-486B-778D-01F1-79BBE0BB356B}"/>
                </a:ext>
              </a:extLst>
            </p:cNvPr>
            <p:cNvSpPr txBox="1"/>
            <p:nvPr/>
          </p:nvSpPr>
          <p:spPr>
            <a:xfrm>
              <a:off x="7574355" y="3646796"/>
              <a:ext cx="87876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Value was 2</a:t>
              </a:r>
            </a:p>
          </p:txBody>
        </p: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79C22A31-1CE2-6B54-A66F-30280733CC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66548" y="3922138"/>
              <a:ext cx="3285597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E0FCAE2-9185-954A-45FC-8C07F1CBB85F}"/>
                </a:ext>
              </a:extLst>
            </p:cNvPr>
            <p:cNvSpPr txBox="1"/>
            <p:nvPr/>
          </p:nvSpPr>
          <p:spPr>
            <a:xfrm>
              <a:off x="3958532" y="3717253"/>
              <a:ext cx="67358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Return 2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B731600D-12D1-3E06-2E06-5DAC90D763C6}"/>
                </a:ext>
              </a:extLst>
            </p:cNvPr>
            <p:cNvSpPr txBox="1"/>
            <p:nvPr/>
          </p:nvSpPr>
          <p:spPr>
            <a:xfrm>
              <a:off x="5269610" y="3593337"/>
              <a:ext cx="13965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Read and Decrement</a:t>
              </a:r>
            </a:p>
          </p:txBody>
        </p: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6A0749BD-5A71-C3D1-DF7C-66A6B68EB5EF}"/>
                </a:ext>
              </a:extLst>
            </p:cNvPr>
            <p:cNvCxnSpPr>
              <a:cxnSpLocks/>
            </p:cNvCxnSpPr>
            <p:nvPr/>
          </p:nvCxnSpPr>
          <p:spPr>
            <a:xfrm>
              <a:off x="5226085" y="3784620"/>
              <a:ext cx="1626060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C4F0E8A1-B5BB-C738-E526-0E7447DF0E8E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4208542"/>
              <a:ext cx="2205828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CF23388-A1A0-68B7-6119-094B6D431E6C}"/>
                </a:ext>
              </a:extLst>
            </p:cNvPr>
            <p:cNvSpPr txBox="1"/>
            <p:nvPr/>
          </p:nvSpPr>
          <p:spPr>
            <a:xfrm>
              <a:off x="7574355" y="4028986"/>
              <a:ext cx="7505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Get Value</a:t>
              </a:r>
            </a:p>
          </p:txBody>
        </p: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E03A98F9-4127-17F6-2493-7738F6C06B2D}"/>
                </a:ext>
              </a:extLst>
            </p:cNvPr>
            <p:cNvCxnSpPr>
              <a:cxnSpLocks/>
            </p:cNvCxnSpPr>
            <p:nvPr/>
          </p:nvCxnSpPr>
          <p:spPr>
            <a:xfrm>
              <a:off x="6841265" y="4580397"/>
              <a:ext cx="2194948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3029C65-86A8-6C45-D886-F82AF48884F8}"/>
                </a:ext>
              </a:extLst>
            </p:cNvPr>
            <p:cNvSpPr txBox="1"/>
            <p:nvPr/>
          </p:nvSpPr>
          <p:spPr>
            <a:xfrm>
              <a:off x="7563476" y="4386241"/>
              <a:ext cx="9829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Set Value to 0</a:t>
              </a:r>
            </a:p>
          </p:txBody>
        </p: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BB1A12F7-9FAA-650A-1FFE-83C8D36EFD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52145" y="4389416"/>
              <a:ext cx="2194948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A512040-2D92-743B-46D7-BB1462929402}"/>
                </a:ext>
              </a:extLst>
            </p:cNvPr>
            <p:cNvSpPr txBox="1"/>
            <p:nvPr/>
          </p:nvSpPr>
          <p:spPr>
            <a:xfrm>
              <a:off x="7574355" y="4204750"/>
              <a:ext cx="87876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Value was 1</a:t>
              </a:r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259F7617-127E-FFB0-76C1-EDB15BD79B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26085" y="4480092"/>
              <a:ext cx="1626060" cy="0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486585FD-AF20-14D7-0120-70BB9E94D390}"/>
                </a:ext>
              </a:extLst>
            </p:cNvPr>
            <p:cNvSpPr txBox="1"/>
            <p:nvPr/>
          </p:nvSpPr>
          <p:spPr>
            <a:xfrm>
              <a:off x="5679739" y="4287640"/>
              <a:ext cx="67358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000" dirty="0"/>
                <a:t>Return 1</a:t>
              </a:r>
            </a:p>
          </p:txBody>
        </p:sp>
      </p:grp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564B446-7462-2803-F58A-A980C81731AB}"/>
              </a:ext>
            </a:extLst>
          </p:cNvPr>
          <p:cNvCxnSpPr/>
          <p:nvPr/>
        </p:nvCxnSpPr>
        <p:spPr>
          <a:xfrm>
            <a:off x="529167" y="3454399"/>
            <a:ext cx="111548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8525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093C8-82CE-B43E-520E-BB3E47060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D4CC3-1E40-CF53-FE04-D97FE97F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Understanding threads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0F7620-BB0D-CBDF-555F-97BD0F3EA955}"/>
              </a:ext>
            </a:extLst>
          </p:cNvPr>
          <p:cNvSpPr txBox="1"/>
          <p:nvPr/>
        </p:nvSpPr>
        <p:spPr>
          <a:xfrm>
            <a:off x="944679" y="3426144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/>
              <a:t>std::mutex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797094A-73C0-0E2D-A3AA-E28BC6EAEBFE}"/>
              </a:ext>
            </a:extLst>
          </p:cNvPr>
          <p:cNvSpPr/>
          <p:nvPr/>
        </p:nvSpPr>
        <p:spPr>
          <a:xfrm>
            <a:off x="3073329" y="2356371"/>
            <a:ext cx="986438" cy="2252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Thread 1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F66752B-9141-3CF0-551F-FE0E6F53C70C}"/>
              </a:ext>
            </a:extLst>
          </p:cNvPr>
          <p:cNvSpPr/>
          <p:nvPr/>
        </p:nvSpPr>
        <p:spPr>
          <a:xfrm>
            <a:off x="4761372" y="2356371"/>
            <a:ext cx="986438" cy="22529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Thread 2</a:t>
            </a: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59CE55AE-C579-4DBC-1A9D-335087EEE444}"/>
              </a:ext>
            </a:extLst>
          </p:cNvPr>
          <p:cNvSpPr/>
          <p:nvPr/>
        </p:nvSpPr>
        <p:spPr>
          <a:xfrm>
            <a:off x="6182714" y="2356370"/>
            <a:ext cx="1338862" cy="22529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std::mutex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161E295-4775-FB88-36B7-E33E1EAEF074}"/>
              </a:ext>
            </a:extLst>
          </p:cNvPr>
          <p:cNvSpPr/>
          <p:nvPr/>
        </p:nvSpPr>
        <p:spPr>
          <a:xfrm>
            <a:off x="8379814" y="2356370"/>
            <a:ext cx="1338862" cy="22529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Critical Code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81EF88-9406-AF68-CA4D-F352B9B7C6FC}"/>
              </a:ext>
            </a:extLst>
          </p:cNvPr>
          <p:cNvGrpSpPr/>
          <p:nvPr/>
        </p:nvGrpSpPr>
        <p:grpSpPr>
          <a:xfrm>
            <a:off x="3566548" y="2616594"/>
            <a:ext cx="5480545" cy="2311006"/>
            <a:chOff x="3566548" y="2616594"/>
            <a:chExt cx="5480545" cy="122425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4E210A5-BDAA-504B-90B9-AA7D83B034D7}"/>
                </a:ext>
              </a:extLst>
            </p:cNvPr>
            <p:cNvCxnSpPr>
              <a:cxnSpLocks/>
            </p:cNvCxnSpPr>
            <p:nvPr/>
          </p:nvCxnSpPr>
          <p:spPr>
            <a:xfrm>
              <a:off x="3566548" y="261659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FA4B42E7-1456-A938-86C3-B2E6BE503931}"/>
                </a:ext>
              </a:extLst>
            </p:cNvPr>
            <p:cNvCxnSpPr>
              <a:cxnSpLocks/>
            </p:cNvCxnSpPr>
            <p:nvPr/>
          </p:nvCxnSpPr>
          <p:spPr>
            <a:xfrm>
              <a:off x="5227039" y="2616595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E96E51A4-97CE-9518-4F80-2638C7F3B365}"/>
                </a:ext>
              </a:extLst>
            </p:cNvPr>
            <p:cNvCxnSpPr>
              <a:cxnSpLocks/>
            </p:cNvCxnSpPr>
            <p:nvPr/>
          </p:nvCxnSpPr>
          <p:spPr>
            <a:xfrm>
              <a:off x="6852145" y="2616594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1696E7E4-3030-4BF5-1F0D-82100135B6EA}"/>
                </a:ext>
              </a:extLst>
            </p:cNvPr>
            <p:cNvCxnSpPr>
              <a:cxnSpLocks/>
            </p:cNvCxnSpPr>
            <p:nvPr/>
          </p:nvCxnSpPr>
          <p:spPr>
            <a:xfrm>
              <a:off x="9047093" y="2620001"/>
              <a:ext cx="0" cy="1220851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DBB4B03E-315D-E0CD-F771-71AC69EC2F62}"/>
              </a:ext>
            </a:extLst>
          </p:cNvPr>
          <p:cNvSpPr txBox="1"/>
          <p:nvPr/>
        </p:nvSpPr>
        <p:spPr>
          <a:xfrm>
            <a:off x="3795025" y="2616594"/>
            <a:ext cx="10005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Acquire Mutex</a:t>
            </a: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AF29415-F3C7-EAF4-7765-BA6F59B46703}"/>
              </a:ext>
            </a:extLst>
          </p:cNvPr>
          <p:cNvCxnSpPr/>
          <p:nvPr/>
        </p:nvCxnSpPr>
        <p:spPr>
          <a:xfrm>
            <a:off x="3566548" y="2815096"/>
            <a:ext cx="3285597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60A0C7B-568D-7803-5B11-DE401FBC37DF}"/>
              </a:ext>
            </a:extLst>
          </p:cNvPr>
          <p:cNvCxnSpPr>
            <a:cxnSpLocks/>
          </p:cNvCxnSpPr>
          <p:nvPr/>
        </p:nvCxnSpPr>
        <p:spPr>
          <a:xfrm flipH="1">
            <a:off x="3566548" y="2954048"/>
            <a:ext cx="3274717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67223495-6D1D-9348-F57C-A86245C175DA}"/>
              </a:ext>
            </a:extLst>
          </p:cNvPr>
          <p:cNvSpPr txBox="1"/>
          <p:nvPr/>
        </p:nvSpPr>
        <p:spPr>
          <a:xfrm>
            <a:off x="5443443" y="2756218"/>
            <a:ext cx="10711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Mutex Acquired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F1FF938-2C17-CCCF-B2B7-A3EB350E3F6A}"/>
              </a:ext>
            </a:extLst>
          </p:cNvPr>
          <p:cNvSpPr txBox="1"/>
          <p:nvPr/>
        </p:nvSpPr>
        <p:spPr>
          <a:xfrm>
            <a:off x="5451976" y="2914325"/>
            <a:ext cx="10005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Acquire Mutex</a:t>
            </a:r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C92B574E-4E58-83C8-642D-BC54E970A6CD}"/>
              </a:ext>
            </a:extLst>
          </p:cNvPr>
          <p:cNvCxnSpPr>
            <a:cxnSpLocks/>
          </p:cNvCxnSpPr>
          <p:nvPr/>
        </p:nvCxnSpPr>
        <p:spPr>
          <a:xfrm>
            <a:off x="5223499" y="3112827"/>
            <a:ext cx="1617766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1469BBB-FBBB-950D-D18E-20D2CB9924FE}"/>
              </a:ext>
            </a:extLst>
          </p:cNvPr>
          <p:cNvCxnSpPr>
            <a:cxnSpLocks/>
          </p:cNvCxnSpPr>
          <p:nvPr/>
        </p:nvCxnSpPr>
        <p:spPr>
          <a:xfrm>
            <a:off x="3555668" y="3215146"/>
            <a:ext cx="549142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5DE8BF38-C3F3-142E-3FD7-77EB743F246D}"/>
              </a:ext>
            </a:extLst>
          </p:cNvPr>
          <p:cNvSpPr txBox="1"/>
          <p:nvPr/>
        </p:nvSpPr>
        <p:spPr>
          <a:xfrm>
            <a:off x="3795025" y="3013598"/>
            <a:ext cx="12202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Exclusive</a:t>
            </a:r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9300CB98-FFE0-F121-E030-86DF48305B8A}"/>
              </a:ext>
            </a:extLst>
          </p:cNvPr>
          <p:cNvCxnSpPr>
            <a:cxnSpLocks/>
          </p:cNvCxnSpPr>
          <p:nvPr/>
        </p:nvCxnSpPr>
        <p:spPr>
          <a:xfrm flipH="1">
            <a:off x="3566548" y="3613880"/>
            <a:ext cx="549142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4FDFE588-436B-D492-817E-1826468D6710}"/>
              </a:ext>
            </a:extLst>
          </p:cNvPr>
          <p:cNvSpPr txBox="1"/>
          <p:nvPr/>
        </p:nvSpPr>
        <p:spPr>
          <a:xfrm>
            <a:off x="3795025" y="3403186"/>
            <a:ext cx="12971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Completed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CAEFD8B6-2C9E-D6DC-63F8-C96AED8F9C1F}"/>
              </a:ext>
            </a:extLst>
          </p:cNvPr>
          <p:cNvSpPr/>
          <p:nvPr/>
        </p:nvSpPr>
        <p:spPr>
          <a:xfrm>
            <a:off x="9063365" y="3206468"/>
            <a:ext cx="73330" cy="40741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7C18A88-F360-A79F-ACD3-1E538EC988DF}"/>
              </a:ext>
            </a:extLst>
          </p:cNvPr>
          <p:cNvCxnSpPr/>
          <p:nvPr/>
        </p:nvCxnSpPr>
        <p:spPr>
          <a:xfrm>
            <a:off x="3566548" y="3808871"/>
            <a:ext cx="3285597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ADE2264-94D1-C10C-5CF0-FB7C34FF4E1C}"/>
              </a:ext>
            </a:extLst>
          </p:cNvPr>
          <p:cNvSpPr txBox="1"/>
          <p:nvPr/>
        </p:nvSpPr>
        <p:spPr>
          <a:xfrm>
            <a:off x="3795025" y="3613879"/>
            <a:ext cx="10358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Release Mutex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D239DD7-59FD-2972-1E41-49F96E5B305E}"/>
              </a:ext>
            </a:extLst>
          </p:cNvPr>
          <p:cNvCxnSpPr>
            <a:cxnSpLocks/>
          </p:cNvCxnSpPr>
          <p:nvPr/>
        </p:nvCxnSpPr>
        <p:spPr>
          <a:xfrm flipH="1">
            <a:off x="5223499" y="4000286"/>
            <a:ext cx="1617766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A64FAAA-620E-3AA4-A2ED-51BBABFC7B0F}"/>
              </a:ext>
            </a:extLst>
          </p:cNvPr>
          <p:cNvSpPr txBox="1"/>
          <p:nvPr/>
        </p:nvSpPr>
        <p:spPr>
          <a:xfrm>
            <a:off x="5443443" y="3802456"/>
            <a:ext cx="10711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Mutex Acquired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0F90C1-E858-044B-0786-353874586BFB}"/>
              </a:ext>
            </a:extLst>
          </p:cNvPr>
          <p:cNvCxnSpPr>
            <a:cxnSpLocks/>
          </p:cNvCxnSpPr>
          <p:nvPr/>
        </p:nvCxnSpPr>
        <p:spPr>
          <a:xfrm>
            <a:off x="5223499" y="4181911"/>
            <a:ext cx="3826892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A7774A9-02A4-8037-2483-C140D519B34A}"/>
              </a:ext>
            </a:extLst>
          </p:cNvPr>
          <p:cNvSpPr txBox="1"/>
          <p:nvPr/>
        </p:nvSpPr>
        <p:spPr>
          <a:xfrm>
            <a:off x="5390303" y="3980363"/>
            <a:ext cx="8503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Exclusive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D41C4DD-81C9-FF11-E839-EB1E56180EC2}"/>
              </a:ext>
            </a:extLst>
          </p:cNvPr>
          <p:cNvCxnSpPr>
            <a:cxnSpLocks/>
          </p:cNvCxnSpPr>
          <p:nvPr/>
        </p:nvCxnSpPr>
        <p:spPr>
          <a:xfrm flipH="1">
            <a:off x="5231081" y="4552070"/>
            <a:ext cx="3826892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418CE1-0F11-55E2-8101-760944844094}"/>
              </a:ext>
            </a:extLst>
          </p:cNvPr>
          <p:cNvCxnSpPr>
            <a:cxnSpLocks/>
          </p:cNvCxnSpPr>
          <p:nvPr/>
        </p:nvCxnSpPr>
        <p:spPr>
          <a:xfrm>
            <a:off x="5231081" y="4747061"/>
            <a:ext cx="1621064" cy="0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6B5F7FB-F771-BEB9-782F-F60FD6247303}"/>
              </a:ext>
            </a:extLst>
          </p:cNvPr>
          <p:cNvSpPr txBox="1"/>
          <p:nvPr/>
        </p:nvSpPr>
        <p:spPr>
          <a:xfrm>
            <a:off x="5383807" y="4348327"/>
            <a:ext cx="12971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Execute Completed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91C90B-17E5-7357-556E-0F79F0BE4CB6}"/>
              </a:ext>
            </a:extLst>
          </p:cNvPr>
          <p:cNvSpPr txBox="1"/>
          <p:nvPr/>
        </p:nvSpPr>
        <p:spPr>
          <a:xfrm>
            <a:off x="5383948" y="4547694"/>
            <a:ext cx="10358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Release Mutex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EC9D73-5912-4BBE-D594-DB55BAD267AE}"/>
              </a:ext>
            </a:extLst>
          </p:cNvPr>
          <p:cNvSpPr/>
          <p:nvPr/>
        </p:nvSpPr>
        <p:spPr>
          <a:xfrm>
            <a:off x="9057973" y="4187138"/>
            <a:ext cx="63953" cy="36055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3A0666-7413-55AB-FC7F-AD7A657D4FFE}"/>
              </a:ext>
            </a:extLst>
          </p:cNvPr>
          <p:cNvSpPr/>
          <p:nvPr/>
        </p:nvSpPr>
        <p:spPr>
          <a:xfrm>
            <a:off x="6828326" y="2954091"/>
            <a:ext cx="45719" cy="854780"/>
          </a:xfrm>
          <a:prstGeom prst="rect">
            <a:avLst/>
          </a:prstGeom>
          <a:noFill/>
          <a:ln w="9525">
            <a:solidFill>
              <a:schemeClr val="accent2"/>
            </a:solidFill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524A74-8053-F17A-B2B5-530D66482960}"/>
              </a:ext>
            </a:extLst>
          </p:cNvPr>
          <p:cNvSpPr/>
          <p:nvPr/>
        </p:nvSpPr>
        <p:spPr>
          <a:xfrm>
            <a:off x="6825987" y="4000285"/>
            <a:ext cx="45719" cy="781696"/>
          </a:xfrm>
          <a:prstGeom prst="rect">
            <a:avLst/>
          </a:prstGeom>
          <a:noFill/>
          <a:ln w="9525">
            <a:solidFill>
              <a:schemeClr val="accent6"/>
            </a:solidFill>
            <a:prstDash val="sys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317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FA3C0-1C06-5412-E233-89218803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A841D-8E4D-5428-F2D5-BAEBBB81D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Explicit threading for N-Body Simulation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C489F8-2C05-752A-F22E-EE13FD2B90FB}"/>
              </a:ext>
            </a:extLst>
          </p:cNvPr>
          <p:cNvSpPr txBox="1"/>
          <p:nvPr/>
        </p:nvSpPr>
        <p:spPr>
          <a:xfrm>
            <a:off x="838200" y="2000688"/>
            <a:ext cx="6389077" cy="37856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// Query number of cores.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());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Thread-safe integer.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Create and add threads to a pool.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std::vector&lt;std::thread&gt; threads;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threads.emplace_back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, this, &amp;jobs,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Wait for each thread to complete.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(std::thread&amp; t : threads)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</a:t>
            </a:r>
            <a:r>
              <a:rPr lang="en-IN" sz="1200" dirty="0" err="1">
                <a:latin typeface="Consolas" panose="020B0609020204030204" pitchFamily="49" charset="0"/>
              </a:rPr>
              <a:t>t.joinable</a:t>
            </a:r>
            <a:r>
              <a:rPr lang="en-IN" sz="1200" dirty="0">
                <a:latin typeface="Consolas" panose="020B0609020204030204" pitchFamily="49" charset="0"/>
              </a:rPr>
              <a:t>()) </a:t>
            </a:r>
            <a:r>
              <a:rPr lang="en-IN" sz="1200" dirty="0" err="1">
                <a:latin typeface="Consolas" panose="020B0609020204030204" pitchFamily="49" charset="0"/>
              </a:rPr>
              <a:t>t.join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103668-826A-1CB8-0E6C-E82F63894AB8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99929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578D2-4283-3BDC-9AEA-B5ED1360E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6F042-0E33-EC6E-D8C6-5F43BDBB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Explicit threading for N-Body Simulation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72736B-3810-5C4A-D947-351C53C180D9}"/>
              </a:ext>
            </a:extLst>
          </p:cNvPr>
          <p:cNvSpPr txBox="1"/>
          <p:nvPr/>
        </p:nvSpPr>
        <p:spPr>
          <a:xfrm>
            <a:off x="838200" y="2000688"/>
            <a:ext cx="6389077" cy="37856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// Query number of cores.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());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Thread-safe integer.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Create and add threads to a pool.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std::vector&lt;std::thread&gt; threads;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threads.emplace_back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, this, &amp;jobs,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Wait for each thread to complete.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(std::thread&amp; t : threads)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if (</a:t>
            </a:r>
            <a:r>
              <a:rPr lang="en-IN" sz="1200" dirty="0" err="1">
                <a:latin typeface="Consolas" panose="020B0609020204030204" pitchFamily="49" charset="0"/>
              </a:rPr>
              <a:t>t.joinable</a:t>
            </a:r>
            <a:r>
              <a:rPr lang="en-IN" sz="1200" dirty="0">
                <a:latin typeface="Consolas" panose="020B0609020204030204" pitchFamily="49" charset="0"/>
              </a:rPr>
              <a:t>()) </a:t>
            </a:r>
            <a:r>
              <a:rPr lang="en-IN" sz="1200" dirty="0" err="1">
                <a:latin typeface="Consolas" panose="020B0609020204030204" pitchFamily="49" charset="0"/>
              </a:rPr>
              <a:t>t.join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	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B3C0C-3B2E-7DA5-5961-CD0D2ED23E09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AF6F01B-E1A7-30E7-4FCC-E63B576379C5}"/>
              </a:ext>
            </a:extLst>
          </p:cNvPr>
          <p:cNvGrpSpPr/>
          <p:nvPr/>
        </p:nvGrpSpPr>
        <p:grpSpPr>
          <a:xfrm>
            <a:off x="7349612" y="5021792"/>
            <a:ext cx="4185138" cy="1094550"/>
            <a:chOff x="7349611" y="4999567"/>
            <a:chExt cx="4185138" cy="10945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F3CD1E5-0D4E-03A3-302B-D30F31F07B74}"/>
                </a:ext>
              </a:extLst>
            </p:cNvPr>
            <p:cNvSpPr/>
            <p:nvPr/>
          </p:nvSpPr>
          <p:spPr>
            <a:xfrm>
              <a:off x="8790089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2.75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B9E17E9-387B-2BB4-474F-23F1C03B3A9C}"/>
                </a:ext>
              </a:extLst>
            </p:cNvPr>
            <p:cNvSpPr/>
            <p:nvPr/>
          </p:nvSpPr>
          <p:spPr>
            <a:xfrm>
              <a:off x="7349611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A5B713E-B8F3-B797-0706-CF9A957B705B}"/>
                </a:ext>
              </a:extLst>
            </p:cNvPr>
            <p:cNvSpPr/>
            <p:nvPr/>
          </p:nvSpPr>
          <p:spPr>
            <a:xfrm>
              <a:off x="10205573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3.13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C795E7-E6B4-5D72-56BA-913422EDE363}"/>
                </a:ext>
              </a:extLst>
            </p:cNvPr>
            <p:cNvSpPr txBox="1"/>
            <p:nvPr/>
          </p:nvSpPr>
          <p:spPr>
            <a:xfrm>
              <a:off x="7498673" y="5786340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Sequential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7F86C41-A29C-A956-775A-3F280CDB8E9F}"/>
                </a:ext>
              </a:extLst>
            </p:cNvPr>
            <p:cNvSpPr txBox="1"/>
            <p:nvPr/>
          </p:nvSpPr>
          <p:spPr>
            <a:xfrm>
              <a:off x="8996384" y="5784457"/>
              <a:ext cx="89159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OpenMP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725A63-BB83-0B9F-AA0B-6B1C9B0E2159}"/>
                </a:ext>
              </a:extLst>
            </p:cNvPr>
            <p:cNvSpPr txBox="1"/>
            <p:nvPr/>
          </p:nvSpPr>
          <p:spPr>
            <a:xfrm>
              <a:off x="10355436" y="5784457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std::thread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498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7BB7A-8B99-90F6-A037-23FAA062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0D01B-25FC-CEED-391A-B32C562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Why is std::thread ‘a bit’ slower?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09BE2F-AB23-CA79-FE4B-3B202FBBE78A}"/>
              </a:ext>
            </a:extLst>
          </p:cNvPr>
          <p:cNvSpPr txBox="1"/>
          <p:nvPr/>
        </p:nvSpPr>
        <p:spPr>
          <a:xfrm>
            <a:off x="838200" y="2000688"/>
            <a:ext cx="6389077" cy="37856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// Query number of cores.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()); </a:t>
            </a:r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// Thread-safe integer.</a:t>
            </a:r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endParaRPr lang="en-IN" sz="1200" b="1" dirty="0">
              <a:latin typeface="Consolas" panose="020B0609020204030204" pitchFamily="49" charset="0"/>
            </a:endParaRPr>
          </a:p>
          <a:p>
            <a:r>
              <a:rPr lang="en-IN" sz="1200" b="1" dirty="0">
                <a:solidFill>
                  <a:schemeClr val="accent3"/>
                </a:solidFill>
                <a:latin typeface="Consolas" panose="020B0609020204030204" pitchFamily="49" charset="0"/>
              </a:rPr>
              <a:t>  // Create and add threads to a pool.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std::vector&lt;std::thread&gt; threads;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for (int </a:t>
            </a:r>
            <a:r>
              <a:rPr lang="en-IN" sz="1200" b="1" dirty="0" err="1">
                <a:latin typeface="Consolas" panose="020B0609020204030204" pitchFamily="49" charset="0"/>
              </a:rPr>
              <a:t>i</a:t>
            </a:r>
            <a:r>
              <a:rPr lang="en-IN" sz="1200" b="1" dirty="0">
                <a:latin typeface="Consolas" panose="020B0609020204030204" pitchFamily="49" charset="0"/>
              </a:rPr>
              <a:t> = 0; </a:t>
            </a:r>
            <a:r>
              <a:rPr lang="en-IN" sz="1200" b="1" dirty="0" err="1">
                <a:latin typeface="Consolas" panose="020B0609020204030204" pitchFamily="49" charset="0"/>
              </a:rPr>
              <a:t>i</a:t>
            </a:r>
            <a:r>
              <a:rPr lang="en-IN" sz="1200" b="1" dirty="0">
                <a:latin typeface="Consolas" panose="020B0609020204030204" pitchFamily="49" charset="0"/>
              </a:rPr>
              <a:t> &lt; </a:t>
            </a:r>
            <a:r>
              <a:rPr lang="en-IN" sz="1200" b="1" dirty="0" err="1">
                <a:latin typeface="Consolas" panose="020B0609020204030204" pitchFamily="49" charset="0"/>
              </a:rPr>
              <a:t>num_threads</a:t>
            </a:r>
            <a:r>
              <a:rPr lang="en-IN" sz="1200" b="1" dirty="0">
                <a:latin typeface="Consolas" panose="020B0609020204030204" pitchFamily="49" charset="0"/>
              </a:rPr>
              <a:t>; ++</a:t>
            </a:r>
            <a:r>
              <a:rPr lang="en-IN" sz="1200" b="1" dirty="0" err="1">
                <a:latin typeface="Consolas" panose="020B0609020204030204" pitchFamily="49" charset="0"/>
              </a:rPr>
              <a:t>i</a:t>
            </a:r>
            <a:r>
              <a:rPr lang="en-IN" sz="1200" b="1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  </a:t>
            </a:r>
            <a:r>
              <a:rPr lang="en-IN" sz="1200" b="1" dirty="0" err="1">
                <a:latin typeface="Consolas" panose="020B0609020204030204" pitchFamily="49" charset="0"/>
              </a:rPr>
              <a:t>threads.emplace_back</a:t>
            </a:r>
            <a:r>
              <a:rPr lang="en-IN" sz="1200" b="1" dirty="0">
                <a:latin typeface="Consolas" panose="020B0609020204030204" pitchFamily="49" charset="0"/>
              </a:rPr>
              <a:t>(</a:t>
            </a:r>
            <a:r>
              <a:rPr lang="en-IN" sz="1200" b="1" dirty="0" err="1">
                <a:latin typeface="Consolas" panose="020B0609020204030204" pitchFamily="49" charset="0"/>
              </a:rPr>
              <a:t>WorkerFunction</a:t>
            </a:r>
            <a:r>
              <a:rPr lang="en-IN" sz="1200" b="1" dirty="0">
                <a:latin typeface="Consolas" panose="020B0609020204030204" pitchFamily="49" charset="0"/>
              </a:rPr>
              <a:t>, this, &amp;jobs, timestep);</a:t>
            </a:r>
          </a:p>
          <a:p>
            <a:r>
              <a:rPr lang="en-IN" sz="1200" b="1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Wait for each thread to complete.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(std::thread&amp; t : threads)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if (</a:t>
            </a:r>
            <a:r>
              <a:rPr lang="en-IN" sz="1200" dirty="0" err="1">
                <a:latin typeface="Consolas" panose="020B0609020204030204" pitchFamily="49" charset="0"/>
              </a:rPr>
              <a:t>t.joinable</a:t>
            </a:r>
            <a:r>
              <a:rPr lang="en-IN" sz="1200" dirty="0">
                <a:latin typeface="Consolas" panose="020B0609020204030204" pitchFamily="49" charset="0"/>
              </a:rPr>
              <a:t>()) </a:t>
            </a:r>
            <a:r>
              <a:rPr lang="en-IN" sz="1200" dirty="0" err="1">
                <a:latin typeface="Consolas" panose="020B0609020204030204" pitchFamily="49" charset="0"/>
              </a:rPr>
              <a:t>t.join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Update results after all calculations are done.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	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020783-5CBD-4C57-F6DA-76FE287B82C0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38D4FC-9E0E-3D14-206E-C6B3235325AC}"/>
              </a:ext>
            </a:extLst>
          </p:cNvPr>
          <p:cNvGrpSpPr/>
          <p:nvPr/>
        </p:nvGrpSpPr>
        <p:grpSpPr>
          <a:xfrm>
            <a:off x="7349612" y="5021792"/>
            <a:ext cx="4185138" cy="1094550"/>
            <a:chOff x="7349611" y="4999567"/>
            <a:chExt cx="4185138" cy="10945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2CD80ED-F9E1-FC16-1524-0A906C76EBD8}"/>
                </a:ext>
              </a:extLst>
            </p:cNvPr>
            <p:cNvSpPr/>
            <p:nvPr/>
          </p:nvSpPr>
          <p:spPr>
            <a:xfrm>
              <a:off x="8790089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2.75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C46A718-8587-A621-ED73-014A7D4FFA65}"/>
                </a:ext>
              </a:extLst>
            </p:cNvPr>
            <p:cNvSpPr/>
            <p:nvPr/>
          </p:nvSpPr>
          <p:spPr>
            <a:xfrm>
              <a:off x="7349611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25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5EDD63E-40EE-EC11-4177-07DD62A94E98}"/>
                </a:ext>
              </a:extLst>
            </p:cNvPr>
            <p:cNvSpPr/>
            <p:nvPr/>
          </p:nvSpPr>
          <p:spPr>
            <a:xfrm>
              <a:off x="10205573" y="4999567"/>
              <a:ext cx="1329176" cy="78677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3.13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101C5FC-8021-F0F6-B268-6A2925451C40}"/>
                </a:ext>
              </a:extLst>
            </p:cNvPr>
            <p:cNvSpPr txBox="1"/>
            <p:nvPr/>
          </p:nvSpPr>
          <p:spPr>
            <a:xfrm>
              <a:off x="7498673" y="5786340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Sequential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22C6FEE-3302-4750-E125-7FA4770C2D00}"/>
                </a:ext>
              </a:extLst>
            </p:cNvPr>
            <p:cNvSpPr txBox="1"/>
            <p:nvPr/>
          </p:nvSpPr>
          <p:spPr>
            <a:xfrm>
              <a:off x="8996384" y="5784457"/>
              <a:ext cx="89159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OpenMP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4E826D-92A2-CB67-9B31-E0E1BCEC42CE}"/>
                </a:ext>
              </a:extLst>
            </p:cNvPr>
            <p:cNvSpPr txBox="1"/>
            <p:nvPr/>
          </p:nvSpPr>
          <p:spPr>
            <a:xfrm>
              <a:off x="10355436" y="5784457"/>
              <a:ext cx="10294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std::thread</a:t>
              </a: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84476B0-FEE0-09CA-F169-FECDC2163EE5}"/>
              </a:ext>
            </a:extLst>
          </p:cNvPr>
          <p:cNvSpPr/>
          <p:nvPr/>
        </p:nvSpPr>
        <p:spPr>
          <a:xfrm>
            <a:off x="961697" y="2743200"/>
            <a:ext cx="5644055" cy="10484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7C1105-F0CC-CB42-6E1D-8A0A3939EAAD}"/>
              </a:ext>
            </a:extLst>
          </p:cNvPr>
          <p:cNvSpPr txBox="1"/>
          <p:nvPr/>
        </p:nvSpPr>
        <p:spPr>
          <a:xfrm>
            <a:off x="838200" y="1458310"/>
            <a:ext cx="32736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/>
              <a:t>Creating threads is not free</a:t>
            </a:r>
          </a:p>
        </p:txBody>
      </p:sp>
    </p:spTree>
    <p:extLst>
      <p:ext uri="{BB962C8B-B14F-4D97-AF65-F5344CB8AC3E}">
        <p14:creationId xmlns:p14="http://schemas.microsoft.com/office/powerpoint/2010/main" val="32516759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4174C-4B1C-4219-4D77-BB3CA6C02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B85C8-63E3-0060-C35C-FF03B772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Thread Pools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31EE9D-B5E2-1582-6B62-CB24AB6C8BD1}"/>
              </a:ext>
            </a:extLst>
          </p:cNvPr>
          <p:cNvSpPr txBox="1"/>
          <p:nvPr/>
        </p:nvSpPr>
        <p:spPr>
          <a:xfrm>
            <a:off x="838200" y="2000688"/>
            <a:ext cx="6389077" cy="34163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 err="1">
                <a:latin typeface="Consolas" panose="020B0609020204030204" pitchFamily="49" charset="0"/>
              </a:rPr>
              <a:t>ParticleSystemStdThreadPool</a:t>
            </a:r>
            <a:r>
              <a:rPr lang="en-IN" sz="1200" dirty="0">
                <a:latin typeface="Consolas" panose="020B0609020204030204" pitchFamily="49" charset="0"/>
              </a:rPr>
              <a:t>::</a:t>
            </a:r>
            <a:r>
              <a:rPr lang="en-IN" sz="1200" dirty="0" err="1">
                <a:latin typeface="Consolas" panose="020B0609020204030204" pitchFamily="49" charset="0"/>
              </a:rPr>
              <a:t>ParticleSystemStdThreadPool</a:t>
            </a:r>
            <a:r>
              <a:rPr lang="en-IN" sz="1200" dirty="0">
                <a:latin typeface="Consolas" panose="020B0609020204030204" pitchFamily="49" charset="0"/>
              </a:rPr>
              <a:t>() :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 pool_(scheduler::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()){}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ParticleSystemStdThreadPool</a:t>
            </a:r>
            <a:r>
              <a:rPr lang="en-IN" sz="1200" dirty="0">
                <a:latin typeface="Consolas" panose="020B0609020204030204" pitchFamily="49" charset="0"/>
              </a:rPr>
              <a:t>::Simulate(float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int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 = scheduler::</a:t>
            </a:r>
            <a:r>
              <a:rPr lang="en-IN" sz="1200" dirty="0" err="1">
                <a:latin typeface="Consolas" panose="020B0609020204030204" pitchFamily="49" charset="0"/>
              </a:rPr>
              <a:t>GetNumProcs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std::atomic&lt;int&gt; jobs(</a:t>
            </a:r>
            <a:r>
              <a:rPr lang="en-IN" sz="1200" dirty="0" err="1">
                <a:latin typeface="Consolas" panose="020B0609020204030204" pitchFamily="49" charset="0"/>
              </a:rPr>
              <a:t>static_cast</a:t>
            </a:r>
            <a:r>
              <a:rPr lang="en-IN" sz="1200" dirty="0">
                <a:latin typeface="Consolas" panose="020B0609020204030204" pitchFamily="49" charset="0"/>
              </a:rPr>
              <a:t>&lt;int&gt;(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()));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num_threads</a:t>
            </a:r>
            <a:r>
              <a:rPr lang="en-IN" sz="1200" dirty="0">
                <a:latin typeface="Consolas" panose="020B0609020204030204" pitchFamily="49" charset="0"/>
              </a:rPr>
              <a:t>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</a:t>
            </a:r>
            <a:r>
              <a:rPr lang="en-IN" sz="1200" dirty="0" err="1">
                <a:latin typeface="Consolas" panose="020B0609020204030204" pitchFamily="49" charset="0"/>
              </a:rPr>
              <a:t>pool_.enqueue</a:t>
            </a:r>
            <a:r>
              <a:rPr lang="en-IN" sz="1200" dirty="0">
                <a:latin typeface="Consolas" panose="020B0609020204030204" pitchFamily="49" charset="0"/>
              </a:rPr>
              <a:t>([&amp;](){WorkerFunction(this, &amp;jobs, timestep);});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pool_.</a:t>
            </a:r>
            <a:r>
              <a:rPr lang="en-IN" sz="1200" dirty="0" err="1">
                <a:latin typeface="Consolas" panose="020B0609020204030204" pitchFamily="49" charset="0"/>
              </a:rPr>
              <a:t>wait_for_all</a:t>
            </a:r>
            <a:r>
              <a:rPr lang="en-IN" sz="1200" dirty="0">
                <a:latin typeface="Consolas" panose="020B0609020204030204" pitchFamily="49" charset="0"/>
              </a:rPr>
              <a:t>();</a:t>
            </a:r>
          </a:p>
          <a:p>
            <a:endParaRPr lang="en-IN" sz="1200" dirty="0">
              <a:latin typeface="Consolas" panose="020B0609020204030204" pitchFamily="49" charset="0"/>
            </a:endParaRPr>
          </a:p>
          <a:p>
            <a:r>
              <a:rPr lang="en-IN" sz="1200" dirty="0">
                <a:latin typeface="Consolas" panose="020B0609020204030204" pitchFamily="49" charset="0"/>
              </a:rPr>
              <a:t>  // Update results after all calculations are done. Could be parallel?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0;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</a:t>
            </a:r>
            <a:r>
              <a:rPr lang="en-IN" sz="1200" dirty="0" err="1">
                <a:latin typeface="Consolas" panose="020B0609020204030204" pitchFamily="49" charset="0"/>
              </a:rPr>
              <a:t>data.size</a:t>
            </a:r>
            <a:r>
              <a:rPr lang="en-IN" sz="1200" dirty="0">
                <a:latin typeface="Consolas" panose="020B0609020204030204" pitchFamily="49" charset="0"/>
              </a:rPr>
              <a:t>();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	</a:t>
            </a:r>
            <a:r>
              <a:rPr lang="en-IN" sz="1200" dirty="0" err="1">
                <a:latin typeface="Consolas" panose="020B0609020204030204" pitchFamily="49" charset="0"/>
              </a:rPr>
              <a:t>UpdatePoint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89D40F-8D34-EB69-6C1D-7A236D0956C7}"/>
              </a:ext>
            </a:extLst>
          </p:cNvPr>
          <p:cNvSpPr txBox="1"/>
          <p:nvPr/>
        </p:nvSpPr>
        <p:spPr>
          <a:xfrm>
            <a:off x="7349611" y="2000688"/>
            <a:ext cx="4185139" cy="286232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N" sz="1200" dirty="0">
                <a:latin typeface="Consolas" panose="020B0609020204030204" pitchFamily="49" charset="0"/>
              </a:rPr>
              <a:t>void </a:t>
            </a:r>
            <a:r>
              <a:rPr lang="en-IN" sz="1200" dirty="0" err="1">
                <a:latin typeface="Consolas" panose="020B0609020204030204" pitchFamily="49" charset="0"/>
              </a:rPr>
              <a:t>WorkerFunction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ParticleSystem</a:t>
            </a:r>
            <a:r>
              <a:rPr lang="en-IN" sz="1200" dirty="0">
                <a:latin typeface="Consolas" panose="020B0609020204030204" pitchFamily="49" charset="0"/>
              </a:rPr>
              <a:t>* system, </a:t>
            </a:r>
            <a:br>
              <a:rPr lang="en-IN" sz="1200" dirty="0">
                <a:latin typeface="Consolas" panose="020B0609020204030204" pitchFamily="49" charset="0"/>
              </a:rPr>
            </a:br>
            <a:r>
              <a:rPr lang="en-IN" sz="1200" dirty="0">
                <a:latin typeface="Consolas" panose="020B0609020204030204" pitchFamily="49" charset="0"/>
              </a:rPr>
              <a:t>std::atomic&lt;int&gt;* 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, float timestep)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auto&amp; jobs = *</a:t>
            </a:r>
            <a:r>
              <a:rPr lang="en-IN" sz="1200" dirty="0" err="1">
                <a:latin typeface="Consolas" panose="020B0609020204030204" pitchFamily="49" charset="0"/>
              </a:rPr>
              <a:t>jobs_ptr</a:t>
            </a:r>
            <a:r>
              <a:rPr lang="en-IN" sz="1200" dirty="0">
                <a:latin typeface="Consolas" panose="020B0609020204030204" pitchFamily="49" charset="0"/>
              </a:rPr>
              <a:t>;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Parameter to control how many tasks</a:t>
            </a:r>
          </a:p>
          <a:p>
            <a:r>
              <a:rPr lang="en-IN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 // each thread will do at a time.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</a:t>
            </a:r>
            <a:r>
              <a:rPr lang="en-IN" sz="1200" dirty="0" err="1">
                <a:latin typeface="Consolas" panose="020B0609020204030204" pitchFamily="49" charset="0"/>
              </a:rPr>
              <a:t>constexpr</a:t>
            </a:r>
            <a:r>
              <a:rPr lang="en-IN" sz="1200" dirty="0">
                <a:latin typeface="Consolas" panose="020B0609020204030204" pitchFamily="49" charset="0"/>
              </a:rPr>
              <a:t> int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 = 4;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while(1)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end = </a:t>
            </a:r>
            <a:r>
              <a:rPr lang="en-IN" sz="1200" dirty="0" err="1">
                <a:latin typeface="Consolas" panose="020B0609020204030204" pitchFamily="49" charset="0"/>
              </a:rPr>
              <a:t>jobs.fetch_sub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int start = std::max(end - </a:t>
            </a:r>
            <a:r>
              <a:rPr lang="en-IN" sz="1200" dirty="0" err="1">
                <a:latin typeface="Consolas" panose="020B0609020204030204" pitchFamily="49" charset="0"/>
              </a:rPr>
              <a:t>kJobSize</a:t>
            </a:r>
            <a:r>
              <a:rPr lang="en-IN" sz="1200" dirty="0">
                <a:latin typeface="Consolas" panose="020B0609020204030204" pitchFamily="49" charset="0"/>
              </a:rPr>
              <a:t>, 0);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if (end &lt; 0) return;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for (int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= start; 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 &lt; end; ++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) {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  system-&gt;</a:t>
            </a:r>
            <a:r>
              <a:rPr lang="en-IN" sz="1200" dirty="0" err="1">
                <a:latin typeface="Consolas" panose="020B0609020204030204" pitchFamily="49" charset="0"/>
              </a:rPr>
              <a:t>CalculatePoint</a:t>
            </a:r>
            <a:r>
              <a:rPr lang="en-IN" sz="1200" dirty="0">
                <a:latin typeface="Consolas" panose="020B0609020204030204" pitchFamily="49" charset="0"/>
              </a:rPr>
              <a:t>(</a:t>
            </a:r>
            <a:r>
              <a:rPr lang="en-IN" sz="1200" dirty="0" err="1">
                <a:latin typeface="Consolas" panose="020B0609020204030204" pitchFamily="49" charset="0"/>
              </a:rPr>
              <a:t>i</a:t>
            </a:r>
            <a:r>
              <a:rPr lang="en-IN" sz="1200" dirty="0">
                <a:latin typeface="Consolas" panose="020B0609020204030204" pitchFamily="49" charset="0"/>
              </a:rPr>
              <a:t>, timestep);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  }</a:t>
            </a:r>
          </a:p>
          <a:p>
            <a:r>
              <a:rPr lang="en-IN" sz="12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930073-3AFB-FC40-D410-910D837D19A9}"/>
              </a:ext>
            </a:extLst>
          </p:cNvPr>
          <p:cNvSpPr/>
          <p:nvPr/>
        </p:nvSpPr>
        <p:spPr>
          <a:xfrm rot="10800000">
            <a:off x="3878747" y="2222939"/>
            <a:ext cx="477614" cy="212834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DF3D48-8D95-FED7-F3D8-71D5FCEFA2CF}"/>
              </a:ext>
            </a:extLst>
          </p:cNvPr>
          <p:cNvSpPr txBox="1"/>
          <p:nvPr/>
        </p:nvSpPr>
        <p:spPr>
          <a:xfrm>
            <a:off x="838200" y="1458310"/>
            <a:ext cx="10164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/>
              <a:t>Create threads up-front to save some time. Now, jobs are ‘queued’ onto existing threads.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5A5DFA-CB27-8CFB-EB10-A2862684850A}"/>
              </a:ext>
            </a:extLst>
          </p:cNvPr>
          <p:cNvGrpSpPr/>
          <p:nvPr/>
        </p:nvGrpSpPr>
        <p:grpSpPr>
          <a:xfrm>
            <a:off x="7349611" y="4998144"/>
            <a:ext cx="4229239" cy="1092667"/>
            <a:chOff x="7349611" y="4998144"/>
            <a:chExt cx="4229239" cy="109266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3F2385D-4428-75D3-6EF9-FB422DE4900D}"/>
                </a:ext>
              </a:extLst>
            </p:cNvPr>
            <p:cNvGrpSpPr/>
            <p:nvPr/>
          </p:nvGrpSpPr>
          <p:grpSpPr>
            <a:xfrm>
              <a:off x="7349611" y="4998144"/>
              <a:ext cx="2744660" cy="1092667"/>
              <a:chOff x="8790089" y="4999567"/>
              <a:chExt cx="2744660" cy="1092667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B98B3F6-DB42-1406-4D25-43380B44710A}"/>
                  </a:ext>
                </a:extLst>
              </p:cNvPr>
              <p:cNvSpPr/>
              <p:nvPr/>
            </p:nvSpPr>
            <p:spPr>
              <a:xfrm>
                <a:off x="8790089" y="4999567"/>
                <a:ext cx="1329176" cy="786773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800" dirty="0"/>
                  <a:t>2.75 </a:t>
                </a:r>
                <a:r>
                  <a:rPr lang="en-IN" sz="1800" dirty="0" err="1"/>
                  <a:t>ms</a:t>
                </a:r>
                <a:endParaRPr lang="en-IN" sz="1800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8D0B5F-138C-255C-F654-766AE990DA15}"/>
                  </a:ext>
                </a:extLst>
              </p:cNvPr>
              <p:cNvSpPr/>
              <p:nvPr/>
            </p:nvSpPr>
            <p:spPr>
              <a:xfrm>
                <a:off x="10205573" y="4999567"/>
                <a:ext cx="1329176" cy="786773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800" dirty="0"/>
                  <a:t>3.1 </a:t>
                </a:r>
                <a:r>
                  <a:rPr lang="en-IN" sz="1800" dirty="0" err="1"/>
                  <a:t>ms</a:t>
                </a:r>
                <a:endParaRPr lang="en-IN" sz="1800" dirty="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BF84B9-00E9-AEA3-62FC-2800A5EC5109}"/>
                  </a:ext>
                </a:extLst>
              </p:cNvPr>
              <p:cNvSpPr txBox="1"/>
              <p:nvPr/>
            </p:nvSpPr>
            <p:spPr>
              <a:xfrm>
                <a:off x="8996384" y="5784457"/>
                <a:ext cx="89159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/>
                  <a:t>OpenMP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FE13345-E170-4DD6-562B-6480EE54B435}"/>
                  </a:ext>
                </a:extLst>
              </p:cNvPr>
              <p:cNvSpPr txBox="1"/>
              <p:nvPr/>
            </p:nvSpPr>
            <p:spPr>
              <a:xfrm>
                <a:off x="10355436" y="5784457"/>
                <a:ext cx="102944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/>
                  <a:t>std::thread</a:t>
                </a:r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3D7F961-9B2A-6BDE-BB91-A2DFAB9F5A3B}"/>
                </a:ext>
              </a:extLst>
            </p:cNvPr>
            <p:cNvSpPr/>
            <p:nvPr/>
          </p:nvSpPr>
          <p:spPr>
            <a:xfrm>
              <a:off x="10205574" y="4998144"/>
              <a:ext cx="1329176" cy="786773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2.70 </a:t>
              </a:r>
              <a:r>
                <a:rPr lang="en-IN" sz="1800" dirty="0" err="1"/>
                <a:t>ms</a:t>
              </a:r>
              <a:endParaRPr lang="en-IN" sz="1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A7F93DB-B655-F735-64A2-FE34745E2E5F}"/>
                </a:ext>
              </a:extLst>
            </p:cNvPr>
            <p:cNvSpPr txBox="1"/>
            <p:nvPr/>
          </p:nvSpPr>
          <p:spPr>
            <a:xfrm>
              <a:off x="10161474" y="5766162"/>
              <a:ext cx="141737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std::thread pool</a:t>
              </a:r>
            </a:p>
          </p:txBody>
        </p:sp>
      </p:grp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26DBD3D7-251D-A421-24B1-15B8FFD54B58}"/>
              </a:ext>
            </a:extLst>
          </p:cNvPr>
          <p:cNvSpPr/>
          <p:nvPr/>
        </p:nvSpPr>
        <p:spPr>
          <a:xfrm rot="10800000">
            <a:off x="6459037" y="3708848"/>
            <a:ext cx="477614" cy="212834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9690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0970C-221D-38FD-C41F-284EC3667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Performance is not a single number!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450ABD-3EB1-E343-03B1-3A50C9F197B1}"/>
              </a:ext>
            </a:extLst>
          </p:cNvPr>
          <p:cNvSpPr txBox="1"/>
          <p:nvPr/>
        </p:nvSpPr>
        <p:spPr>
          <a:xfrm>
            <a:off x="897321" y="3686275"/>
            <a:ext cx="2661744" cy="138499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N" sz="1200" b="1" dirty="0"/>
              <a:t>Histogram Plots</a:t>
            </a:r>
          </a:p>
          <a:p>
            <a:endParaRPr lang="en-IN" sz="1200" dirty="0"/>
          </a:p>
          <a:p>
            <a:r>
              <a:rPr lang="en-IN" sz="1200" b="1" dirty="0"/>
              <a:t>X Axis: </a:t>
            </a:r>
          </a:p>
          <a:p>
            <a:r>
              <a:rPr lang="en-IN" sz="1200" dirty="0"/>
              <a:t>Time range in milliseconds</a:t>
            </a:r>
          </a:p>
          <a:p>
            <a:endParaRPr lang="en-IN" sz="1200" dirty="0"/>
          </a:p>
          <a:p>
            <a:r>
              <a:rPr lang="en-IN" sz="1200" b="1" dirty="0"/>
              <a:t>Y Axis: </a:t>
            </a:r>
          </a:p>
          <a:p>
            <a:r>
              <a:rPr lang="en-IN" sz="1200" dirty="0"/>
              <a:t>Samples in each bucket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68547741"/>
                  </p:ext>
                </p:extLst>
              </p:nvPr>
            </p:nvGraphicFramePr>
            <p:xfrm>
              <a:off x="3618186" y="1490910"/>
              <a:ext cx="7735613" cy="4641368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3" name="Chart 2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18186" y="1490910"/>
                <a:ext cx="7735613" cy="4641368"/>
              </a:xfrm>
              <a:prstGeom prst="rect">
                <a:avLst/>
              </a:prstGeom>
            </p:spPr>
          </p:pic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C12F073-2F86-242C-6515-04B413DDBA1D}"/>
              </a:ext>
            </a:extLst>
          </p:cNvPr>
          <p:cNvSpPr txBox="1"/>
          <p:nvPr/>
        </p:nvSpPr>
        <p:spPr>
          <a:xfrm>
            <a:off x="897321" y="1752265"/>
            <a:ext cx="266174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Run the experiment many times.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Sort the time taken into buckets.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dirty="0"/>
              <a:t>Plot the buckets.</a:t>
            </a:r>
          </a:p>
        </p:txBody>
      </p:sp>
    </p:spTree>
    <p:extLst>
      <p:ext uri="{BB962C8B-B14F-4D97-AF65-F5344CB8AC3E}">
        <p14:creationId xmlns:p14="http://schemas.microsoft.com/office/powerpoint/2010/main" val="25322843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BAA7B-48A9-30C9-C03E-A20F12566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DDD8C-4533-1E4F-0C92-3FDC75556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Performance is not a single number!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AF1F43DA-438D-E21E-4C60-0636EA0BD2F5}"/>
                  </a:ext>
                </a:extLst>
              </p:cNvPr>
              <p:cNvGraphicFramePr/>
              <p:nvPr/>
            </p:nvGraphicFramePr>
            <p:xfrm>
              <a:off x="3618186" y="1490910"/>
              <a:ext cx="7735613" cy="4641368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3" name="Chart 2">
                <a:extLst>
                  <a:ext uri="{FF2B5EF4-FFF2-40B4-BE49-F238E27FC236}">
                    <a16:creationId xmlns:a16="http://schemas.microsoft.com/office/drawing/2014/main" id="{AF1F43DA-438D-E21E-4C60-0636EA0BD2F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18186" y="1490910"/>
                <a:ext cx="7735613" cy="4641368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87E88C6-2C4E-D7CB-DDFB-C5A68C4064D5}"/>
              </a:ext>
            </a:extLst>
          </p:cNvPr>
          <p:cNvSpPr txBox="1"/>
          <p:nvPr/>
        </p:nvSpPr>
        <p:spPr>
          <a:xfrm>
            <a:off x="838200" y="2951946"/>
            <a:ext cx="2661745" cy="10156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2000" b="1" dirty="0"/>
              <a:t>230 Experiments</a:t>
            </a:r>
          </a:p>
          <a:p>
            <a:endParaRPr lang="en-IN" sz="1200" b="1" dirty="0"/>
          </a:p>
          <a:p>
            <a:r>
              <a:rPr lang="en-IN" sz="1200" b="1" dirty="0"/>
              <a:t>Completed in less than </a:t>
            </a:r>
            <a:br>
              <a:rPr lang="en-IN" sz="1200" b="1" dirty="0"/>
            </a:br>
            <a:r>
              <a:rPr lang="en-IN" sz="1600" b="1" dirty="0"/>
              <a:t>2.8 milliseconds.</a:t>
            </a:r>
            <a:endParaRPr lang="en-IN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229FA4-D07F-6689-8D5D-193B3131DD0D}"/>
              </a:ext>
            </a:extLst>
          </p:cNvPr>
          <p:cNvSpPr txBox="1"/>
          <p:nvPr/>
        </p:nvSpPr>
        <p:spPr>
          <a:xfrm>
            <a:off x="838199" y="4073925"/>
            <a:ext cx="2661745" cy="10156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N" sz="2000" b="1" dirty="0"/>
              <a:t>32 Experiments</a:t>
            </a:r>
          </a:p>
          <a:p>
            <a:endParaRPr lang="en-IN" sz="1200" b="1" dirty="0"/>
          </a:p>
          <a:p>
            <a:r>
              <a:rPr lang="en-IN" sz="1200" b="1" dirty="0"/>
              <a:t>Took longer than </a:t>
            </a:r>
            <a:br>
              <a:rPr lang="en-IN" sz="1200" b="1" dirty="0"/>
            </a:br>
            <a:r>
              <a:rPr lang="en-IN" sz="1600" b="1" dirty="0"/>
              <a:t>4.6 milliseconds.</a:t>
            </a:r>
            <a:endParaRPr lang="en-IN" sz="16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DD6242-269F-C724-F0DB-C707CC2A0D4A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499945" y="3459778"/>
            <a:ext cx="6732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CA9D86-6485-094F-B8CE-5EC09D2CAB1F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499944" y="4581757"/>
            <a:ext cx="5934086" cy="2681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807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3CCE2-BE01-3594-DA82-5CCF5F1FE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AE481-D215-8984-EF9B-A30856636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Comparing techniques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168495154"/>
                  </p:ext>
                </p:extLst>
              </p:nvPr>
            </p:nvGraphicFramePr>
            <p:xfrm>
              <a:off x="869419" y="1493453"/>
              <a:ext cx="4572000" cy="27432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Chart 3">
                <a:extLst>
                  <a:ext uri="{FF2B5EF4-FFF2-40B4-BE49-F238E27FC236}">
                    <a16:creationId xmlns:a16="http://schemas.microsoft.com/office/drawing/2014/main" id="{915DF427-FD79-E75D-3B91-B0B15FC0FB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9419" y="1493453"/>
                <a:ext cx="4572000" cy="27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ED4BF6E9-9689-D5C2-2AEB-239B48CC88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848418427"/>
                  </p:ext>
                </p:extLst>
              </p:nvPr>
            </p:nvGraphicFramePr>
            <p:xfrm>
              <a:off x="6432354" y="1493453"/>
              <a:ext cx="4572000" cy="27432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5" name="Chart 4">
                <a:extLst>
                  <a:ext uri="{FF2B5EF4-FFF2-40B4-BE49-F238E27FC236}">
                    <a16:creationId xmlns:a16="http://schemas.microsoft.com/office/drawing/2014/main" id="{ED4BF6E9-9689-D5C2-2AEB-239B48CC88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32354" y="1493453"/>
                <a:ext cx="4572000" cy="27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336A2895-1FC9-662A-98F3-1B7EEAE68AC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97721732"/>
                  </p:ext>
                </p:extLst>
              </p:nvPr>
            </p:nvGraphicFramePr>
            <p:xfrm>
              <a:off x="6432354" y="4114800"/>
              <a:ext cx="4572000" cy="274320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 xmlns="">
          <p:pic>
            <p:nvPicPr>
              <p:cNvPr id="6" name="Chart 5">
                <a:extLst>
                  <a:ext uri="{FF2B5EF4-FFF2-40B4-BE49-F238E27FC236}">
                    <a16:creationId xmlns:a16="http://schemas.microsoft.com/office/drawing/2014/main" id="{336A2895-1FC9-662A-98F3-1B7EEAE68AC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432354" y="4114800"/>
                <a:ext cx="4572000" cy="27432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F707507-E1C9-448B-91F7-200578F711C7}"/>
              </a:ext>
            </a:extLst>
          </p:cNvPr>
          <p:cNvSpPr txBox="1"/>
          <p:nvPr/>
        </p:nvSpPr>
        <p:spPr>
          <a:xfrm>
            <a:off x="1083583" y="4515605"/>
            <a:ext cx="457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OpenMP seems a lot worse.</a:t>
            </a:r>
          </a:p>
          <a:p>
            <a:r>
              <a:rPr lang="en-IN" sz="2000" dirty="0"/>
              <a:t>Can we make it better?</a:t>
            </a:r>
          </a:p>
        </p:txBody>
      </p:sp>
    </p:spTree>
    <p:extLst>
      <p:ext uri="{BB962C8B-B14F-4D97-AF65-F5344CB8AC3E}">
        <p14:creationId xmlns:p14="http://schemas.microsoft.com/office/powerpoint/2010/main" val="27212467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FBF21-6E91-1015-7334-8995A6B64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OpenMP Scheduling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B1387A-EE4A-E657-488C-F8CD1D435FDB}"/>
              </a:ext>
            </a:extLst>
          </p:cNvPr>
          <p:cNvSpPr/>
          <p:nvPr/>
        </p:nvSpPr>
        <p:spPr>
          <a:xfrm>
            <a:off x="2658608" y="1939094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F9A70D-99E9-69B8-EFC5-13CFC5B77356}"/>
              </a:ext>
            </a:extLst>
          </p:cNvPr>
          <p:cNvSpPr txBox="1"/>
          <p:nvPr/>
        </p:nvSpPr>
        <p:spPr>
          <a:xfrm>
            <a:off x="358505" y="2609042"/>
            <a:ext cx="5901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Static Scheduling: </a:t>
            </a:r>
            <a:r>
              <a:rPr lang="en-IN" dirty="0">
                <a:latin typeface="Consolas" panose="020B0609020204030204" pitchFamily="49" charset="0"/>
              </a:rPr>
              <a:t>#pragma </a:t>
            </a:r>
            <a:r>
              <a:rPr lang="en-IN" dirty="0" err="1">
                <a:latin typeface="Consolas" panose="020B0609020204030204" pitchFamily="49" charset="0"/>
              </a:rPr>
              <a:t>omp</a:t>
            </a:r>
            <a:r>
              <a:rPr lang="en-IN" dirty="0">
                <a:latin typeface="Consolas" panose="020B0609020204030204" pitchFamily="49" charset="0"/>
              </a:rPr>
              <a:t> parallel for</a:t>
            </a:r>
            <a:endParaRPr lang="en-IN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C8B2F-6CC8-9B65-2515-D22D05E66886}"/>
              </a:ext>
            </a:extLst>
          </p:cNvPr>
          <p:cNvSpPr txBox="1"/>
          <p:nvPr/>
        </p:nvSpPr>
        <p:spPr>
          <a:xfrm>
            <a:off x="403896" y="4431203"/>
            <a:ext cx="6227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Dynamic Scheduling: </a:t>
            </a:r>
            <a:r>
              <a:rPr lang="en-IN" dirty="0">
                <a:latin typeface="Consolas" panose="020B0609020204030204" pitchFamily="49" charset="0"/>
              </a:rPr>
              <a:t>#pragma </a:t>
            </a:r>
            <a:r>
              <a:rPr lang="en-IN" dirty="0" err="1">
                <a:latin typeface="Consolas" panose="020B0609020204030204" pitchFamily="49" charset="0"/>
              </a:rPr>
              <a:t>omp</a:t>
            </a:r>
            <a:r>
              <a:rPr lang="en-IN" dirty="0">
                <a:latin typeface="Consolas" panose="020B0609020204030204" pitchFamily="49" charset="0"/>
              </a:rPr>
              <a:t> parallel for schedule(dynamic)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4E4407-9ED1-9530-1A8A-443836F3D253}"/>
              </a:ext>
            </a:extLst>
          </p:cNvPr>
          <p:cNvSpPr/>
          <p:nvPr/>
        </p:nvSpPr>
        <p:spPr>
          <a:xfrm>
            <a:off x="3523998" y="1939093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D438D8-9499-F779-4CDF-D78ACA85DBEF}"/>
              </a:ext>
            </a:extLst>
          </p:cNvPr>
          <p:cNvSpPr/>
          <p:nvPr/>
        </p:nvSpPr>
        <p:spPr>
          <a:xfrm>
            <a:off x="4389388" y="1939092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65C621-E502-E96B-CA77-9F5CCFD6561E}"/>
              </a:ext>
            </a:extLst>
          </p:cNvPr>
          <p:cNvSpPr/>
          <p:nvPr/>
        </p:nvSpPr>
        <p:spPr>
          <a:xfrm>
            <a:off x="5254106" y="1939092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241A66-3664-45B9-16A4-5B6ECB6967F0}"/>
              </a:ext>
            </a:extLst>
          </p:cNvPr>
          <p:cNvSpPr/>
          <p:nvPr/>
        </p:nvSpPr>
        <p:spPr>
          <a:xfrm>
            <a:off x="6120172" y="1939092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49DEF9-0D4E-9A32-F793-CCE09CE3F55C}"/>
              </a:ext>
            </a:extLst>
          </p:cNvPr>
          <p:cNvSpPr/>
          <p:nvPr/>
        </p:nvSpPr>
        <p:spPr>
          <a:xfrm>
            <a:off x="6985562" y="1939091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0A005B-90FB-7075-63F9-FBD44F12C8BD}"/>
              </a:ext>
            </a:extLst>
          </p:cNvPr>
          <p:cNvSpPr/>
          <p:nvPr/>
        </p:nvSpPr>
        <p:spPr>
          <a:xfrm>
            <a:off x="7850952" y="1939090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7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80A5D2-F0B5-42BD-0004-B8FB1F1D7415}"/>
              </a:ext>
            </a:extLst>
          </p:cNvPr>
          <p:cNvSpPr/>
          <p:nvPr/>
        </p:nvSpPr>
        <p:spPr>
          <a:xfrm>
            <a:off x="8715670" y="1939090"/>
            <a:ext cx="339710" cy="3625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9F7D4E-FD59-B402-A16C-98268CC8E4B3}"/>
              </a:ext>
            </a:extLst>
          </p:cNvPr>
          <p:cNvSpPr/>
          <p:nvPr/>
        </p:nvSpPr>
        <p:spPr>
          <a:xfrm>
            <a:off x="2658607" y="3086459"/>
            <a:ext cx="1107753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7377493-CF9A-39C2-233F-60B18F9A78B5}"/>
              </a:ext>
            </a:extLst>
          </p:cNvPr>
          <p:cNvSpPr/>
          <p:nvPr/>
        </p:nvSpPr>
        <p:spPr>
          <a:xfrm>
            <a:off x="3814026" y="3086458"/>
            <a:ext cx="1140651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5D3FC00-FC33-81C6-3012-384FBA429EF0}"/>
              </a:ext>
            </a:extLst>
          </p:cNvPr>
          <p:cNvSpPr/>
          <p:nvPr/>
        </p:nvSpPr>
        <p:spPr>
          <a:xfrm>
            <a:off x="5002343" y="3080893"/>
            <a:ext cx="1050685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CDCFBE-2044-0AC2-36A9-62896529991B}"/>
              </a:ext>
            </a:extLst>
          </p:cNvPr>
          <p:cNvSpPr/>
          <p:nvPr/>
        </p:nvSpPr>
        <p:spPr>
          <a:xfrm>
            <a:off x="6096000" y="3080893"/>
            <a:ext cx="1013765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5FA661-1403-2AE5-9913-E0463DDD8EB7}"/>
              </a:ext>
            </a:extLst>
          </p:cNvPr>
          <p:cNvSpPr/>
          <p:nvPr/>
        </p:nvSpPr>
        <p:spPr>
          <a:xfrm>
            <a:off x="2658608" y="3598038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FF9B4-5D70-9D94-07E6-9CA3134C56C0}"/>
              </a:ext>
            </a:extLst>
          </p:cNvPr>
          <p:cNvSpPr/>
          <p:nvPr/>
        </p:nvSpPr>
        <p:spPr>
          <a:xfrm>
            <a:off x="3523998" y="3598037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77B3B5-4757-D0C1-0608-9F1DAAD2670F}"/>
              </a:ext>
            </a:extLst>
          </p:cNvPr>
          <p:cNvSpPr/>
          <p:nvPr/>
        </p:nvSpPr>
        <p:spPr>
          <a:xfrm>
            <a:off x="4389388" y="3598036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7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2748E3-BC7A-A8C7-590F-70F4B83C0D43}"/>
              </a:ext>
            </a:extLst>
          </p:cNvPr>
          <p:cNvSpPr/>
          <p:nvPr/>
        </p:nvSpPr>
        <p:spPr>
          <a:xfrm>
            <a:off x="5254106" y="3598036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25ABBE-55A4-6BDB-BA07-1CAF3BACF290}"/>
              </a:ext>
            </a:extLst>
          </p:cNvPr>
          <p:cNvSpPr txBox="1"/>
          <p:nvPr/>
        </p:nvSpPr>
        <p:spPr>
          <a:xfrm>
            <a:off x="918427" y="1966469"/>
            <a:ext cx="473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Job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684688C-4FF3-4045-E86F-541FFE6F4BD8}"/>
              </a:ext>
            </a:extLst>
          </p:cNvPr>
          <p:cNvSpPr txBox="1"/>
          <p:nvPr/>
        </p:nvSpPr>
        <p:spPr>
          <a:xfrm>
            <a:off x="918427" y="311383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8882E4-F7FE-911E-D259-57FF266D40CD}"/>
              </a:ext>
            </a:extLst>
          </p:cNvPr>
          <p:cNvSpPr txBox="1"/>
          <p:nvPr/>
        </p:nvSpPr>
        <p:spPr>
          <a:xfrm>
            <a:off x="918427" y="3618630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DB3B2C-D928-31C8-BB9E-8B456D00D183}"/>
              </a:ext>
            </a:extLst>
          </p:cNvPr>
          <p:cNvSpPr txBox="1"/>
          <p:nvPr/>
        </p:nvSpPr>
        <p:spPr>
          <a:xfrm>
            <a:off x="918427" y="4872142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CDE4F8-F7E5-18F2-208A-1BB18BF3C79B}"/>
              </a:ext>
            </a:extLst>
          </p:cNvPr>
          <p:cNvSpPr txBox="1"/>
          <p:nvPr/>
        </p:nvSpPr>
        <p:spPr>
          <a:xfrm>
            <a:off x="918427" y="537693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Thread #2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1B5ED86-C6FD-6385-8BB4-215A8D3F4F2E}"/>
              </a:ext>
            </a:extLst>
          </p:cNvPr>
          <p:cNvSpPr/>
          <p:nvPr/>
        </p:nvSpPr>
        <p:spPr>
          <a:xfrm>
            <a:off x="2658606" y="4842415"/>
            <a:ext cx="1107753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3CC851C-E8D7-01C2-E247-1204DF68F3ED}"/>
              </a:ext>
            </a:extLst>
          </p:cNvPr>
          <p:cNvSpPr/>
          <p:nvPr/>
        </p:nvSpPr>
        <p:spPr>
          <a:xfrm>
            <a:off x="2653905" y="5349555"/>
            <a:ext cx="1140651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7F0A1E0-C59F-D257-5323-EE26027D1F98}"/>
              </a:ext>
            </a:extLst>
          </p:cNvPr>
          <p:cNvSpPr/>
          <p:nvPr/>
        </p:nvSpPr>
        <p:spPr>
          <a:xfrm>
            <a:off x="3816379" y="4842414"/>
            <a:ext cx="1050685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BE00EF6-E443-D589-DA33-5483F1C7E971}"/>
              </a:ext>
            </a:extLst>
          </p:cNvPr>
          <p:cNvSpPr/>
          <p:nvPr/>
        </p:nvSpPr>
        <p:spPr>
          <a:xfrm>
            <a:off x="3853299" y="5349554"/>
            <a:ext cx="1013765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6781360-01B7-D2D4-2242-C0A9181B1501}"/>
              </a:ext>
            </a:extLst>
          </p:cNvPr>
          <p:cNvSpPr/>
          <p:nvPr/>
        </p:nvSpPr>
        <p:spPr>
          <a:xfrm>
            <a:off x="4917084" y="4842413"/>
            <a:ext cx="817724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5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20461C-F036-7A3B-38FE-3ADA4290DC9F}"/>
              </a:ext>
            </a:extLst>
          </p:cNvPr>
          <p:cNvSpPr/>
          <p:nvPr/>
        </p:nvSpPr>
        <p:spPr>
          <a:xfrm>
            <a:off x="4917084" y="5348287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6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AF49E61-5A6C-A255-6E52-EB14F46897EB}"/>
              </a:ext>
            </a:extLst>
          </p:cNvPr>
          <p:cNvSpPr/>
          <p:nvPr/>
        </p:nvSpPr>
        <p:spPr>
          <a:xfrm>
            <a:off x="5784828" y="4842413"/>
            <a:ext cx="817724" cy="362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7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E866AE-4B77-6DDA-316D-719447DF0E40}"/>
              </a:ext>
            </a:extLst>
          </p:cNvPr>
          <p:cNvSpPr/>
          <p:nvPr/>
        </p:nvSpPr>
        <p:spPr>
          <a:xfrm>
            <a:off x="5784828" y="5348286"/>
            <a:ext cx="817724" cy="36253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8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5D4F6DB-A3FA-7EC8-FA1B-51AE5D26DF9A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602883" y="3443430"/>
            <a:ext cx="0" cy="13420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88EB5AD-7BAA-16C7-6DE8-8AD3E0435E17}"/>
              </a:ext>
            </a:extLst>
          </p:cNvPr>
          <p:cNvSpPr txBox="1"/>
          <p:nvPr/>
        </p:nvSpPr>
        <p:spPr>
          <a:xfrm>
            <a:off x="7532723" y="2992273"/>
            <a:ext cx="366725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Dynamic scheduling is better when jobs take variable time.</a:t>
            </a:r>
            <a:br>
              <a:rPr lang="en-IN" dirty="0"/>
            </a:br>
            <a:endParaRPr lang="en-IN" dirty="0"/>
          </a:p>
          <a:p>
            <a:r>
              <a:rPr lang="en-IN" dirty="0"/>
              <a:t>Although each job in n-Body simulation ‘</a:t>
            </a:r>
            <a:r>
              <a:rPr lang="en-IN" i="1" dirty="0"/>
              <a:t>should</a:t>
            </a:r>
            <a:r>
              <a:rPr lang="en-IN" dirty="0"/>
              <a:t>’ take the same time, variation in memory access, paging etc can cause practical differences for small workloads.</a:t>
            </a:r>
          </a:p>
        </p:txBody>
      </p:sp>
    </p:spTree>
    <p:extLst>
      <p:ext uri="{BB962C8B-B14F-4D97-AF65-F5344CB8AC3E}">
        <p14:creationId xmlns:p14="http://schemas.microsoft.com/office/powerpoint/2010/main" val="35278378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359C-5A46-EDED-90A3-825CC57F1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85154-506E-4D48-082D-4FB038BF2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Comparing techniques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274E095D-79F7-6235-670F-7145ABFEDF4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70609944"/>
                  </p:ext>
                </p:extLst>
              </p:nvPr>
            </p:nvGraphicFramePr>
            <p:xfrm>
              <a:off x="1010406" y="1531318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3" name="Chart 2">
                <a:extLst>
                  <a:ext uri="{FF2B5EF4-FFF2-40B4-BE49-F238E27FC236}">
                    <a16:creationId xmlns:a16="http://schemas.microsoft.com/office/drawing/2014/main" id="{274E095D-79F7-6235-670F-7145ABFEDF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0406" y="1531318"/>
                <a:ext cx="4106072" cy="24636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5660F437-00A3-08FC-5F18-E8A2E58F458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871562579"/>
                  </p:ext>
                </p:extLst>
              </p:nvPr>
            </p:nvGraphicFramePr>
            <p:xfrm>
              <a:off x="5501170" y="1531318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7" name="Chart 6">
                <a:extLst>
                  <a:ext uri="{FF2B5EF4-FFF2-40B4-BE49-F238E27FC236}">
                    <a16:creationId xmlns:a16="http://schemas.microsoft.com/office/drawing/2014/main" id="{5660F437-00A3-08FC-5F18-E8A2E58F458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01170" y="1531318"/>
                <a:ext cx="4106072" cy="24636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9" name="Chart 8">
                <a:extLst>
                  <a:ext uri="{FF2B5EF4-FFF2-40B4-BE49-F238E27FC236}">
                    <a16:creationId xmlns:a16="http://schemas.microsoft.com/office/drawing/2014/main" id="{E30BA485-37D7-D0C6-C443-F5C56956E48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177354253"/>
                  </p:ext>
                </p:extLst>
              </p:nvPr>
            </p:nvGraphicFramePr>
            <p:xfrm>
              <a:off x="5501170" y="3994961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6"/>
              </a:graphicData>
            </a:graphic>
          </p:graphicFrame>
        </mc:Choice>
        <mc:Fallback xmlns="">
          <p:pic>
            <p:nvPicPr>
              <p:cNvPr id="9" name="Chart 8">
                <a:extLst>
                  <a:ext uri="{FF2B5EF4-FFF2-40B4-BE49-F238E27FC236}">
                    <a16:creationId xmlns:a16="http://schemas.microsoft.com/office/drawing/2014/main" id="{E30BA485-37D7-D0C6-C443-F5C56956E4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01170" y="3994961"/>
                <a:ext cx="4106072" cy="24636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0" name="Chart 9">
                <a:extLst>
                  <a:ext uri="{FF2B5EF4-FFF2-40B4-BE49-F238E27FC236}">
                    <a16:creationId xmlns:a16="http://schemas.microsoft.com/office/drawing/2014/main" id="{3E0C002A-E259-0588-D42B-00284FD482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0486852"/>
                  </p:ext>
                </p:extLst>
              </p:nvPr>
            </p:nvGraphicFramePr>
            <p:xfrm>
              <a:off x="1010406" y="3994961"/>
              <a:ext cx="4106072" cy="246364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8"/>
              </a:graphicData>
            </a:graphic>
          </p:graphicFrame>
        </mc:Choice>
        <mc:Fallback xmlns="">
          <p:pic>
            <p:nvPicPr>
              <p:cNvPr id="10" name="Chart 9">
                <a:extLst>
                  <a:ext uri="{FF2B5EF4-FFF2-40B4-BE49-F238E27FC236}">
                    <a16:creationId xmlns:a16="http://schemas.microsoft.com/office/drawing/2014/main" id="{3E0C002A-E259-0588-D42B-00284FD4828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10406" y="3994961"/>
                <a:ext cx="4106072" cy="2463643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78671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2C1B4-5AF9-C001-64DB-004DEE923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 Threaded Scaling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D2181-10AC-5BEB-4EC4-0DA9A7FE158E}"/>
              </a:ext>
            </a:extLst>
          </p:cNvPr>
          <p:cNvSpPr txBox="1"/>
          <p:nvPr/>
        </p:nvSpPr>
        <p:spPr>
          <a:xfrm>
            <a:off x="7695192" y="4620201"/>
            <a:ext cx="41758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Scaling Notes: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First 6 big cores: Faster scaling.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Next 8 small cores: Slower scaling.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Beyond this: Some scaling, maybe due to additional threads hiding memory latency – but also possibly noise.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801306F-1EA7-55BB-8373-D381BDBA4D22}"/>
              </a:ext>
            </a:extLst>
          </p:cNvPr>
          <p:cNvGrpSpPr/>
          <p:nvPr/>
        </p:nvGrpSpPr>
        <p:grpSpPr>
          <a:xfrm>
            <a:off x="932455" y="1523342"/>
            <a:ext cx="6817790" cy="2451592"/>
            <a:chOff x="932455" y="1523342"/>
            <a:chExt cx="6817790" cy="2451592"/>
          </a:xfrm>
        </p:grpSpPr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DF81BE21-497B-A389-1F7A-4635C5C4E36F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927188682"/>
                </p:ext>
              </p:extLst>
            </p:nvPr>
          </p:nvGraphicFramePr>
          <p:xfrm>
            <a:off x="1144979" y="1868076"/>
            <a:ext cx="6605266" cy="189022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2CEF834-1EF6-48EF-5730-9EC903CC3768}"/>
                </a:ext>
              </a:extLst>
            </p:cNvPr>
            <p:cNvSpPr txBox="1"/>
            <p:nvPr/>
          </p:nvSpPr>
          <p:spPr>
            <a:xfrm>
              <a:off x="3157034" y="1523342"/>
              <a:ext cx="25811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Performance vs Thread Count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830C9E4-C8CB-5FD0-9C5C-F0B126CFF696}"/>
                </a:ext>
              </a:extLst>
            </p:cNvPr>
            <p:cNvSpPr txBox="1"/>
            <p:nvPr/>
          </p:nvSpPr>
          <p:spPr>
            <a:xfrm>
              <a:off x="3748542" y="3713324"/>
              <a:ext cx="139814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Number of Threads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8783F6B-1A68-7F7B-4701-FC8A455113D8}"/>
                </a:ext>
              </a:extLst>
            </p:cNvPr>
            <p:cNvSpPr txBox="1"/>
            <p:nvPr/>
          </p:nvSpPr>
          <p:spPr>
            <a:xfrm rot="16200000">
              <a:off x="334535" y="2569470"/>
              <a:ext cx="145745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Time in milliseconds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458F4A-420E-E73D-E4A8-CD43835208C9}"/>
              </a:ext>
            </a:extLst>
          </p:cNvPr>
          <p:cNvGrpSpPr/>
          <p:nvPr/>
        </p:nvGrpSpPr>
        <p:grpSpPr>
          <a:xfrm>
            <a:off x="980125" y="4288938"/>
            <a:ext cx="6649274" cy="2465547"/>
            <a:chOff x="980125" y="4288938"/>
            <a:chExt cx="6649274" cy="2465547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0992E3B8-1378-AAE7-500B-F1F9198F20C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853517018"/>
                </p:ext>
              </p:extLst>
            </p:nvPr>
          </p:nvGraphicFramePr>
          <p:xfrm>
            <a:off x="1144979" y="4593233"/>
            <a:ext cx="6484420" cy="196215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31F47AE-4E23-8230-F785-7136D2C47212}"/>
                </a:ext>
              </a:extLst>
            </p:cNvPr>
            <p:cNvSpPr txBox="1"/>
            <p:nvPr/>
          </p:nvSpPr>
          <p:spPr>
            <a:xfrm>
              <a:off x="3157034" y="4288938"/>
              <a:ext cx="21451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Scaling vs Thread Count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62A9FE7-4205-4A47-CB64-C1545C4675FA}"/>
                </a:ext>
              </a:extLst>
            </p:cNvPr>
            <p:cNvSpPr txBox="1"/>
            <p:nvPr/>
          </p:nvSpPr>
          <p:spPr>
            <a:xfrm rot="16200000">
              <a:off x="363770" y="5368393"/>
              <a:ext cx="14943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Performance Scaling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FCF99F-AB6F-A3CB-9E23-808B927C9FD6}"/>
                </a:ext>
              </a:extLst>
            </p:cNvPr>
            <p:cNvSpPr txBox="1"/>
            <p:nvPr/>
          </p:nvSpPr>
          <p:spPr>
            <a:xfrm>
              <a:off x="3530533" y="6492875"/>
              <a:ext cx="139814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sz="1100" dirty="0"/>
                <a:t>Number of Threads</a:t>
              </a:r>
            </a:p>
          </p:txBody>
        </p:sp>
      </p:grp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23E077E-FE01-C64F-58FE-2CF3AADEFF6D}"/>
              </a:ext>
            </a:extLst>
          </p:cNvPr>
          <p:cNvCxnSpPr/>
          <p:nvPr/>
        </p:nvCxnSpPr>
        <p:spPr>
          <a:xfrm>
            <a:off x="2731115" y="5361526"/>
            <a:ext cx="0" cy="8848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0B28DA-8EEB-B0B9-0BF7-9A3EBFDF3FCC}"/>
              </a:ext>
            </a:extLst>
          </p:cNvPr>
          <p:cNvCxnSpPr>
            <a:cxnSpLocks/>
          </p:cNvCxnSpPr>
          <p:nvPr/>
        </p:nvCxnSpPr>
        <p:spPr>
          <a:xfrm>
            <a:off x="4148368" y="4869415"/>
            <a:ext cx="0" cy="1376943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7988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C4A9A-749D-0512-D5F9-921B408C7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GPU – CUDA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5B0811-A5C3-A49D-60B6-68F687574EA5}"/>
              </a:ext>
            </a:extLst>
          </p:cNvPr>
          <p:cNvSpPr txBox="1"/>
          <p:nvPr/>
        </p:nvSpPr>
        <p:spPr>
          <a:xfrm>
            <a:off x="838200" y="1328419"/>
            <a:ext cx="4426650" cy="486287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host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::Simulate(float timestep)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cudaMemcpyHostToDevice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32;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 +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 /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CudaCalculatePoint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&lt;&lt;&lt;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xdim,ydim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&gt;&gt;&gt;(timestep, 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CudaUpdatePoint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&lt;&lt;&lt;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xdim,ydim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&gt;&gt;&gt;(timestep, 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Wait for GPU to finish before accessing on host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cudaDeviceSynchronize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cudaMemcpyDeviceToHost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host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::Initialize(int count, 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Point2D min, Point2D max, unsigned int seed)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::Initialize(count, min, max, seed);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data.size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()*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cudaMalloc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(&amp;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s_bytes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__host__</a:t>
            </a:r>
          </a:p>
          <a:p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::~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ParticleSystemCuda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if 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 !=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nullptr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cudaFree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device_data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D55FB-5CEA-A267-46A9-F5AC7E092DB7}"/>
              </a:ext>
            </a:extLst>
          </p:cNvPr>
          <p:cNvSpPr txBox="1"/>
          <p:nvPr/>
        </p:nvSpPr>
        <p:spPr>
          <a:xfrm>
            <a:off x="5396773" y="1328419"/>
            <a:ext cx="6096670" cy="486287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CudaCalculatePoint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(float timestep,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* data, int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Calculate the unique global index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index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blockDim.x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Boundary check to prevent accessing memory out of bounds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if (index &lt;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&amp; pi = data[index];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Point2D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 // calculate force on pi.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(int j = 0; j &lt; count; ++j)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Point2D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data[j].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position.Sub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pi.position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float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r_square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vec.SquareLength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Gravity(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, data[j].mass,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r_square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net_force.Scale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(timestep /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IN" sz="1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global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void </a:t>
            </a:r>
            <a:r>
              <a:rPr lang="en-IN" sz="1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CudaUpdatePoint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(float timestep,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* data, int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Calculate the unique global index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int index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blockDim.x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threadIdx.x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// Boundary check to prevent accessing memory out of bounds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if (index &lt; count) {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PointMass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&amp; pi = data[index];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pi.position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pi.position.Add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sz="1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pi.velocity.Scale</a:t>
            </a:r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(timestep));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IN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844253-06D7-4969-9001-877E61EAD7AF}"/>
              </a:ext>
            </a:extLst>
          </p:cNvPr>
          <p:cNvSpPr txBox="1"/>
          <p:nvPr/>
        </p:nvSpPr>
        <p:spPr>
          <a:xfrm>
            <a:off x="4585151" y="1321356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>
                <a:solidFill>
                  <a:srgbClr val="0070C0"/>
                </a:solidFill>
              </a:rPr>
              <a:t>CPU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4801C-A4F1-FECC-E376-0EBEAB98E80F}"/>
              </a:ext>
            </a:extLst>
          </p:cNvPr>
          <p:cNvSpPr txBox="1"/>
          <p:nvPr/>
        </p:nvSpPr>
        <p:spPr>
          <a:xfrm>
            <a:off x="10813744" y="1321356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GPU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6E8EC3-5DCE-721D-0BE0-5A4A4E9A335F}"/>
              </a:ext>
            </a:extLst>
          </p:cNvPr>
          <p:cNvSpPr txBox="1"/>
          <p:nvPr/>
        </p:nvSpPr>
        <p:spPr>
          <a:xfrm>
            <a:off x="5347764" y="6238330"/>
            <a:ext cx="6096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accent2">
                    <a:lumMod val="75000"/>
                  </a:schemeClr>
                </a:solidFill>
              </a:rPr>
              <a:t>Each job processes just one data element.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D36863-05C5-9D91-F6E2-30996488FD7A}"/>
              </a:ext>
            </a:extLst>
          </p:cNvPr>
          <p:cNvSpPr txBox="1"/>
          <p:nvPr/>
        </p:nvSpPr>
        <p:spPr>
          <a:xfrm>
            <a:off x="747566" y="6239632"/>
            <a:ext cx="4509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bg2">
                    <a:lumMod val="75000"/>
                    <a:lumOff val="25000"/>
                  </a:schemeClr>
                </a:solidFill>
              </a:rPr>
              <a:t>CPU copies memory and launches jobs.</a:t>
            </a:r>
          </a:p>
        </p:txBody>
      </p:sp>
    </p:spTree>
    <p:extLst>
      <p:ext uri="{BB962C8B-B14F-4D97-AF65-F5344CB8AC3E}">
        <p14:creationId xmlns:p14="http://schemas.microsoft.com/office/powerpoint/2010/main" val="17784478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D5F16-E307-92C5-3BE0-FFD44457D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0770B-504D-4C77-E1F0-729526FEA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GPU – CUDA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AD6F45-967D-3BDC-46C6-2D882B7C5B13}"/>
              </a:ext>
            </a:extLst>
          </p:cNvPr>
          <p:cNvSpPr txBox="1"/>
          <p:nvPr/>
        </p:nvSpPr>
        <p:spPr>
          <a:xfrm>
            <a:off x="838200" y="1328419"/>
            <a:ext cx="4426650" cy="24622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1000" dirty="0">
                <a:solidFill>
                  <a:srgbClr val="0070C0"/>
                </a:solidFill>
              </a:rPr>
              <a:t>CPU</a:t>
            </a:r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B7691D-E352-1DC8-87D9-A7707B4B6A1A}"/>
              </a:ext>
            </a:extLst>
          </p:cNvPr>
          <p:cNvSpPr txBox="1"/>
          <p:nvPr/>
        </p:nvSpPr>
        <p:spPr>
          <a:xfrm>
            <a:off x="5396773" y="1328419"/>
            <a:ext cx="6096670" cy="24622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1000" dirty="0">
                <a:solidFill>
                  <a:schemeClr val="accent2">
                    <a:lumMod val="75000"/>
                  </a:schemeClr>
                </a:solidFill>
              </a:rPr>
              <a:t>GPU</a:t>
            </a:r>
            <a:endParaRPr lang="en-IN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DCCDA7-3BD1-0FF1-DB9B-D17E158185A7}"/>
              </a:ext>
            </a:extLst>
          </p:cNvPr>
          <p:cNvSpPr/>
          <p:nvPr/>
        </p:nvSpPr>
        <p:spPr>
          <a:xfrm>
            <a:off x="2255788" y="1730298"/>
            <a:ext cx="1695870" cy="4643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System RAM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DFACF2-BD89-9400-D224-7DC531D28715}"/>
              </a:ext>
            </a:extLst>
          </p:cNvPr>
          <p:cNvSpPr/>
          <p:nvPr/>
        </p:nvSpPr>
        <p:spPr>
          <a:xfrm>
            <a:off x="7597173" y="1730298"/>
            <a:ext cx="1695870" cy="4643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Video RAM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4701C7B-6F54-9FCA-489A-A2D288DA78A8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951658" y="1962496"/>
            <a:ext cx="3645515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A02955-B9BF-B852-6081-CFCC52A57CA5}"/>
              </a:ext>
            </a:extLst>
          </p:cNvPr>
          <p:cNvSpPr txBox="1"/>
          <p:nvPr/>
        </p:nvSpPr>
        <p:spPr>
          <a:xfrm>
            <a:off x="5044478" y="1690688"/>
            <a:ext cx="13003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Copy To GPU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F69891-52B9-1742-C0C1-53DF4D00B1E4}"/>
              </a:ext>
            </a:extLst>
          </p:cNvPr>
          <p:cNvSpPr/>
          <p:nvPr/>
        </p:nvSpPr>
        <p:spPr>
          <a:xfrm>
            <a:off x="7597173" y="3106578"/>
            <a:ext cx="1695870" cy="10344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GPU Compute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7F2EC7-410E-CF8F-DCF6-9AA9136DF5FA}"/>
              </a:ext>
            </a:extLst>
          </p:cNvPr>
          <p:cNvSpPr/>
          <p:nvPr/>
        </p:nvSpPr>
        <p:spPr>
          <a:xfrm>
            <a:off x="7597173" y="4986382"/>
            <a:ext cx="1695870" cy="4643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Video RAM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ACEB67-200E-1378-7C64-AED6F21A7605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>
            <a:off x="8445108" y="2194694"/>
            <a:ext cx="0" cy="91188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34EECEE-AD41-718D-8647-2395F235530C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8445108" y="4140983"/>
            <a:ext cx="0" cy="845399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005C71B-4F4D-06BD-26E2-7BF428EC0635}"/>
              </a:ext>
            </a:extLst>
          </p:cNvPr>
          <p:cNvSpPr/>
          <p:nvPr/>
        </p:nvSpPr>
        <p:spPr>
          <a:xfrm>
            <a:off x="2255788" y="4986382"/>
            <a:ext cx="1695870" cy="4643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System 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A543B67-D332-DD60-FAFF-8086FF4BF518}"/>
              </a:ext>
            </a:extLst>
          </p:cNvPr>
          <p:cNvCxnSpPr>
            <a:cxnSpLocks/>
            <a:stCxn id="15" idx="1"/>
            <a:endCxn id="23" idx="3"/>
          </p:cNvCxnSpPr>
          <p:nvPr/>
        </p:nvCxnSpPr>
        <p:spPr>
          <a:xfrm flipH="1">
            <a:off x="3951658" y="5218580"/>
            <a:ext cx="3645515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2952372-9D8A-BB87-4009-C64D534952F0}"/>
              </a:ext>
            </a:extLst>
          </p:cNvPr>
          <p:cNvSpPr txBox="1"/>
          <p:nvPr/>
        </p:nvSpPr>
        <p:spPr>
          <a:xfrm>
            <a:off x="5044478" y="4873014"/>
            <a:ext cx="1508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Copy From GPU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B5C5B7F-ED08-193A-FB34-C29CDE6B199F}"/>
              </a:ext>
            </a:extLst>
          </p:cNvPr>
          <p:cNvSpPr/>
          <p:nvPr/>
        </p:nvSpPr>
        <p:spPr>
          <a:xfrm>
            <a:off x="2255788" y="3106579"/>
            <a:ext cx="1695870" cy="10344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Host (CPU)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091FD06-D9AD-0722-6419-C615850874C4}"/>
              </a:ext>
            </a:extLst>
          </p:cNvPr>
          <p:cNvCxnSpPr>
            <a:cxnSpLocks/>
          </p:cNvCxnSpPr>
          <p:nvPr/>
        </p:nvCxnSpPr>
        <p:spPr>
          <a:xfrm>
            <a:off x="3979856" y="3310580"/>
            <a:ext cx="3617317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28C0531-F938-4176-F6FB-A9794C4FB0D8}"/>
              </a:ext>
            </a:extLst>
          </p:cNvPr>
          <p:cNvSpPr txBox="1"/>
          <p:nvPr/>
        </p:nvSpPr>
        <p:spPr>
          <a:xfrm>
            <a:off x="5044478" y="3031000"/>
            <a:ext cx="13227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Invoke ‘kernel’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2CD887D-ACB1-804D-7259-4DE55E204A1B}"/>
              </a:ext>
            </a:extLst>
          </p:cNvPr>
          <p:cNvCxnSpPr>
            <a:cxnSpLocks/>
          </p:cNvCxnSpPr>
          <p:nvPr/>
        </p:nvCxnSpPr>
        <p:spPr>
          <a:xfrm>
            <a:off x="3951658" y="3949565"/>
            <a:ext cx="3617317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671D19E-5A35-4078-DCE7-664846EA44CC}"/>
              </a:ext>
            </a:extLst>
          </p:cNvPr>
          <p:cNvSpPr txBox="1"/>
          <p:nvPr/>
        </p:nvSpPr>
        <p:spPr>
          <a:xfrm>
            <a:off x="5016280" y="3669985"/>
            <a:ext cx="1170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Notify Finish</a:t>
            </a:r>
          </a:p>
        </p:txBody>
      </p:sp>
    </p:spTree>
    <p:extLst>
      <p:ext uri="{BB962C8B-B14F-4D97-AF65-F5344CB8AC3E}">
        <p14:creationId xmlns:p14="http://schemas.microsoft.com/office/powerpoint/2010/main" val="1960345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B0629-F0AF-CC97-DB9A-502F27D36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GPU - CUDA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31CE8-2547-D442-F947-B627F21B5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87256"/>
            <a:ext cx="10515600" cy="201324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IN" sz="1600" dirty="0"/>
              <a:t>‘Single Source’ authoring: C Program for CPU / GPU can be mixed in same files using special annotations.</a:t>
            </a:r>
          </a:p>
          <a:p>
            <a:pPr marL="114300" indent="0">
              <a:buNone/>
            </a:pPr>
            <a:endParaRPr lang="en-IN" sz="1600" dirty="0"/>
          </a:p>
          <a:p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__host__   : </a:t>
            </a:r>
            <a:r>
              <a:rPr lang="en-IN" sz="1600" dirty="0">
                <a:latin typeface="+mj-lt"/>
                <a:cs typeface="Courier New" panose="02070309020205020404" pitchFamily="49" charset="0"/>
              </a:rPr>
              <a:t>Traditional CPU function</a:t>
            </a:r>
          </a:p>
          <a:p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__global__ : </a:t>
            </a:r>
            <a:r>
              <a:rPr lang="en-IN" sz="1600" dirty="0">
                <a:cs typeface="Courier New" panose="02070309020205020404" pitchFamily="49" charset="0"/>
              </a:rPr>
              <a:t>GPU Entry-point function. Called from CPU, parallelized across GPU cores.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__device__ : </a:t>
            </a:r>
            <a:r>
              <a:rPr lang="en-IN" sz="1600" dirty="0">
                <a:cs typeface="Courier New" panose="02070309020205020404" pitchFamily="49" charset="0"/>
              </a:rPr>
              <a:t>GPU internal function. Called from other GPU functions.</a:t>
            </a:r>
          </a:p>
          <a:p>
            <a:pPr marL="114300" indent="0">
              <a:buNone/>
            </a:pPr>
            <a:endParaRPr lang="en-IN" sz="1600" dirty="0">
              <a:cs typeface="Courier New" panose="02070309020205020404" pitchFamily="49" charset="0"/>
            </a:endParaRPr>
          </a:p>
          <a:p>
            <a:pPr marL="114300" indent="0">
              <a:buNone/>
            </a:pPr>
            <a:endParaRPr lang="en-IN" sz="1600" dirty="0">
              <a:cs typeface="Courier New" panose="02070309020205020404" pitchFamily="49" charset="0"/>
            </a:endParaRPr>
          </a:p>
          <a:p>
            <a:endParaRPr lang="en-IN" sz="1600" dirty="0">
              <a:cs typeface="Courier New" panose="02070309020205020404" pitchFamily="49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AB5A7E9-FA66-6CE8-4DA2-2B32173E8655}"/>
              </a:ext>
            </a:extLst>
          </p:cNvPr>
          <p:cNvGrpSpPr/>
          <p:nvPr/>
        </p:nvGrpSpPr>
        <p:grpSpPr>
          <a:xfrm>
            <a:off x="838200" y="3662452"/>
            <a:ext cx="10028524" cy="1350255"/>
            <a:chOff x="838200" y="3255605"/>
            <a:chExt cx="10028524" cy="1350255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2197DA8C-A685-0D1C-7F16-82F69B33ADC4}"/>
                </a:ext>
              </a:extLst>
            </p:cNvPr>
            <p:cNvSpPr/>
            <p:nvPr/>
          </p:nvSpPr>
          <p:spPr>
            <a:xfrm rot="16200000">
              <a:off x="1869082" y="3242696"/>
              <a:ext cx="211480" cy="1899294"/>
            </a:xfrm>
            <a:prstGeom prst="leftBrace">
              <a:avLst/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49653817-C3D1-0E99-FCF9-6F0345B1D7B8}"/>
                </a:ext>
              </a:extLst>
            </p:cNvPr>
            <p:cNvSpPr/>
            <p:nvPr/>
          </p:nvSpPr>
          <p:spPr>
            <a:xfrm rot="16200000">
              <a:off x="3737828" y="3314868"/>
              <a:ext cx="211480" cy="1754950"/>
            </a:xfrm>
            <a:prstGeom prst="leftBrace">
              <a:avLst/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Left Brace 7">
              <a:extLst>
                <a:ext uri="{FF2B5EF4-FFF2-40B4-BE49-F238E27FC236}">
                  <a16:creationId xmlns:a16="http://schemas.microsoft.com/office/drawing/2014/main" id="{C982CBE6-0B17-0E12-80E5-5737143159C3}"/>
                </a:ext>
              </a:extLst>
            </p:cNvPr>
            <p:cNvSpPr/>
            <p:nvPr/>
          </p:nvSpPr>
          <p:spPr>
            <a:xfrm rot="16200000">
              <a:off x="7012749" y="1896943"/>
              <a:ext cx="211480" cy="4590799"/>
            </a:xfrm>
            <a:prstGeom prst="leftBrace">
              <a:avLst/>
            </a:prstGeom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C056E9-62EC-4ABB-DCF6-A0761E626BE4}"/>
                </a:ext>
              </a:extLst>
            </p:cNvPr>
            <p:cNvSpPr txBox="1"/>
            <p:nvPr/>
          </p:nvSpPr>
          <p:spPr>
            <a:xfrm>
              <a:off x="1275752" y="4298083"/>
              <a:ext cx="13981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Function Name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D3362F-A1AE-9C67-6770-7931FCF8D2C2}"/>
                </a:ext>
              </a:extLst>
            </p:cNvPr>
            <p:cNvSpPr txBox="1"/>
            <p:nvPr/>
          </p:nvSpPr>
          <p:spPr>
            <a:xfrm>
              <a:off x="2980992" y="4298082"/>
              <a:ext cx="17251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Number of Threads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5F272FB-9F13-D046-7CE2-95483EA53D79}"/>
                </a:ext>
              </a:extLst>
            </p:cNvPr>
            <p:cNvSpPr txBox="1"/>
            <p:nvPr/>
          </p:nvSpPr>
          <p:spPr>
            <a:xfrm>
              <a:off x="6593345" y="4298081"/>
              <a:ext cx="1050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Arguments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223C717-83D5-7172-8736-5F72281DCC92}"/>
                </a:ext>
              </a:extLst>
            </p:cNvPr>
            <p:cNvSpPr txBox="1"/>
            <p:nvPr/>
          </p:nvSpPr>
          <p:spPr>
            <a:xfrm>
              <a:off x="838200" y="3255605"/>
              <a:ext cx="10028524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14300" indent="0">
                <a:buNone/>
              </a:pPr>
              <a:r>
                <a:rPr lang="en-IN" sz="1600" dirty="0">
                  <a:cs typeface="Courier New" panose="02070309020205020404" pitchFamily="49" charset="0"/>
                </a:rPr>
                <a:t>Calling a 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__global__</a:t>
              </a:r>
              <a:r>
                <a:rPr lang="en-IN" sz="1600" dirty="0">
                  <a:cs typeface="Courier New" panose="02070309020205020404" pitchFamily="49" charset="0"/>
                </a:rPr>
                <a:t> function from CPU:</a:t>
              </a:r>
            </a:p>
            <a:p>
              <a:pPr marL="114300" indent="0">
                <a:buNone/>
              </a:pPr>
              <a:endParaRPr lang="en-IN" sz="1600" dirty="0">
                <a:cs typeface="Courier New" panose="02070309020205020404" pitchFamily="49" charset="0"/>
              </a:endParaRPr>
            </a:p>
            <a:p>
              <a:pPr marL="114300" indent="0">
                <a:buNone/>
              </a:pPr>
              <a:r>
                <a:rPr lang="en-IN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CudaUpdatePoint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&lt;&lt;&lt;</a:t>
              </a:r>
              <a:r>
                <a:rPr lang="en-IN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xdim,ydim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&gt;&gt;&gt;(timestep, </a:t>
              </a:r>
              <a:r>
                <a:rPr lang="en-IN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());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07B3A753-600E-2459-F85A-8923E6521FCF}"/>
              </a:ext>
            </a:extLst>
          </p:cNvPr>
          <p:cNvSpPr txBox="1"/>
          <p:nvPr/>
        </p:nvSpPr>
        <p:spPr>
          <a:xfrm>
            <a:off x="838200" y="5184438"/>
            <a:ext cx="10028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IN" sz="1600" dirty="0">
                <a:cs typeface="Courier New" panose="02070309020205020404" pitchFamily="49" charset="0"/>
              </a:rPr>
              <a:t>CUDA splits threads into &lt;&lt;&lt;threads, blocks, grids&gt;&gt;&gt; for ease of use in 2D / 3D computations. </a:t>
            </a:r>
          </a:p>
          <a:p>
            <a:pPr marL="114300" indent="0">
              <a:buNone/>
            </a:pPr>
            <a:r>
              <a:rPr lang="en-IN" sz="1600" dirty="0">
                <a:cs typeface="Courier New" panose="02070309020205020404" pitchFamily="49" charset="0"/>
              </a:rPr>
              <a:t>There are limits on each dimension. N-Body is a linear (1D problem), so we use a reasonably large </a:t>
            </a:r>
            <a:r>
              <a:rPr lang="en-IN" sz="1600" dirty="0" err="1">
                <a:cs typeface="Courier New" panose="02070309020205020404" pitchFamily="49" charset="0"/>
              </a:rPr>
              <a:t>xdim</a:t>
            </a:r>
            <a:r>
              <a:rPr lang="en-IN" sz="1600" dirty="0">
                <a:cs typeface="Courier New" panose="02070309020205020404" pitchFamily="49" charset="0"/>
              </a:rPr>
              <a:t>, and based the </a:t>
            </a:r>
            <a:r>
              <a:rPr lang="en-IN" sz="1600" dirty="0" err="1">
                <a:cs typeface="Courier New" panose="02070309020205020404" pitchFamily="49" charset="0"/>
              </a:rPr>
              <a:t>ydim</a:t>
            </a:r>
            <a:r>
              <a:rPr lang="en-IN" sz="1600" dirty="0">
                <a:cs typeface="Courier New" panose="02070309020205020404" pitchFamily="49" charset="0"/>
              </a:rPr>
              <a:t> on that. We don’t need a z-dimension for our current problem.</a:t>
            </a:r>
          </a:p>
        </p:txBody>
      </p:sp>
    </p:spTree>
    <p:extLst>
      <p:ext uri="{BB962C8B-B14F-4D97-AF65-F5344CB8AC3E}">
        <p14:creationId xmlns:p14="http://schemas.microsoft.com/office/powerpoint/2010/main" val="15263498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14CFF-DCE8-65E6-EBC1-F3255ACAD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CUDA Performance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7D39DACE-E69C-D4B7-DA55-011AADA8D8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3754461"/>
              </p:ext>
            </p:extLst>
          </p:nvPr>
        </p:nvGraphicFramePr>
        <p:xfrm>
          <a:off x="923987" y="1690688"/>
          <a:ext cx="7390205" cy="47064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5C8CDAC-DC51-098B-0CF8-CA0E70FFB25F}"/>
              </a:ext>
            </a:extLst>
          </p:cNvPr>
          <p:cNvSpPr txBox="1"/>
          <p:nvPr/>
        </p:nvSpPr>
        <p:spPr>
          <a:xfrm>
            <a:off x="6597362" y="658574"/>
            <a:ext cx="483868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CPU: Core i5-13600K (6 perf cores, 8 efficiency cores)</a:t>
            </a:r>
          </a:p>
          <a:p>
            <a:r>
              <a:rPr lang="en-IN" dirty="0"/>
              <a:t>GPU: </a:t>
            </a:r>
            <a:r>
              <a:rPr lang="en-IN" dirty="0" err="1"/>
              <a:t>nVidia</a:t>
            </a:r>
            <a:r>
              <a:rPr lang="en-IN" dirty="0"/>
              <a:t> GeForce RTX 5080 (10752 CUDA cores)</a:t>
            </a:r>
          </a:p>
          <a:p>
            <a:r>
              <a:rPr lang="en-IN" dirty="0"/>
              <a:t>OS: Windows 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78BBEC-FFC5-40D6-C870-AD3E89310F17}"/>
              </a:ext>
            </a:extLst>
          </p:cNvPr>
          <p:cNvSpPr/>
          <p:nvPr/>
        </p:nvSpPr>
        <p:spPr>
          <a:xfrm>
            <a:off x="8456481" y="2061070"/>
            <a:ext cx="719744" cy="42603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800" dirty="0"/>
              <a:t>9.5x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74BB9-1ECC-72EC-D421-0BFBD1705CE8}"/>
              </a:ext>
            </a:extLst>
          </p:cNvPr>
          <p:cNvSpPr txBox="1"/>
          <p:nvPr/>
        </p:nvSpPr>
        <p:spPr>
          <a:xfrm>
            <a:off x="9176225" y="2120198"/>
            <a:ext cx="25330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faster than Dynamic OpenMP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8ADF5-8B9D-C02C-A003-7229B7BF84D0}"/>
              </a:ext>
            </a:extLst>
          </p:cNvPr>
          <p:cNvSpPr/>
          <p:nvPr/>
        </p:nvSpPr>
        <p:spPr>
          <a:xfrm>
            <a:off x="8456481" y="2644467"/>
            <a:ext cx="719744" cy="42603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800" dirty="0"/>
              <a:t>89x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2407BF-9332-AD40-019F-CF2B03E991BE}"/>
              </a:ext>
            </a:extLst>
          </p:cNvPr>
          <p:cNvSpPr txBox="1"/>
          <p:nvPr/>
        </p:nvSpPr>
        <p:spPr>
          <a:xfrm>
            <a:off x="9176225" y="2703595"/>
            <a:ext cx="2355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faster than Sequential CPU</a:t>
            </a:r>
          </a:p>
        </p:txBody>
      </p:sp>
    </p:spTree>
    <p:extLst>
      <p:ext uri="{BB962C8B-B14F-4D97-AF65-F5344CB8AC3E}">
        <p14:creationId xmlns:p14="http://schemas.microsoft.com/office/powerpoint/2010/main" val="3527891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251D70B-64E7-795E-3E19-34080746A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CUDA Performance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6768FC7-5DC6-FED8-E501-5A290B51E003}"/>
              </a:ext>
            </a:extLst>
          </p:cNvPr>
          <p:cNvGrpSpPr/>
          <p:nvPr/>
        </p:nvGrpSpPr>
        <p:grpSpPr>
          <a:xfrm>
            <a:off x="897370" y="2413518"/>
            <a:ext cx="10130909" cy="3108543"/>
            <a:chOff x="966766" y="1756293"/>
            <a:chExt cx="10130909" cy="310854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67740AF-3025-1351-E2C9-71261B951D5A}"/>
                </a:ext>
              </a:extLst>
            </p:cNvPr>
            <p:cNvSpPr txBox="1"/>
            <p:nvPr/>
          </p:nvSpPr>
          <p:spPr>
            <a:xfrm>
              <a:off x="966766" y="1756293"/>
              <a:ext cx="8245714" cy="3108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void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ParticleSystemCuda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::Simulate(float timestep) {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s_bytes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cudaMemcpyHostToDevice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);  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int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256;</a:t>
              </a: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int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ydim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(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+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) /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;</a:t>
              </a: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CudaCalculatePoint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&lt;&lt;&lt;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xdim,ydim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&gt;&gt;&gt;(timestep,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());</a:t>
              </a: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CudaUpdatePoint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&lt;&lt;&lt;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xdim,ydim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&gt;&gt;&gt;(timestep,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data.size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());  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cudaDeviceSynchronize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  <a:p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data.data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device_data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s_bytes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_, </a:t>
              </a:r>
              <a:r>
                <a:rPr lang="en-IN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cudaMemcpyDeviceToHost</a:t>
              </a:r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);  </a:t>
              </a:r>
              <a:b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endParaRPr lang="en-IN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IN" dirty="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2304202-5680-BB9B-F574-705E4D12AC38}"/>
                </a:ext>
              </a:extLst>
            </p:cNvPr>
            <p:cNvSpPr/>
            <p:nvPr/>
          </p:nvSpPr>
          <p:spPr>
            <a:xfrm>
              <a:off x="1027190" y="2167168"/>
              <a:ext cx="10070485" cy="34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558A938-ABBE-46C5-EE78-7AD6AFBD5AC7}"/>
                </a:ext>
              </a:extLst>
            </p:cNvPr>
            <p:cNvSpPr/>
            <p:nvPr/>
          </p:nvSpPr>
          <p:spPr>
            <a:xfrm>
              <a:off x="1027190" y="2643648"/>
              <a:ext cx="10070485" cy="8971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1E3A75B-C87B-97FC-60E6-0299B4C62D6E}"/>
                </a:ext>
              </a:extLst>
            </p:cNvPr>
            <p:cNvSpPr/>
            <p:nvPr/>
          </p:nvSpPr>
          <p:spPr>
            <a:xfrm>
              <a:off x="1027189" y="3674865"/>
              <a:ext cx="10070485" cy="34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E977228-8272-8D51-90D8-6FDE426192D9}"/>
                </a:ext>
              </a:extLst>
            </p:cNvPr>
            <p:cNvSpPr/>
            <p:nvPr/>
          </p:nvSpPr>
          <p:spPr>
            <a:xfrm>
              <a:off x="1027189" y="4082867"/>
              <a:ext cx="10070485" cy="34239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4D9A265-52E0-012C-8C3A-9709694462EF}"/>
                </a:ext>
              </a:extLst>
            </p:cNvPr>
            <p:cNvSpPr/>
            <p:nvPr/>
          </p:nvSpPr>
          <p:spPr>
            <a:xfrm>
              <a:off x="10377930" y="2167168"/>
              <a:ext cx="719744" cy="34239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4%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579F221-4A02-E76D-5A6C-7A1DEF24F02A}"/>
                </a:ext>
              </a:extLst>
            </p:cNvPr>
            <p:cNvSpPr/>
            <p:nvPr/>
          </p:nvSpPr>
          <p:spPr>
            <a:xfrm>
              <a:off x="10377930" y="2643648"/>
              <a:ext cx="719744" cy="897134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2%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C6976E5-6B40-5EB2-B113-D808BD5F74DA}"/>
                </a:ext>
              </a:extLst>
            </p:cNvPr>
            <p:cNvSpPr/>
            <p:nvPr/>
          </p:nvSpPr>
          <p:spPr>
            <a:xfrm>
              <a:off x="10377930" y="3674865"/>
              <a:ext cx="719744" cy="34239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79%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0208EFB-59CB-D82B-C504-1415FF609CB2}"/>
                </a:ext>
              </a:extLst>
            </p:cNvPr>
            <p:cNvSpPr/>
            <p:nvPr/>
          </p:nvSpPr>
          <p:spPr>
            <a:xfrm>
              <a:off x="10377929" y="4082866"/>
              <a:ext cx="719744" cy="34239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800" dirty="0"/>
                <a:t>15%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D155D1F-CC24-C92F-6BCC-731FF831C39A}"/>
              </a:ext>
            </a:extLst>
          </p:cNvPr>
          <p:cNvSpPr txBox="1"/>
          <p:nvPr/>
        </p:nvSpPr>
        <p:spPr>
          <a:xfrm>
            <a:off x="838200" y="1290578"/>
            <a:ext cx="4698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dirty="0"/>
              <a:t>Percentage breakdown of time by stage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B2EEB6-AB57-C1FC-0814-540ACC1C7790}"/>
              </a:ext>
            </a:extLst>
          </p:cNvPr>
          <p:cNvSpPr txBox="1"/>
          <p:nvPr/>
        </p:nvSpPr>
        <p:spPr>
          <a:xfrm>
            <a:off x="957793" y="596269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5000 Points: ~156 KB of data copied at each stage.</a:t>
            </a:r>
          </a:p>
        </p:txBody>
      </p:sp>
    </p:spTree>
    <p:extLst>
      <p:ext uri="{BB962C8B-B14F-4D97-AF65-F5344CB8AC3E}">
        <p14:creationId xmlns:p14="http://schemas.microsoft.com/office/powerpoint/2010/main" val="6505203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133E2-60C9-53E2-8C47-95A9953C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0C62F11-2489-F10C-4594-5534B262F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CPU / GPU Scaling</a:t>
            </a:r>
          </a:p>
        </p:txBody>
      </p: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F7747BC9-BDB1-874B-62C3-5087D3F1A0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9870178"/>
              </p:ext>
            </p:extLst>
          </p:nvPr>
        </p:nvGraphicFramePr>
        <p:xfrm>
          <a:off x="2456526" y="1526447"/>
          <a:ext cx="7553535" cy="4532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736062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1EC5A-6A30-30D8-EF04-5B37A4C2D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143D07-313C-BFB3-8D7E-ADC36A82B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dirty="0"/>
              <a:t>CPU / GPU Scaling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B47ED3-DF09-E731-5710-785B66AE4AFB}"/>
              </a:ext>
            </a:extLst>
          </p:cNvPr>
          <p:cNvGrpSpPr/>
          <p:nvPr/>
        </p:nvGrpSpPr>
        <p:grpSpPr>
          <a:xfrm>
            <a:off x="2088351" y="1486931"/>
            <a:ext cx="8198327" cy="4416425"/>
            <a:chOff x="2221281" y="1559439"/>
            <a:chExt cx="8198327" cy="4416425"/>
          </a:xfrm>
        </p:grpSpPr>
        <p:graphicFrame>
          <p:nvGraphicFramePr>
            <p:cNvPr id="2" name="Chart 1">
              <a:extLst>
                <a:ext uri="{FF2B5EF4-FFF2-40B4-BE49-F238E27FC236}">
                  <a16:creationId xmlns:a16="http://schemas.microsoft.com/office/drawing/2014/main" id="{0F5D1BDF-2137-BB7D-A0FF-65AE54FC2D0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221281" y="1559439"/>
            <a:ext cx="7642225" cy="44164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1C371CD-BD7D-5BD0-B81C-6E2D87208BFB}"/>
                </a:ext>
              </a:extLst>
            </p:cNvPr>
            <p:cNvCxnSpPr/>
            <p:nvPr/>
          </p:nvCxnSpPr>
          <p:spPr>
            <a:xfrm>
              <a:off x="2960722" y="4680761"/>
              <a:ext cx="0" cy="3746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80CB920-0C98-98C3-BA4C-57D548C49D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05866" y="2557903"/>
              <a:ext cx="0" cy="8710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935A30D-B722-86EF-F43D-A72EB559E0E8}"/>
                </a:ext>
              </a:extLst>
            </p:cNvPr>
            <p:cNvSpPr txBox="1"/>
            <p:nvPr/>
          </p:nvSpPr>
          <p:spPr>
            <a:xfrm>
              <a:off x="2896271" y="4632423"/>
              <a:ext cx="9412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5x slower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CD04E6F-779A-93E3-A25D-1990E1410D60}"/>
                </a:ext>
              </a:extLst>
            </p:cNvPr>
            <p:cNvSpPr txBox="1"/>
            <p:nvPr/>
          </p:nvSpPr>
          <p:spPr>
            <a:xfrm>
              <a:off x="9449471" y="3157433"/>
              <a:ext cx="97013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dirty="0"/>
                <a:t>34x faster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23706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4FC25-278E-10A8-86CC-2885F1D01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Links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A99E0-721D-8359-1EC9-8BCFD0864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IN" dirty="0"/>
              <a:t>https://github.com/sriramkashyap/MulticoreProgramming</a:t>
            </a:r>
          </a:p>
        </p:txBody>
      </p:sp>
    </p:spTree>
    <p:extLst>
      <p:ext uri="{BB962C8B-B14F-4D97-AF65-F5344CB8AC3E}">
        <p14:creationId xmlns:p14="http://schemas.microsoft.com/office/powerpoint/2010/main" val="2065322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2392</TotalTime>
  <Words>3774</Words>
  <Application>Microsoft Office PowerPoint</Application>
  <PresentationFormat>Widescreen</PresentationFormat>
  <Paragraphs>734</Paragraphs>
  <Slides>39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Courier New</vt:lpstr>
      <vt:lpstr>Consolas</vt:lpstr>
      <vt:lpstr>Aptos Narrow</vt:lpstr>
      <vt:lpstr>Play</vt:lpstr>
      <vt:lpstr>Office Theme</vt:lpstr>
      <vt:lpstr>Multicore Architecture &amp; Programming</vt:lpstr>
      <vt:lpstr> Parallel Architectures</vt:lpstr>
      <vt:lpstr>Single Core CPU</vt:lpstr>
      <vt:lpstr>Multi Core CPU</vt:lpstr>
      <vt:lpstr>Digital Signal Processor</vt:lpstr>
      <vt:lpstr>Graphics Processing Unit</vt:lpstr>
      <vt:lpstr>Neural Processing Unit</vt:lpstr>
      <vt:lpstr>Compute Primitives</vt:lpstr>
      <vt:lpstr>Real computers</vt:lpstr>
      <vt:lpstr>Compute on a modern SoC</vt:lpstr>
      <vt:lpstr>PowerPoint Presentation</vt:lpstr>
      <vt:lpstr>Why Multicore?</vt:lpstr>
      <vt:lpstr>Parallel Compute</vt:lpstr>
      <vt:lpstr>Asynchronous Processing</vt:lpstr>
      <vt:lpstr>Amdahl's Law</vt:lpstr>
      <vt:lpstr>Example</vt:lpstr>
      <vt:lpstr>N-Body Simulation</vt:lpstr>
      <vt:lpstr>Coding N-Body Simulation</vt:lpstr>
      <vt:lpstr>Parallel N-Body Simulation</vt:lpstr>
      <vt:lpstr>Understanding threads</vt:lpstr>
      <vt:lpstr>Understanding threads</vt:lpstr>
      <vt:lpstr>Explicit threading for N-Body Simulation </vt:lpstr>
      <vt:lpstr>Explicit threading for N-Body Simulation </vt:lpstr>
      <vt:lpstr>Why is std::thread ‘a bit’ slower?</vt:lpstr>
      <vt:lpstr>Thread Pools</vt:lpstr>
      <vt:lpstr>Performance is not a single number!</vt:lpstr>
      <vt:lpstr>Performance is not a single number!</vt:lpstr>
      <vt:lpstr>Comparing techniques</vt:lpstr>
      <vt:lpstr>OpenMP Scheduling</vt:lpstr>
      <vt:lpstr>Comparing techniques</vt:lpstr>
      <vt:lpstr>Multi Threaded Scaling</vt:lpstr>
      <vt:lpstr>GPU – CUDA</vt:lpstr>
      <vt:lpstr>GPU – CUDA</vt:lpstr>
      <vt:lpstr>GPU - CUDA</vt:lpstr>
      <vt:lpstr>CUDA Performance</vt:lpstr>
      <vt:lpstr>CUDA Performance</vt:lpstr>
      <vt:lpstr>CPU / GPU Scaling</vt:lpstr>
      <vt:lpstr>CPU / GPU Scaling</vt:lpstr>
      <vt:lpstr>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Sriram Kashyap</dc:creator>
  <cp:lastModifiedBy>Sriram Kashyap</cp:lastModifiedBy>
  <cp:revision>97</cp:revision>
  <dcterms:created xsi:type="dcterms:W3CDTF">2025-08-04T16:08:34Z</dcterms:created>
  <dcterms:modified xsi:type="dcterms:W3CDTF">2026-09-27T21:36:27Z</dcterms:modified>
</cp:coreProperties>
</file>